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9906000" cy="6858000" type="A4"/>
  <p:notesSz cx="6745288" cy="98821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400"/>
    <a:srgbClr val="FF6600"/>
    <a:srgbClr val="FF8C5A"/>
    <a:srgbClr val="FA8264"/>
    <a:srgbClr val="F07D7D"/>
    <a:srgbClr val="FF7D64"/>
    <a:srgbClr val="FF7D5A"/>
    <a:srgbClr val="FF965A"/>
    <a:srgbClr val="FAA064"/>
    <a:srgbClr val="F19E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20" autoAdjust="0"/>
    <p:restoredTop sz="84462" autoAdjust="0"/>
  </p:normalViewPr>
  <p:slideViewPr>
    <p:cSldViewPr snapToGrid="0">
      <p:cViewPr varScale="1">
        <p:scale>
          <a:sx n="94" d="100"/>
          <a:sy n="94" d="100"/>
        </p:scale>
        <p:origin x="1096" y="184"/>
      </p:cViewPr>
      <p:guideLst/>
    </p:cSldViewPr>
  </p:slideViewPr>
  <p:outlineViewPr>
    <p:cViewPr>
      <p:scale>
        <a:sx n="33" d="100"/>
        <a:sy n="33" d="100"/>
      </p:scale>
      <p:origin x="0" y="-12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08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notesMaster" Target="notesMasters/notesMaster1.xml"/><Relationship Id="rId32" Type="http://schemas.openxmlformats.org/officeDocument/2006/relationships/handoutMaster" Target="handoutMasters/handout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2958" cy="4958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20769" y="0"/>
            <a:ext cx="2922958" cy="4958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8ECE7-B88C-494B-AEBD-E242D569D6B8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86364"/>
            <a:ext cx="2922958" cy="495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20769" y="9386364"/>
            <a:ext cx="2922958" cy="495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31F42D-9A1E-49E8-B88A-1EF71802E4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4892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2958" cy="4958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0769" y="0"/>
            <a:ext cx="2922958" cy="4958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523DB-6727-4108-86F5-FAC47CDD99F2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5200" y="1235075"/>
            <a:ext cx="4814888" cy="33353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4529" y="4755803"/>
            <a:ext cx="5396230" cy="38911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86364"/>
            <a:ext cx="2922958" cy="495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0769" y="9386364"/>
            <a:ext cx="2922958" cy="495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A50C4-87BB-46FD-B28A-2F68E64689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271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A50C4-87BB-46FD-B28A-2F68E646895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89136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FB49-D2C6-4070-8ECE-F3DACA2591C3}" type="datetime1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4820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B4223-53F2-4BF6-ADF1-DE95602571E7}" type="datetime1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6516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B0EB2-AE85-4F7F-A87F-565C308F949D}" type="datetime1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486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41EBA-800D-482A-94F9-94AE87B16443}" type="datetime1">
              <a:rPr lang="en-GB" smtClean="0"/>
              <a:t>21/09/2026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123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25FE1-B917-439F-8967-B413561E08DD}" type="datetime1">
              <a:rPr lang="en-GB" smtClean="0"/>
              <a:t>21/09/2026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903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40B6-163E-4BCE-864B-418F4F16BE7B}" type="datetime1">
              <a:rPr lang="en-GB" smtClean="0"/>
              <a:t>21/09/2026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649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D6EDA-9C09-45B0-8F74-7B107518F21A}" type="datetime1">
              <a:rPr lang="en-GB" smtClean="0"/>
              <a:t>21/09/2026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403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864B3-C9F5-4E9F-96F6-2CA30B7C5023}" type="datetime1">
              <a:rPr lang="en-GB" smtClean="0"/>
              <a:t>21/09/2026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257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D1E4A-1A87-4E61-B164-D65F727F776E}" type="datetime1">
              <a:rPr lang="en-GB" smtClean="0"/>
              <a:t>21/09/2026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0245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8D4D7-742C-4642-B85B-3AFF83AF7F99}" type="datetime1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1600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8885F-372F-4CD2-888F-EB2789CC3718}" type="datetime1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99565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24179-CFD9-4D43-876C-8ADD0E3F21DC}" type="datetime1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540AF-44F8-48E0-AD0D-387F58F390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0774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7" y="411480"/>
            <a:ext cx="1280160" cy="196596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21207" y="2606040"/>
            <a:ext cx="5120640" cy="17830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2600" b="1" i="0">
                <a:solidFill>
                  <a:srgbClr val="FF6400"/>
                </a:solidFill>
                <a:latin typeface="Droid Sans"/>
              </a:rPr>
              <a:t>Insights from Young Adults (Aged 18-26 Years) in Riyadh: Exploring Respiratory Health Symptoms in the Vaping Era</a:t>
            </a:r>
            <a:endParaRPr lang="en-US" sz="4400" b="1" dirty="0">
              <a:latin typeface="Droid San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1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521207" y="438912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 i="0">
                <a:solidFill>
                  <a:srgbClr val="002060"/>
                </a:solidFill>
                <a:latin typeface="Calibri"/>
              </a:rPr>
              <a:t>Basmah Alanazi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002060"/>
                </a:solidFill>
                <a:latin typeface="Calibri"/>
              </a:rPr>
              <a:t>Master of Public Health, Biostatistics and Epidemiology Track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002060"/>
                </a:solidFill>
                <a:latin typeface="Calibri"/>
              </a:rPr>
              <a:t>Advisor: Dr. Noara AlHusseini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002060"/>
                </a:solidFill>
                <a:latin typeface="Calibri"/>
              </a:rPr>
              <a:t>Committee Members: [add names]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Alfaisal University  ·  2026</a:t>
            </a:r>
          </a:p>
        </p:txBody>
      </p:sp>
    </p:spTree>
    <p:extLst>
      <p:ext uri="{BB962C8B-B14F-4D97-AF65-F5344CB8AC3E}">
        <p14:creationId xmlns:p14="http://schemas.microsoft.com/office/powerpoint/2010/main" val="922717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317"/>
    </mc:Choice>
    <mc:Fallback xmlns="">
      <p:transition spd="slow" advTm="26317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1914" y="804005"/>
            <a:ext cx="9906000" cy="590931"/>
          </a:xfrm>
        </p:spPr>
        <p:txBody>
          <a:bodyPr wrap="square"/>
          <a:lstStyle/>
          <a:p>
            <a:pPr algn="ctr"/>
            <a:r>
              <a:rPr sz="3600" b="1" i="0">
                <a:solidFill>
                  <a:srgbClr val="FF6400"/>
                </a:solidFill>
                <a:latin typeface="Droid Sans"/>
              </a:rPr>
              <a:t>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</a:pPr>
            <a:r>
              <a:rPr sz="2300" b="0" i="0">
                <a:solidFill>
                  <a:srgbClr val="002060"/>
                </a:solidFill>
                <a:latin typeface="Calibri"/>
              </a:rPr>
              <a:t>To my advisor, Dr. Noara AlHusseini, for her guidance and patience at every stage of this work</a:t>
            </a:r>
          </a:p>
          <a:p>
            <a:pPr>
              <a:spcAft>
                <a:spcPts val="1200"/>
              </a:spcAft>
            </a:pPr>
            <a:r>
              <a:rPr sz="2300" b="0" i="0">
                <a:solidFill>
                  <a:srgbClr val="002060"/>
                </a:solidFill>
                <a:latin typeface="Calibri"/>
              </a:rPr>
              <a:t>To the Department of Public Health at Alfaisal University, and to my colleague Murhaf Al Anan</a:t>
            </a:r>
          </a:p>
          <a:p>
            <a:pPr>
              <a:spcAft>
                <a:spcPts val="1200"/>
              </a:spcAft>
            </a:pPr>
            <a:r>
              <a:rPr sz="2300" b="0" i="0">
                <a:solidFill>
                  <a:srgbClr val="002060"/>
                </a:solidFill>
                <a:latin typeface="Calibri"/>
              </a:rPr>
              <a:t>To the 208 young people who answered my questionnaire honestly and gave this study its data</a:t>
            </a:r>
          </a:p>
          <a:p>
            <a:pPr>
              <a:spcAft>
                <a:spcPts val="1200"/>
              </a:spcAft>
            </a:pPr>
            <a:r>
              <a:rPr sz="2300" b="0" i="0">
                <a:solidFill>
                  <a:srgbClr val="002060"/>
                </a:solidFill>
                <a:latin typeface="Calibri"/>
              </a:rPr>
              <a:t>To my family and friends, who kept me going when the work was hardest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2</a:t>
            </a:fld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1914" y="804005"/>
            <a:ext cx="9906000" cy="590931"/>
          </a:xfrm>
        </p:spPr>
        <p:txBody>
          <a:bodyPr wrap="square"/>
          <a:lstStyle/>
          <a:p>
            <a:pPr algn="ctr"/>
            <a:r>
              <a:rPr sz="3600" b="1" i="0">
                <a:solidFill>
                  <a:srgbClr val="FF6400"/>
                </a:solidFill>
                <a:latin typeface="Droid Sans"/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002060"/>
                </a:solidFill>
                <a:latin typeface="Calibri"/>
              </a:rPr>
              <a:t>Introduction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002060"/>
                </a:solidFill>
                <a:latin typeface="Calibri"/>
              </a:rPr>
              <a:t>Literature Review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002060"/>
                </a:solidFill>
                <a:latin typeface="Calibri"/>
              </a:rPr>
              <a:t>Research Questions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002060"/>
                </a:solidFill>
                <a:latin typeface="Calibri"/>
              </a:rPr>
              <a:t>Aims and Objectives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002060"/>
                </a:solidFill>
                <a:latin typeface="Calibri"/>
              </a:rPr>
              <a:t>Methodology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002060"/>
                </a:solidFill>
                <a:latin typeface="Calibri"/>
              </a:rPr>
              <a:t>Results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002060"/>
                </a:solidFill>
                <a:latin typeface="Calibri"/>
              </a:rPr>
              <a:t>Discussion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002060"/>
                </a:solidFill>
                <a:latin typeface="Calibri"/>
              </a:rPr>
              <a:t>Conclusion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002060"/>
                </a:solidFill>
                <a:latin typeface="Calibri"/>
              </a:rPr>
              <a:t>Recommendations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002060"/>
                </a:solidFill>
                <a:latin typeface="Calibri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2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1914" y="804005"/>
            <a:ext cx="9906000" cy="590931"/>
          </a:xfrm>
        </p:spPr>
        <p:txBody>
          <a:bodyPr wrap="square"/>
          <a:lstStyle/>
          <a:p>
            <a:pPr algn="ctr"/>
            <a:r>
              <a:rPr sz="3600" b="1" i="0">
                <a:solidFill>
                  <a:srgbClr val="FF6400"/>
                </a:solidFill>
                <a:latin typeface="Droid Sans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656" y="1874519"/>
            <a:ext cx="5577840" cy="420624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002060"/>
                </a:solidFill>
                <a:latin typeface="Calibri"/>
              </a:rPr>
              <a:t>A vape heats liquid into an aerosol. It is not harmless water vapor (CDC, 2024)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002060"/>
                </a:solidFill>
                <a:latin typeface="Calibri"/>
              </a:rPr>
              <a:t>US adult use climbed from 4.5% in 2019 to 6.5% in 2023 (Vahratian et al., 2025)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002060"/>
                </a:solidFill>
                <a:latin typeface="Calibri"/>
              </a:rPr>
              <a:t>The sharpest rise, 15.5%, was among those aged 21 to 24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002060"/>
                </a:solidFill>
                <a:latin typeface="Calibri"/>
              </a:rPr>
              <a:t>By January 2020, EVALI had put 2,688 people in hospital (Krishnasamy et al., 2020)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 descr="vape_de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468880"/>
            <a:ext cx="3017520" cy="2145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1914" y="804005"/>
            <a:ext cx="9906000" cy="590931"/>
          </a:xfrm>
        </p:spPr>
        <p:txBody>
          <a:bodyPr wrap="square"/>
          <a:lstStyle/>
          <a:p>
            <a:pPr algn="ctr"/>
            <a:r>
              <a:rPr sz="3600" b="1" i="0">
                <a:solidFill>
                  <a:srgbClr val="FF6400"/>
                </a:solidFill>
                <a:latin typeface="Droid Sans"/>
              </a:rPr>
              <a:t>Introduction (cont…)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656" y="1874519"/>
            <a:ext cx="5486400" cy="4114800"/>
          </a:xfrm>
        </p:spPr>
        <p:txBody>
          <a:bodyPr wrap="square"/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002060"/>
                </a:solidFill>
                <a:latin typeface="Calibri"/>
              </a:rPr>
              <a:t>Across 15 Saudi studies from 2021 to 2024, 30.5% of those surveyed were vaping (Alaboodi et al., 2025)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002060"/>
                </a:solidFill>
                <a:latin typeface="Calibri"/>
              </a:rPr>
              <a:t>Until the 2025 retail limits, sales here were barely regulated (Tobacco Reporter, 2025)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002060"/>
                </a:solidFill>
                <a:latin typeface="Calibri"/>
              </a:rPr>
              <a:t>Devices come in many shapes, flavors and nicotine strengths (Collins et al., 2018)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002060"/>
                </a:solidFill>
                <a:latin typeface="Calibri"/>
              </a:rPr>
              <a:t>Most studies look at teenagers, or at all adults over 18, not at young adults aged 18 to 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 descr="device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017520"/>
            <a:ext cx="3200400" cy="15129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1914" y="804005"/>
            <a:ext cx="9906000" cy="590931"/>
          </a:xfrm>
        </p:spPr>
        <p:txBody>
          <a:bodyPr wrap="square"/>
          <a:lstStyle/>
          <a:p>
            <a:pPr algn="ctr"/>
            <a:r>
              <a:rPr sz="3600" b="1" i="0">
                <a:solidFill>
                  <a:srgbClr val="FF6400"/>
                </a:solidFill>
                <a:latin typeface="Droid Sans"/>
              </a:rPr>
              <a:t>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2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Table 1. Reported Prevalence of Current Vaping Among Youth and Young Adults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93392"/>
          <a:ext cx="896112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320040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Population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Current use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2060"/>
                          </a:solidFill>
                          <a:latin typeface="Calibri"/>
                        </a:rPr>
                        <a:t>USA (Kelsh et al., 2023)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College students, 19 to 22 yrs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23.2%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2060"/>
                          </a:solidFill>
                          <a:latin typeface="Calibri"/>
                        </a:rPr>
                        <a:t>Europe, 32 countries (Ollila et al., 2023)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Students, 15 to 16 yrs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12.4%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2060"/>
                          </a:solidFill>
                          <a:latin typeface="Calibri"/>
                        </a:rPr>
                        <a:t>Saudi Arabia (AlDukhail et al., 2025)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Adolescents, national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5.3%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2060"/>
                          </a:solidFill>
                          <a:latin typeface="Calibri"/>
                        </a:rPr>
                        <a:t>Riyadh (AlHumaidan et al., 2024)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Young adults, 18 to 25 yrs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10.5%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2060"/>
                          </a:solidFill>
                          <a:latin typeface="Calibri"/>
                        </a:rPr>
                        <a:t>Taibah University (Alzahrani et al., 2023)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University students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24.0%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12064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Wherever it has been measured, a large share of young people are already vaping.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1914" y="804005"/>
            <a:ext cx="9906000" cy="590931"/>
          </a:xfrm>
        </p:spPr>
        <p:txBody>
          <a:bodyPr wrap="square"/>
          <a:lstStyle/>
          <a:p>
            <a:pPr algn="ctr"/>
            <a:r>
              <a:rPr sz="3600" b="1" i="0">
                <a:solidFill>
                  <a:srgbClr val="FF6400"/>
                </a:solidFill>
                <a:latin typeface="Droid Sans"/>
              </a:rPr>
              <a:t>Literature Review (cont…)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656" y="1874519"/>
            <a:ext cx="5760720" cy="4114800"/>
          </a:xfrm>
        </p:spPr>
        <p:txBody>
          <a:bodyPr wrap="square"/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002060"/>
                </a:solidFill>
                <a:latin typeface="Calibri"/>
              </a:rPr>
              <a:t>Acrolein, formaldehyde and acetaldehyde in the aerosol can damage the lungs for good (American Lung Association, 2025)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002060"/>
                </a:solidFill>
                <a:latin typeface="Calibri"/>
              </a:rPr>
              <a:t>More than half of the patients who develop EVALI end up in intensive care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002060"/>
                </a:solidFill>
                <a:latin typeface="Calibri"/>
              </a:rPr>
              <a:t>There is moderate evidence that vaping brings on cough, wheezing and worse asthma (NAM, 2018)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002060"/>
                </a:solidFill>
                <a:latin typeface="Calibri"/>
              </a:rPr>
              <a:t>Yet 17% of young adults in Riyadh think vapes are harmless, or safer than cigarettes (AlHumaidan et al., 2024)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 descr="lu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11680"/>
            <a:ext cx="2971800" cy="2509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1914" y="804005"/>
            <a:ext cx="9906000" cy="590931"/>
          </a:xfrm>
        </p:spPr>
        <p:txBody>
          <a:bodyPr wrap="square"/>
          <a:lstStyle/>
          <a:p>
            <a:pPr algn="ctr"/>
            <a:r>
              <a:rPr sz="3600" b="1" i="0">
                <a:solidFill>
                  <a:srgbClr val="FF6400"/>
                </a:solidFill>
                <a:latin typeface="Droid Sans"/>
              </a:rPr>
              <a:t>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</a:pPr>
            <a:r>
              <a:rPr sz="2400" b="0" i="0">
                <a:solidFill>
                  <a:srgbClr val="002060"/>
                </a:solidFill>
                <a:latin typeface="Calibri"/>
              </a:rPr>
              <a:t>What makes young adults aged 18 to 26 in Riyadh take up vaping?</a:t>
            </a:r>
          </a:p>
          <a:p>
            <a:pPr>
              <a:spcAft>
                <a:spcPts val="1200"/>
              </a:spcAft>
            </a:pPr>
            <a:r>
              <a:rPr sz="2400" b="0" i="0">
                <a:solidFill>
                  <a:srgbClr val="002060"/>
                </a:solidFill>
                <a:latin typeface="Calibri"/>
              </a:rPr>
              <a:t>How much do they really know about what vaping does to their lungs?</a:t>
            </a:r>
          </a:p>
          <a:p>
            <a:pPr lvl="1">
              <a:spcAft>
                <a:spcPts val="1200"/>
              </a:spcAft>
            </a:pPr>
            <a:r>
              <a:rPr sz="2100" b="0" i="0">
                <a:solidFill>
                  <a:srgbClr val="002060"/>
                </a:solidFill>
                <a:latin typeface="Calibri"/>
              </a:rPr>
              <a:t>Main outcome: their score on the Perspective of Vape Use questionnaire</a:t>
            </a:r>
          </a:p>
          <a:p>
            <a:pPr lvl="1">
              <a:spcAft>
                <a:spcPts val="1200"/>
              </a:spcAft>
            </a:pPr>
            <a:r>
              <a:rPr sz="2100" b="0" i="0">
                <a:solidFill>
                  <a:srgbClr val="002060"/>
                </a:solidFill>
                <a:latin typeface="Calibri"/>
              </a:rPr>
              <a:t>Also examined: which personal and behavioral factors shift that score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2</a:t>
            </a:fld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1914" y="804005"/>
            <a:ext cx="9906000" cy="590931"/>
          </a:xfrm>
        </p:spPr>
        <p:txBody>
          <a:bodyPr wrap="square"/>
          <a:lstStyle/>
          <a:p>
            <a:pPr algn="ctr"/>
            <a:r>
              <a:rPr sz="3600" b="1" i="0">
                <a:solidFill>
                  <a:srgbClr val="FF6400"/>
                </a:solidFill>
                <a:latin typeface="Droid Sans"/>
              </a:rPr>
              <a:t>Aims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002060"/>
                </a:solidFill>
                <a:latin typeface="Calibri"/>
              </a:rPr>
              <a:t>My aim was to find out how much young adults in Riyadh know about the respiratory risks of vaping, and how their background shapes the way they see it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002060"/>
                </a:solidFill>
                <a:latin typeface="Calibri"/>
              </a:rPr>
              <a:t>First, I set out to describe how they vape and to measure their Perspective of Vape Use score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002060"/>
                </a:solidFill>
                <a:latin typeface="Calibri"/>
              </a:rPr>
              <a:t>Second, I tested which personal and behavioral factors were linked to that score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2</a:t>
            </a:fld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1914" y="804005"/>
            <a:ext cx="9906000" cy="590931"/>
          </a:xfrm>
        </p:spPr>
        <p:txBody>
          <a:bodyPr wrap="square"/>
          <a:lstStyle/>
          <a:p>
            <a:pPr algn="ctr"/>
            <a:r>
              <a:rPr sz="3600" b="1" i="0">
                <a:solidFill>
                  <a:srgbClr val="FF6400"/>
                </a:solidFill>
                <a:latin typeface="Droid Sans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</a:pPr>
            <a:r>
              <a:rPr sz="2100" b="0" i="0">
                <a:solidFill>
                  <a:srgbClr val="002060"/>
                </a:solidFill>
                <a:latin typeface="Calibri"/>
              </a:rPr>
              <a:t>I ran a cross-sectional survey, using an online questionnaire that people filled in themselves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002060"/>
                </a:solidFill>
                <a:latin typeface="Calibri"/>
              </a:rPr>
              <a:t>It was open to 18 to 26 year olds living in Riyadh, male and female, Saudi and non-Saudi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002060"/>
                </a:solidFill>
                <a:latin typeface="Calibri"/>
              </a:rPr>
              <a:t>Anyone who had never vaped, or who did not consent, was excluded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002060"/>
                </a:solidFill>
                <a:latin typeface="Calibri"/>
              </a:rPr>
              <a:t>The calculation called for 167 responses at 95% confidence and a 5% margin of error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002060"/>
                </a:solidFill>
                <a:latin typeface="Calibri"/>
              </a:rPr>
              <a:t>I collected 208 through convenient sampling, between March and December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2</a:t>
            </a:fld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1914" y="804005"/>
            <a:ext cx="9906000" cy="590931"/>
          </a:xfrm>
        </p:spPr>
        <p:txBody>
          <a:bodyPr wrap="square"/>
          <a:lstStyle/>
          <a:p>
            <a:pPr algn="ctr"/>
            <a:r>
              <a:rPr sz="3600" b="1" i="0">
                <a:solidFill>
                  <a:srgbClr val="FF6400"/>
                </a:solidFill>
                <a:latin typeface="Droid Sans"/>
              </a:rPr>
              <a:t>Methodology (cont…)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</a:pPr>
            <a:r>
              <a:rPr sz="2100" b="0" i="0">
                <a:solidFill>
                  <a:srgbClr val="002060"/>
                </a:solidFill>
                <a:latin typeface="Calibri"/>
              </a:rPr>
              <a:t>The tool was the validated Youth E-cigarette Smokers’ Perspective of Vape Use scale: 20 Likert items scored out of 100 (Dowd et al., 2019)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002060"/>
                </a:solidFill>
                <a:latin typeface="Calibri"/>
              </a:rPr>
              <a:t>It held together well here, with a Cronbach’s alpha of 0.89, and the Arabic version was checked by back-translation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002060"/>
                </a:solidFill>
                <a:latin typeface="Calibri"/>
              </a:rPr>
              <a:t>I analyzed the data in SPSS v27 (t-tests, ANOVA, correlation and multiple linear regression), taking p &lt; 0.05 as significant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002060"/>
                </a:solidFill>
                <a:latin typeface="Calibri"/>
              </a:rPr>
              <a:t>The study was approved under IRB-20274; taking part was voluntary and no one was identifiable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2</a:t>
            </a:fld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1914" y="804005"/>
            <a:ext cx="9906000" cy="590931"/>
          </a:xfrm>
        </p:spPr>
        <p:txBody>
          <a:bodyPr wrap="square"/>
          <a:lstStyle/>
          <a:p>
            <a:pPr algn="ctr"/>
            <a:r>
              <a:rPr sz="3600" b="1" i="0">
                <a:solidFill>
                  <a:srgbClr val="FF6400"/>
                </a:solidFill>
                <a:latin typeface="Droid Sans"/>
              </a:rPr>
              <a:t>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2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Table 4.1. Descriptive Characteristics of Young Adult Vape Users in Riyadh (N = 208)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93392"/>
          <a:ext cx="8961120" cy="35112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3840480"/>
                <a:gridCol w="182880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n (%)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2060"/>
                          </a:solidFill>
                          <a:latin typeface="Calibri"/>
                        </a:rPr>
                        <a:t>Age (mean ± SD)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23.11 ± 2.64 years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2060"/>
                          </a:solidFill>
                          <a:latin typeface="Calibri"/>
                        </a:rPr>
                        <a:t>Gender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120 (57.7)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88 (42.3)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2060"/>
                          </a:solidFill>
                          <a:latin typeface="Calibri"/>
                        </a:rPr>
                        <a:t>Marital status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Single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165 (79.3)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2060"/>
                          </a:solidFill>
                          <a:latin typeface="Calibri"/>
                        </a:rPr>
                        <a:t>Residential area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Central Riyadh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119 (57.2)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2060"/>
                          </a:solidFill>
                          <a:latin typeface="Calibri"/>
                        </a:rPr>
                        <a:t>Employment status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Employed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114 (50.2)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2060"/>
                          </a:solidFill>
                          <a:latin typeface="Calibri"/>
                        </a:rPr>
                        <a:t>Education level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Bachelor’s degree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105 (50.5)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614416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The largest category is shown for each variable.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1914" y="804005"/>
            <a:ext cx="9906000" cy="590931"/>
          </a:xfrm>
        </p:spPr>
        <p:txBody>
          <a:bodyPr wrap="square"/>
          <a:lstStyle/>
          <a:p>
            <a:pPr algn="ctr"/>
            <a:r>
              <a:rPr sz="3600" b="1" i="0">
                <a:solidFill>
                  <a:srgbClr val="FF6400"/>
                </a:solidFill>
                <a:latin typeface="Droid Sans"/>
              </a:rPr>
              <a:t>Results (cont…)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2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Table 4.2. Vaping Behavior of the Study Participants (N = 208)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93392"/>
          <a:ext cx="896112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384048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n (%)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2060"/>
                          </a:solidFill>
                          <a:latin typeface="Calibri"/>
                        </a:rPr>
                        <a:t>How often do you vape?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Daily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156 (75.0)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Weekly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31 (14.9)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Socially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21 (10.1)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2060"/>
                          </a:solidFill>
                          <a:latin typeface="Calibri"/>
                        </a:rPr>
                        <a:t>Duration of vaping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1 to 2 years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81 (38.9)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2060"/>
                          </a:solidFill>
                          <a:latin typeface="Calibri"/>
                        </a:rPr>
                        <a:t>Ever smoked cigarettes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162 (77.9)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2060"/>
                          </a:solidFill>
                          <a:latin typeface="Calibri"/>
                        </a:rPr>
                        <a:t>Respiratory condition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Yes (asthma, allergy, pneumonia)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68 (32.7)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3035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Three out of four participants were vaping every day.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1914" y="804005"/>
            <a:ext cx="9906000" cy="590931"/>
          </a:xfrm>
        </p:spPr>
        <p:txBody>
          <a:bodyPr wrap="square"/>
          <a:lstStyle/>
          <a:p>
            <a:pPr algn="ctr"/>
            <a:r>
              <a:rPr sz="3600" b="1" i="0">
                <a:solidFill>
                  <a:srgbClr val="FF6400"/>
                </a:solidFill>
                <a:latin typeface="Droid Sans"/>
              </a:rPr>
              <a:t>Results (cont…)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2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Figure 4.1. Distribution of the Youth E-cigarette Smokers’ Perspective of Vape Use Score (N = 208)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57400"/>
            <a:ext cx="5760720" cy="3388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95959"/>
                </a:solidFill>
                <a:latin typeface="Calibri"/>
              </a:rPr>
              <a:t>Mean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697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6400"/>
                </a:solidFill>
                <a:latin typeface="Droid Sans"/>
              </a:rPr>
              <a:t>65.18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520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2060"/>
                </a:solidFill>
                <a:latin typeface="Calibri"/>
              </a:rPr>
              <a:t>± 14.35 out of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40233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2060"/>
                </a:solidFill>
                <a:latin typeface="Calibri"/>
              </a:rPr>
              <a:t>Awareness sat in the middle of the range. Most people scored between 55 and 80.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1914" y="804005"/>
            <a:ext cx="9906000" cy="590931"/>
          </a:xfrm>
        </p:spPr>
        <p:txBody>
          <a:bodyPr wrap="square"/>
          <a:lstStyle/>
          <a:p>
            <a:pPr algn="ctr"/>
            <a:r>
              <a:rPr sz="3600" b="1" i="0">
                <a:solidFill>
                  <a:srgbClr val="FF6400"/>
                </a:solidFill>
                <a:latin typeface="Droid Sans"/>
              </a:rPr>
              <a:t>Results (cont…)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2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Table 4.3. Association Between Demographic Characteristics and the Vape Use Score (N = 208)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93392"/>
          <a:ext cx="905256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2743200"/>
                <a:gridCol w="1920240"/>
                <a:gridCol w="1463040"/>
                <a:gridCol w="91440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Mean ± SD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95% CI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p-value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002060"/>
                          </a:solidFill>
                          <a:latin typeface="Calibri"/>
                        </a:rPr>
                        <a:t>Gender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63.33 ± 15.26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61.26 to 65.40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0.03*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67.70 ± 12.66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65.98 to 69.42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002060"/>
                          </a:solidFill>
                          <a:latin typeface="Calibri"/>
                        </a:rPr>
                        <a:t>Marital status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Single vs married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65.20 vs 65.12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0.97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002060"/>
                          </a:solidFill>
                          <a:latin typeface="Calibri"/>
                        </a:rPr>
                        <a:t>Residential area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Five areas of Riyadh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61.38 to 69.94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0.18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002060"/>
                          </a:solidFill>
                          <a:latin typeface="Calibri"/>
                        </a:rPr>
                        <a:t>Education level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School to bachelor’s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64.30 to 65.50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002060"/>
                          </a:solidFill>
                          <a:latin typeface="Calibri"/>
                        </a:rPr>
                        <a:t>Monthly income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No income to &gt;20,000 SAR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61.00 to 66.40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175504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* p &lt; 0.05. Of everything I tested here, gender was the only demographic factor that made a real difference.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1914" y="804005"/>
            <a:ext cx="9906000" cy="590931"/>
          </a:xfrm>
        </p:spPr>
        <p:txBody>
          <a:bodyPr wrap="square"/>
          <a:lstStyle/>
          <a:p>
            <a:pPr algn="ctr"/>
            <a:r>
              <a:rPr sz="3600" b="1" i="0">
                <a:solidFill>
                  <a:srgbClr val="FF6400"/>
                </a:solidFill>
                <a:latin typeface="Droid Sans"/>
              </a:rPr>
              <a:t>Results (cont…)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2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Table 4.4. Association Between Vaping Behavior and the Vape Use Score (N = 208)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93392"/>
          <a:ext cx="905256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2103120"/>
                <a:gridCol w="1920240"/>
                <a:gridCol w="1737360"/>
                <a:gridCol w="109728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Mean ± SD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95% CI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p-value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002060"/>
                          </a:solidFill>
                          <a:latin typeface="Calibri"/>
                        </a:rPr>
                        <a:t>How often do you vape?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Daily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65.66 ± 14.10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63.43 to 67.89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0.03*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Weekly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67.87 ± 14.29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62.63 to 73.11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Socially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57.67 ± 14.53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51.05 to 64.28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002060"/>
                          </a:solidFill>
                          <a:latin typeface="Calibri"/>
                        </a:rPr>
                        <a:t>Respiratory condition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63.00 ± 13.52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61.16 to 64.84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&lt;0.001*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69.68 ± 15.06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67.63 to 71.73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002060"/>
                          </a:solidFill>
                          <a:latin typeface="Calibri"/>
                        </a:rPr>
                        <a:t>Duration / past smoking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Not significant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002060"/>
                          </a:solidFill>
                          <a:latin typeface="Calibri"/>
                        </a:rPr>
                        <a:t>&gt;0.05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175504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* p &lt; 0.05. Social vapers scored lowest, and anyone with a respiratory condition scored highest.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1914" y="804005"/>
            <a:ext cx="9906000" cy="590931"/>
          </a:xfrm>
        </p:spPr>
        <p:txBody>
          <a:bodyPr wrap="square"/>
          <a:lstStyle/>
          <a:p>
            <a:pPr algn="ctr"/>
            <a:r>
              <a:rPr sz="3600" b="1" i="0">
                <a:solidFill>
                  <a:srgbClr val="FF6400"/>
                </a:solidFill>
                <a:latin typeface="Droid Sans"/>
              </a:rPr>
              <a:t>Results (cont…)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2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Table 4.5. Multiple Linear Regression: Significant Predictors of the Vape Use Score (N = 208)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93392"/>
          <a:ext cx="8961120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3200400"/>
                <a:gridCol w="155448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B (95% CI)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p-value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2060"/>
                          </a:solidFill>
                          <a:latin typeface="Calibri"/>
                        </a:rPr>
                        <a:t>Western area of Riyadh (vs East)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−9.28 (−17.81, −0.75)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0.033*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2060"/>
                          </a:solidFill>
                          <a:latin typeface="Calibri"/>
                        </a:rPr>
                        <a:t>Income 10,001 to 20,000 SAR (vs none)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−10.18 (−20.18, −0.18)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0.046*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2060"/>
                          </a:solidFill>
                          <a:latin typeface="Calibri"/>
                        </a:rPr>
                        <a:t>Social vaping (vs daily)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−8.77 (−15.85, −1.70)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0.015*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02060"/>
                          </a:solidFill>
                          <a:latin typeface="Calibri"/>
                        </a:rPr>
                        <a:t>Respiratory health condition (vs none)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+6.04 (1.73, 10.36)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2060"/>
                          </a:solidFill>
                          <a:latin typeface="Calibri"/>
                        </a:rPr>
                        <a:t>0.006*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6177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* p &lt; 0.05. Age, gender, marital status, education, employment, how long someone had vaped and past cigarette use all dropped out once the rest was accounted for.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1914" y="804005"/>
            <a:ext cx="9906000" cy="590931"/>
          </a:xfrm>
        </p:spPr>
        <p:txBody>
          <a:bodyPr wrap="square"/>
          <a:lstStyle/>
          <a:p>
            <a:pPr algn="ctr"/>
            <a:r>
              <a:rPr sz="3600" b="1" i="0">
                <a:solidFill>
                  <a:srgbClr val="FF6400"/>
                </a:solidFill>
                <a:latin typeface="Droid Sans"/>
              </a:rPr>
              <a:t>Discussion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2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Table 5.1. How These Findings Compare with Previous Global and Local Studies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93392"/>
          <a:ext cx="8961120" cy="3886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3200400"/>
                <a:gridCol w="3108960"/>
              </a:tblGrid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What I found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Studies that agree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Studies that differ</a:t>
                      </a:r>
                    </a:p>
                  </a:txBody>
                  <a:tcPr anchor="ctr" marL="73152" marR="54864" marT="18288" marB="18288">
                    <a:solidFill>
                      <a:srgbClr val="132F54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2060"/>
                          </a:solidFill>
                          <a:latin typeface="Calibri"/>
                        </a:rPr>
                        <a:t>Awareness was moderate
(mean 65.2 / 100)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2060"/>
                          </a:solidFill>
                          <a:latin typeface="Calibri"/>
                        </a:rPr>
                        <a:t>Hall et al., 2025; Alduraywish et al., 2023; AlHumaidan et al., 2024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2060"/>
                          </a:solidFill>
                          <a:latin typeface="Calibri"/>
                        </a:rPr>
                        <a:t>Gupta et al., 2020, where awareness across six countries was low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2060"/>
                          </a:solidFill>
                          <a:latin typeface="Calibri"/>
                        </a:rPr>
                        <a:t>Women were more aware
than men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2060"/>
                          </a:solidFill>
                          <a:latin typeface="Calibri"/>
                        </a:rPr>
                        <a:t>Alam &amp; Silveyra, 2023; AlSayyad et al., 2024 (Bahrain)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2060"/>
                          </a:solidFill>
                          <a:latin typeface="Calibri"/>
                        </a:rPr>
                        <a:t>Khalid et al., 2021 and Piñeiro et al., 2016, where men scored higher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2060"/>
                          </a:solidFill>
                          <a:latin typeface="Calibri"/>
                        </a:rPr>
                        <a:t>Daily and weekly vapers
beat social vapers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2060"/>
                          </a:solidFill>
                          <a:latin typeface="Calibri"/>
                        </a:rPr>
                        <a:t>Mayorga et al., 2019, where daily users knew the risks better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2060"/>
                          </a:solidFill>
                          <a:latin typeface="Calibri"/>
                        </a:rPr>
                        <a:t>Kozlowski et al., 2017, where daily users thought vaping was safer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2060"/>
                          </a:solidFill>
                          <a:latin typeface="Calibri"/>
                        </a:rPr>
                        <a:t>A respiratory condition
raised awareness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2060"/>
                          </a:solidFill>
                          <a:latin typeface="Calibri"/>
                        </a:rPr>
                        <a:t>Alsaedi &amp; Al-Zalabani, 2025: symptoms are commoner in current users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2060"/>
                          </a:solidFill>
                          <a:latin typeface="Calibri"/>
                        </a:rPr>
                        <a:t>Nothing I found contradicts this</a:t>
                      </a:r>
                    </a:p>
                  </a:txBody>
                  <a:tcPr anchor="ctr" marL="73152" marR="54864" marT="18288" marB="18288">
                    <a:solidFill>
                      <a:srgbClr val="EC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1914" y="804005"/>
            <a:ext cx="9906000" cy="590931"/>
          </a:xfrm>
        </p:spPr>
        <p:txBody>
          <a:bodyPr wrap="square"/>
          <a:lstStyle/>
          <a:p>
            <a:pPr algn="ctr"/>
            <a:r>
              <a:rPr sz="3600" b="1" i="0">
                <a:solidFill>
                  <a:srgbClr val="FF6400"/>
                </a:solidFill>
                <a:latin typeface="Droid Sans"/>
              </a:rPr>
              <a:t>Discussion (cont…)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</a:pPr>
            <a:r>
              <a:rPr sz="2100" b="0" i="0">
                <a:solidFill>
                  <a:srgbClr val="002060"/>
                </a:solidFill>
                <a:latin typeface="Calibri"/>
              </a:rPr>
              <a:t>The questionnaire was already validated, it held up well here, and the regression let me adjust for confounders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002060"/>
                </a:solidFill>
                <a:latin typeface="Calibri"/>
              </a:rPr>
              <a:t>Because I recruited online, people chose themselves into the study, so this may not hold for every young adult in Riyadh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002060"/>
                </a:solidFill>
                <a:latin typeface="Calibri"/>
              </a:rPr>
              <a:t>Everything was self-reported, including how often people said they vape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002060"/>
                </a:solidFill>
                <a:latin typeface="Calibri"/>
              </a:rPr>
              <a:t>The uncomfortable finding is that awareness was reasonable while three in four still vaped every day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2</a:t>
            </a:fld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1914" y="804005"/>
            <a:ext cx="9906000" cy="590931"/>
          </a:xfrm>
        </p:spPr>
        <p:txBody>
          <a:bodyPr wrap="square"/>
          <a:lstStyle/>
          <a:p>
            <a:pPr algn="ctr"/>
            <a:r>
              <a:rPr sz="3600" b="1" i="0">
                <a:solidFill>
                  <a:srgbClr val="FF6400"/>
                </a:solidFill>
                <a:latin typeface="Droid Sans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</a:pPr>
            <a:r>
              <a:rPr sz="2200" b="0" i="0">
                <a:solidFill>
                  <a:srgbClr val="002060"/>
                </a:solidFill>
                <a:latin typeface="Calibri"/>
              </a:rPr>
              <a:t>Awareness of the respiratory risks was moderate, 65.2 out of 100, yet three quarters of the group vaped daily</a:t>
            </a:r>
          </a:p>
          <a:p>
            <a:pPr>
              <a:spcAft>
                <a:spcPts val="1200"/>
              </a:spcAft>
            </a:pPr>
            <a:r>
              <a:rPr sz="2200" b="0" i="0">
                <a:solidFill>
                  <a:srgbClr val="002060"/>
                </a:solidFill>
                <a:latin typeface="Calibri"/>
              </a:rPr>
              <a:t>Women, and anyone already living with a respiratory condition, knew more</a:t>
            </a:r>
          </a:p>
          <a:p>
            <a:pPr>
              <a:spcAft>
                <a:spcPts val="1200"/>
              </a:spcAft>
            </a:pPr>
            <a:r>
              <a:rPr sz="2200" b="0" i="0">
                <a:solidFill>
                  <a:srgbClr val="002060"/>
                </a:solidFill>
                <a:latin typeface="Calibri"/>
              </a:rPr>
              <a:t>Social vapers, higher earners and people in western Riyadh knew less</a:t>
            </a:r>
          </a:p>
          <a:p>
            <a:pPr>
              <a:spcAft>
                <a:spcPts val="1200"/>
              </a:spcAft>
            </a:pPr>
            <a:r>
              <a:rPr sz="2200" b="0" i="0">
                <a:solidFill>
                  <a:srgbClr val="002060"/>
                </a:solidFill>
                <a:latin typeface="Calibri"/>
              </a:rPr>
              <a:t>If knowing the risk were enough, this group would be vaping far less. Campaigns have to speak to each group in its own terms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2</a:t>
            </a:fld>
            <a:endParaRPr 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1914" y="804005"/>
            <a:ext cx="9906000" cy="590931"/>
          </a:xfrm>
        </p:spPr>
        <p:txBody>
          <a:bodyPr wrap="square"/>
          <a:lstStyle/>
          <a:p>
            <a:pPr algn="ctr"/>
            <a:r>
              <a:rPr sz="3600" b="1" i="0">
                <a:solidFill>
                  <a:srgbClr val="FF6400"/>
                </a:solidFill>
                <a:latin typeface="Droid Sans"/>
              </a:rP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656" y="1874519"/>
            <a:ext cx="6400800" cy="4114800"/>
          </a:xfrm>
        </p:spPr>
        <p:txBody>
          <a:bodyPr wrap="square"/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002060"/>
                </a:solidFill>
                <a:latin typeface="Calibri"/>
              </a:rPr>
              <a:t>Aim awareness campaigns at young people, with different messages for men and women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002060"/>
                </a:solidFill>
                <a:latin typeface="Calibri"/>
              </a:rPr>
              <a:t>Tax vapes the way tobacco is taxed, and ban their use in public places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002060"/>
                </a:solidFill>
                <a:latin typeface="Calibri"/>
              </a:rPr>
              <a:t>Control advertising, and keep sales to licensed shops with an 18+ age limit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002060"/>
                </a:solidFill>
                <a:latin typeface="Calibri"/>
              </a:rPr>
              <a:t>Put pictorial warnings on the packaging, and say plainly that vapes are not the safer option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002060"/>
                </a:solidFill>
                <a:latin typeface="Calibri"/>
              </a:rPr>
              <a:t>Follow this up with focus groups, to hear in their own words why young adults 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 descr="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788920"/>
            <a:ext cx="2194560" cy="184805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1914" y="804005"/>
            <a:ext cx="9906000" cy="590931"/>
          </a:xfrm>
        </p:spPr>
        <p:txBody>
          <a:bodyPr wrap="square"/>
          <a:lstStyle/>
          <a:p>
            <a:pPr algn="ctr"/>
            <a:r>
              <a:rPr sz="3600" b="1" i="0">
                <a:solidFill>
                  <a:srgbClr val="FF6400"/>
                </a:solidFill>
                <a:latin typeface="Droid Sans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2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434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 i="0">
                <a:solidFill>
                  <a:srgbClr val="002060"/>
                </a:solidFill>
                <a:latin typeface="Calibri"/>
              </a:rPr>
              <a:t>Alaboodi, T., et al. (2025). Epidemiology of using electronic cigarettes in Saudi Arabia: A systematic review. Cureus, 17(3).</a:t>
            </a:r>
          </a:p>
          <a:p>
            <a:pPr>
              <a:spcAft>
                <a:spcPts val="500"/>
              </a:spcAft>
            </a:pPr>
            <a:r>
              <a:rPr sz="1000" b="0" i="0">
                <a:solidFill>
                  <a:srgbClr val="002060"/>
                </a:solidFill>
                <a:latin typeface="Calibri"/>
              </a:rPr>
              <a:t>Alam, F., &amp; Silveyra, P. (2023). Sex differences in e-cigarette use and related health effects. IJERPH, 20(22), 7079.</a:t>
            </a:r>
          </a:p>
          <a:p>
            <a:pPr>
              <a:spcAft>
                <a:spcPts val="500"/>
              </a:spcAft>
            </a:pPr>
            <a:r>
              <a:rPr sz="1000" b="0" i="0">
                <a:solidFill>
                  <a:srgbClr val="002060"/>
                </a:solidFill>
                <a:latin typeface="Calibri"/>
              </a:rPr>
              <a:t>AlDukhail, S. K., et al. (2025). Electronic cigarette use among adolescents in Saudi Arabia: A national study. Tobacco Induced Diseases, 23.</a:t>
            </a:r>
          </a:p>
          <a:p>
            <a:pPr>
              <a:spcAft>
                <a:spcPts val="500"/>
              </a:spcAft>
            </a:pPr>
            <a:r>
              <a:rPr sz="1000" b="0" i="0">
                <a:solidFill>
                  <a:srgbClr val="002060"/>
                </a:solidFill>
                <a:latin typeface="Calibri"/>
              </a:rPr>
              <a:t>Alduraywish, S. A., et al. (2023). Knowledge and attitude toward e-cigarettes among first year university students in Riyadh. Healthcare, 11(4), 502.</a:t>
            </a:r>
          </a:p>
          <a:p>
            <a:pPr>
              <a:spcAft>
                <a:spcPts val="500"/>
              </a:spcAft>
            </a:pPr>
            <a:r>
              <a:rPr sz="1000" b="0" i="0">
                <a:solidFill>
                  <a:srgbClr val="002060"/>
                </a:solidFill>
                <a:latin typeface="Calibri"/>
              </a:rPr>
              <a:t>AlHumaidan, N. I., et al. (2024). Prevalence, perception and attitude regarding e-cigarette usage among young adults in Riyadh. Saudi Medical Journal, 45(8), 857–861.</a:t>
            </a:r>
          </a:p>
          <a:p>
            <a:pPr>
              <a:spcAft>
                <a:spcPts val="500"/>
              </a:spcAft>
            </a:pPr>
            <a:r>
              <a:rPr sz="1000" b="0" i="0">
                <a:solidFill>
                  <a:srgbClr val="002060"/>
                </a:solidFill>
                <a:latin typeface="Calibri"/>
              </a:rPr>
              <a:t>Alsaedi, M. Q., &amp; Al-Zalabani, A. H. (2025). E-cigarette use and respiratory symptoms among university students. Tobacco Induced Diseases, 23.</a:t>
            </a:r>
          </a:p>
          <a:p>
            <a:pPr>
              <a:spcAft>
                <a:spcPts val="500"/>
              </a:spcAft>
            </a:pPr>
            <a:r>
              <a:rPr sz="1000" b="0" i="0">
                <a:solidFill>
                  <a:srgbClr val="002060"/>
                </a:solidFill>
                <a:latin typeface="Calibri"/>
              </a:rPr>
              <a:t>AlSayyad, A. S., et al. (2024). Gender differences in e-cigarette knowledge, attitudes and practice in Bahrain. Discover Public Health, 21, 116.</a:t>
            </a:r>
          </a:p>
          <a:p>
            <a:pPr>
              <a:spcAft>
                <a:spcPts val="500"/>
              </a:spcAft>
            </a:pPr>
            <a:r>
              <a:rPr sz="1000" b="0" i="0">
                <a:solidFill>
                  <a:srgbClr val="002060"/>
                </a:solidFill>
                <a:latin typeface="Calibri"/>
              </a:rPr>
              <a:t>American Lung Association. (2025). The impact of e-cigarettes on the lung.</a:t>
            </a:r>
          </a:p>
          <a:p>
            <a:pPr>
              <a:spcAft>
                <a:spcPts val="500"/>
              </a:spcAft>
            </a:pPr>
            <a:r>
              <a:rPr sz="1000" b="0" i="0">
                <a:solidFill>
                  <a:srgbClr val="002060"/>
                </a:solidFill>
                <a:latin typeface="Calibri"/>
              </a:rPr>
              <a:t>Dowd, A. N., Motschman, C. A., &amp; Tiffany, S. T. (2019). Development and validation of the questionnaire of vaping craving. Nicotine &amp; Tobacco Research, 21(1), 63–70.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1554480"/>
            <a:ext cx="4434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 i="0">
                <a:solidFill>
                  <a:srgbClr val="002060"/>
                </a:solidFill>
                <a:latin typeface="Calibri"/>
              </a:rPr>
              <a:t>Gupta, V., et al. (2020). Assessment of knowledge of use of electronic cigarette and its harmful effects among young adults. Open Medicine, 15(1), 796–804.</a:t>
            </a:r>
          </a:p>
          <a:p>
            <a:pPr>
              <a:spcAft>
                <a:spcPts val="500"/>
              </a:spcAft>
            </a:pPr>
            <a:r>
              <a:rPr sz="1000" b="0" i="0">
                <a:solidFill>
                  <a:srgbClr val="002060"/>
                </a:solidFill>
                <a:latin typeface="Calibri"/>
              </a:rPr>
              <a:t>Kelsh, S., et al. (2023). Young adults’ electronic cigarette use and perceptions of risk. Tobacco Use Insights, 16.</a:t>
            </a:r>
          </a:p>
          <a:p>
            <a:pPr>
              <a:spcAft>
                <a:spcPts val="500"/>
              </a:spcAft>
            </a:pPr>
            <a:r>
              <a:rPr sz="1000" b="0" i="0">
                <a:solidFill>
                  <a:srgbClr val="002060"/>
                </a:solidFill>
                <a:latin typeface="Calibri"/>
              </a:rPr>
              <a:t>Khalid, A. S., et al. (2021). Awareness and attitude of vape users in the Saudi community. Pakistan Journal of Medical Sciences, 15, 1111–1114.</a:t>
            </a:r>
          </a:p>
          <a:p>
            <a:pPr>
              <a:spcAft>
                <a:spcPts val="500"/>
              </a:spcAft>
            </a:pPr>
            <a:r>
              <a:rPr sz="1000" b="0" i="0">
                <a:solidFill>
                  <a:srgbClr val="002060"/>
                </a:solidFill>
                <a:latin typeface="Calibri"/>
              </a:rPr>
              <a:t>Krishnasamy, V. P., et al. (2020). Update: Characteristics of a nationwide outbreak of EVALI, United States. MMWR, 69(3), 90–94.</a:t>
            </a:r>
          </a:p>
          <a:p>
            <a:pPr>
              <a:spcAft>
                <a:spcPts val="500"/>
              </a:spcAft>
            </a:pPr>
            <a:r>
              <a:rPr sz="1000" b="0" i="0">
                <a:solidFill>
                  <a:srgbClr val="002060"/>
                </a:solidFill>
                <a:latin typeface="Calibri"/>
              </a:rPr>
              <a:t>Mayorga, N. A., Garey, L., &amp; Zvolensky, M. J. (2019). Differences in perceptions of e-cigarettes across daily and non-daily users. Addictive Behaviors, 90, 415–420.</a:t>
            </a:r>
          </a:p>
          <a:p>
            <a:pPr>
              <a:spcAft>
                <a:spcPts val="500"/>
              </a:spcAft>
            </a:pPr>
            <a:r>
              <a:rPr sz="1000" b="0" i="0">
                <a:solidFill>
                  <a:srgbClr val="002060"/>
                </a:solidFill>
                <a:latin typeface="Calibri"/>
              </a:rPr>
              <a:t>Ollila, H., et al. (2024). Exclusive and dual use of electronic cigarettes among European youth in 32 countries. Tobacco Control, 33(5), 622–627.</a:t>
            </a:r>
          </a:p>
          <a:p>
            <a:pPr>
              <a:spcAft>
                <a:spcPts val="500"/>
              </a:spcAft>
            </a:pPr>
            <a:r>
              <a:rPr sz="1000" b="0" i="0">
                <a:solidFill>
                  <a:srgbClr val="002060"/>
                </a:solidFill>
                <a:latin typeface="Calibri"/>
              </a:rPr>
              <a:t>Piñeiro, B., et al. (2016). Gender differences in use and expectancies of e-cigarettes. Addictive Behaviors, 52, 91–97.</a:t>
            </a:r>
          </a:p>
          <a:p>
            <a:pPr>
              <a:spcAft>
                <a:spcPts val="500"/>
              </a:spcAft>
            </a:pPr>
            <a:r>
              <a:rPr sz="1000" b="0" i="0">
                <a:solidFill>
                  <a:srgbClr val="002060"/>
                </a:solidFill>
                <a:latin typeface="Calibri"/>
              </a:rPr>
              <a:t>Vahratian, A., et al. (2025). Electronic cigarette use among adults in the United States, 2019–2023. NCHS Data Brief, 524.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44822"/>
            <a:ext cx="9906000" cy="840230"/>
          </a:xfrm>
        </p:spPr>
        <p:txBody>
          <a:bodyPr/>
          <a:lstStyle/>
          <a:p>
            <a:pPr algn="ctr"/>
            <a:r>
              <a:rPr sz="5400" b="1" i="0">
                <a:solidFill>
                  <a:srgbClr val="FF6400"/>
                </a:solidFill>
                <a:latin typeface="Droid San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20440"/>
            <a:ext cx="9902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2060"/>
                </a:solidFill>
                <a:latin typeface="Calibri"/>
              </a:rPr>
              <a:t>I am happy to take your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40AF-44F8-48E0-AD0D-387F58F390FA}" type="slidenum">
              <a:rPr lang="en-GB" smtClean="0"/>
              <a:t>2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1730</TotalTime>
  <Words>1710</Words>
  <Application>Microsoft Office PowerPoint</Application>
  <PresentationFormat>A4 Paper (210x297 mm)</PresentationFormat>
  <Paragraphs>419</Paragraphs>
  <Slides>29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PowerPoint Presentation</vt:lpstr>
      <vt:lpstr>General Notes for Presentation</vt:lpstr>
      <vt:lpstr>Title Slide</vt:lpstr>
      <vt:lpstr>Acknowledgements</vt:lpstr>
      <vt:lpstr>Overview (mention all the sections in your presentation here)</vt:lpstr>
      <vt:lpstr>Introduction</vt:lpstr>
      <vt:lpstr>Literature Review</vt:lpstr>
      <vt:lpstr>Research Question </vt:lpstr>
      <vt:lpstr>Aims and Objectives</vt:lpstr>
      <vt:lpstr>Methodology</vt:lpstr>
      <vt:lpstr>Methodology (cont…)</vt:lpstr>
      <vt:lpstr>Results</vt:lpstr>
      <vt:lpstr>Results (cont…)</vt:lpstr>
      <vt:lpstr>Results (cont…)</vt:lpstr>
      <vt:lpstr>Results (cont…)</vt:lpstr>
      <vt:lpstr>Example: Table 1. Sociodemographic Characteristics of Study Participants  Table 1. Baseline characteristics of the study population (N = 606) </vt:lpstr>
      <vt:lpstr>Example: Sample results of several t-test table </vt:lpstr>
      <vt:lpstr>Example: Sample correlation results table Table 2. Descriptive statistics and correlation table </vt:lpstr>
      <vt:lpstr>Example: Table2. Sample analysis of variance (ANOVA) table    </vt:lpstr>
      <vt:lpstr>Example: Table 2. Association between Health Insurance Status and Selected Characteristics</vt:lpstr>
      <vt:lpstr>Example: Table 2. Association between Selected Characteristics and Level of Preconception Practice (Ordinal Outcome)</vt:lpstr>
      <vt:lpstr>Example: Table 2. Association between Selected Characteristics and Mean Preconception Knowledge Score (Continuous Outcome) Outcome: Preconception Knowledge Score (range: 0–20) </vt:lpstr>
      <vt:lpstr>Example: Presenting results of a linear regression model Table 2. Relationship between blood pressure and age </vt:lpstr>
      <vt:lpstr>Example: Presenting results of a regression model Table 3. Moderator Analysis: Types of Measurement and Study Year </vt:lpstr>
      <vt:lpstr>Discussion</vt:lpstr>
      <vt:lpstr>Conclusion</vt:lpstr>
      <vt:lpstr>Recommendation</vt:lpstr>
      <vt:lpstr>References</vt:lpstr>
      <vt:lpstr>Thank You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Alfaisal University Undergraduate campaign</dc:title>
  <dc:creator>Alanoud Ibraheem Alnjaidi</dc:creator>
  <cp:lastModifiedBy>Ali Noshil Abu nader</cp:lastModifiedBy>
  <cp:revision>198</cp:revision>
  <cp:lastPrinted>2019-10-31T13:37:44Z</cp:lastPrinted>
  <dcterms:created xsi:type="dcterms:W3CDTF">2017-01-18T07:17:41Z</dcterms:created>
  <dcterms:modified xsi:type="dcterms:W3CDTF">2026-09-20T22:20:19Z</dcterms:modified>
</cp:coreProperties>
</file>