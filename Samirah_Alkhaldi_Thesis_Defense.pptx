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3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4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5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6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98b8ee7-b28f-452c-57fc-79dc86c8650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Literature Review" id="{6f9890f8-cbe5-f919-539d-d6859f03c658}">
          <p14:sldIdLst>
            <p14:sldId id="265"/>
            <p14:sldId id="266"/>
            <p14:sldId id="267"/>
            <p14:sldId id="268"/>
          </p14:sldIdLst>
        </p14:section>
        <p14:section name="Methodology" id="{22c0c8cc-bb09-e5ed-f529-8d61b473b60a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Results" id="{472e5456-da1b-6be8-448e-c11b47f7ec68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Discussion" id="{fe267694-010d-2188-f03a-23aecdf210aa}">
          <p14:sldIdLst>
            <p14:sldId id="285"/>
            <p14:sldId id="286"/>
            <p14:sldId id="287"/>
            <p14:sldId id="288"/>
          </p14:sldIdLst>
        </p14:section>
        <p14:section name="Conclusion" id="{5b890296-a945-6c07-ed3a-a258d7f78dce}">
          <p14:sldIdLst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2000" b="0" i="0" u="none" strike="noStrike">
                <a:solidFill>
                  <a:srgbClr val="000000"/>
                </a:solidFill>
                <a:latin typeface="+mn-lt"/>
              </a:rPr>
              <a:t>Evaluation of the Questionnaire (N = 30)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rating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Clarity of items</c:v>
                  </c:pt>
                  <c:pt idx="1">
                    <c:v>Relevance of items</c:v>
                  </c:pt>
                  <c:pt idx="2">
                    <c:v>Ease of understanding</c:v>
                  </c:pt>
                  <c:pt idx="3">
                    <c:v>Completion time</c:v>
                  </c:pt>
                  <c:pt idx="4">
                    <c:v>Overall applicability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4.17</c:v>
                </c:pt>
                <c:pt idx="1">
                  <c:v>4.37</c:v>
                </c:pt>
                <c:pt idx="2">
                  <c:v>4.13</c:v>
                </c:pt>
                <c:pt idx="3">
                  <c:v>4</c:v>
                </c:pt>
                <c:pt idx="4">
                  <c:v>4.4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6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2000" b="0" i="0" u="none" strike="noStrike">
                <a:solidFill>
                  <a:srgbClr val="000000"/>
                </a:solidFill>
                <a:latin typeface="+mn-lt"/>
              </a:rPr>
              <a:t>Highest- and Lowest-Rated Knowledge Items (Mean)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81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81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81B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81B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81B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7964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7964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7964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7964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7964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Disaster management is essential to healthcare</c:v>
                  </c:pt>
                  <c:pt idx="1">
                    <c:v>Hospital-specific knowledge of disaster plans</c:v>
                  </c:pt>
                  <c:pt idx="2">
                    <c:v>Disaster drills are frequent enough</c:v>
                  </c:pt>
                  <c:pt idx="3">
                    <c:v>Triage plays a crucial role in disasters</c:v>
                  </c:pt>
                  <c:pt idx="4">
                    <c:v>Interdepartmental coordination is well-managed</c:v>
                  </c:pt>
                  <c:pt idx="5">
                    <c:v>Key components of preparedness are clear</c:v>
                  </c:pt>
                  <c:pt idx="6">
                    <c:v>Understand nurses’ roles in a disaster</c:v>
                  </c:pt>
                  <c:pt idx="7">
                    <c:v>Understand triage principles in mass casualties</c:v>
                  </c:pt>
                  <c:pt idx="8">
                    <c:v>Disaster communication channels are effective</c:v>
                  </c:pt>
                  <c:pt idx="9">
                    <c:v>Know emergency exits and assembly points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4.19</c:v>
                </c:pt>
                <c:pt idx="1">
                  <c:v>4.19</c:v>
                </c:pt>
                <c:pt idx="2">
                  <c:v>4.19</c:v>
                </c:pt>
                <c:pt idx="3">
                  <c:v>4.19</c:v>
                </c:pt>
                <c:pt idx="4">
                  <c:v>4.19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5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3"/>
          <c:min val="3.8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2000" b="0" i="0" u="none" strike="noStrike">
                <a:solidFill>
                  <a:srgbClr val="000000"/>
                </a:solidFill>
                <a:latin typeface="+mn-lt"/>
              </a:rPr>
              <a:t>Highest- and Lowest-Rated Perception Items (Mean)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81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81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81B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81B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81B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7964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7964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7964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79646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Satisfied with disaster training received</c:v>
                  </c:pt>
                  <c:pt idx="1">
                    <c:v>Staff mental-health support is in place</c:v>
                  </c:pt>
                  <c:pt idx="2">
                    <c:v>Disaster management is crucial in nursing</c:v>
                  </c:pt>
                  <c:pt idx="3">
                    <c:v>My skills contribute to hospital preparedness</c:v>
                  </c:pt>
                  <c:pt idx="4">
                    <c:v>Personal responsibility to be prepared</c:v>
                  </c:pt>
                  <c:pt idx="5">
                    <c:v>Confident in my performance during a disaster</c:v>
                  </c:pt>
                  <c:pt idx="6">
                    <c:v>Supported by colleagues during a disaster</c:v>
                  </c:pt>
                  <c:pt idx="7">
                    <c:v>Patients’ emotional well-being is addressed</c:v>
                  </c:pt>
                  <c:pt idx="8">
                    <c:v>Motivated to improve my preparedness skills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4.21</c:v>
                </c:pt>
                <c:pt idx="1">
                  <c:v>4.21</c:v>
                </c:pt>
                <c:pt idx="2">
                  <c:v>4.2</c:v>
                </c:pt>
                <c:pt idx="3">
                  <c:v>4.2</c:v>
                </c:pt>
                <c:pt idx="4">
                  <c:v>4.2</c:v>
                </c:pt>
                <c:pt idx="5">
                  <c:v>4.01</c:v>
                </c:pt>
                <c:pt idx="6">
                  <c:v>4.01</c:v>
                </c:pt>
                <c:pt idx="7">
                  <c:v>4.01</c:v>
                </c:pt>
                <c:pt idx="8">
                  <c:v>4.01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5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3"/>
          <c:min val="3.8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2000" b="0" i="0" u="none" strike="noStrike">
                <a:solidFill>
                  <a:srgbClr val="000000"/>
                </a:solidFill>
                <a:latin typeface="+mn-lt"/>
              </a:rPr>
              <a:t>Highest- and Lowest-Rated Practice Items (Mean)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81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81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81B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7964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7964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7964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7964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Confident in patient evacuation procedures</c:v>
                  </c:pt>
                  <c:pt idx="1">
                    <c:v>Accurate documentation is crucial</c:v>
                  </c:pt>
                  <c:pt idx="2">
                    <c:v>My role in drills is clearly defined</c:v>
                  </c:pt>
                  <c:pt idx="3">
                    <c:v>I participate regularly in disaster drills</c:v>
                  </c:pt>
                  <c:pt idx="4">
                    <c:v>Supplies and equipment are regularly checked</c:v>
                  </c:pt>
                  <c:pt idx="5">
                    <c:v>Information is documented effectively</c:v>
                  </c:pt>
                  <c:pt idx="6">
                    <c:v>Continuous improvement is needed in practices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4.21</c:v>
                </c:pt>
                <c:pt idx="1">
                  <c:v>4.21</c:v>
                </c:pt>
                <c:pt idx="2">
                  <c:v>4.2</c:v>
                </c:pt>
                <c:pt idx="3">
                  <c:v>4</c:v>
                </c:pt>
                <c:pt idx="4">
                  <c:v>4</c:v>
                </c:pt>
                <c:pt idx="5">
                  <c:v>4.01</c:v>
                </c:pt>
                <c:pt idx="6">
                  <c:v>4.01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5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3"/>
          <c:min val="3.8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 (n = 115)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Self-Perceived Knowledge</c:v>
                  </c:pt>
                  <c:pt idx="1">
                    <c:v>Perception</c:v>
                  </c:pt>
                  <c:pt idx="2">
                    <c:v>Self-Reported Practice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62.3</c:v>
                </c:pt>
                <c:pt idx="1">
                  <c:v>58.35</c:v>
                </c:pt>
                <c:pt idx="2">
                  <c:v>58.2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 (n = 185)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Self-Perceived Knowledge</c:v>
                  </c:pt>
                  <c:pt idx="1">
                    <c:v>Perception</c:v>
                  </c:pt>
                  <c:pt idx="2">
                    <c:v>Self-Reported Practice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61.06</c:v>
                </c:pt>
                <c:pt idx="1">
                  <c:v>57.11</c:v>
                </c:pt>
                <c:pt idx="2">
                  <c:v>56.42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6"/>
          <c:min val="50"/>
        </c:scaling>
        <c:delete val="0"/>
        <c:axPos val="l"/>
        <c:majorGridlines>
          <c:spPr>
            <a:ln w="12700" cap="flat">
              <a:solidFill>
                <a:srgbClr val="BFBFB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595959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595959"/>
                    </a:solidFill>
                    <a:latin typeface="+mn-lt"/>
                  </a:rPr>
                  <a:t>Mean score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Diploma (n = 29)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Self-Perceived Knowledge</c:v>
                  </c:pt>
                  <c:pt idx="1">
                    <c:v>Perception</c:v>
                  </c:pt>
                  <c:pt idx="2">
                    <c:v>Self-Reported Practice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59.5</c:v>
                </c:pt>
                <c:pt idx="1">
                  <c:v>55.8</c:v>
                </c:pt>
                <c:pt idx="2">
                  <c:v>54.9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BSN (n = 255)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Self-Perceived Knowledge</c:v>
                  </c:pt>
                  <c:pt idx="1">
                    <c:v>Perception</c:v>
                  </c:pt>
                  <c:pt idx="2">
                    <c:v>Self-Reported Practice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61.75</c:v>
                </c:pt>
                <c:pt idx="1">
                  <c:v>57.78</c:v>
                </c:pt>
                <c:pt idx="2">
                  <c:v>57.36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MSN (n = 16)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Self-Perceived Knowledge</c:v>
                  </c:pt>
                  <c:pt idx="1">
                    <c:v>Perception</c:v>
                  </c:pt>
                  <c:pt idx="2">
                    <c:v>Self-Reported Practice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63.77</c:v>
                </c:pt>
                <c:pt idx="1">
                  <c:v>59.68</c:v>
                </c:pt>
                <c:pt idx="2">
                  <c:v>59.75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6"/>
          <c:min val="50"/>
        </c:scaling>
        <c:delete val="0"/>
        <c:axPos val="l"/>
        <c:majorGridlines>
          <c:spPr>
            <a:ln w="12700" cap="flat">
              <a:solidFill>
                <a:srgbClr val="BFBFB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595959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595959"/>
                    </a:solidFill>
                    <a:latin typeface="+mn-lt"/>
                  </a:rPr>
                  <a:t>Mean score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IPC/1ef487fd-4d6c-5dcb-aba6-fa5466b3c339/scratchpad/build/assets/ksu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76704" y="0"/>
            <a:ext cx="3483864" cy="154533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ttom rule"/>
          <p:cNvSpPr/>
          <p:nvPr/>
        </p:nvSpPr>
        <p:spPr>
          <a:xfrm>
            <a:off x="0" y="9646920"/>
            <a:ext cx="182880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3" name="title frame"/>
          <p:cNvSpPr/>
          <p:nvPr/>
        </p:nvSpPr>
        <p:spPr>
          <a:xfrm>
            <a:off x="1097280" y="594360"/>
            <a:ext cx="1335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685800"/>
            <a:ext cx="128016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Assessing Nurses’ Knowledge, Perception, and Practice about Pandemic Disasters: A Cross-sectional Study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3520440"/>
            <a:ext cx="12801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Samirah Alkhaldi</a:t>
            </a:r>
            <a:endParaRPr lang="en-US" sz="36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ID: 446200992</a:t>
            </a:r>
            <a:endParaRPr lang="en-US" sz="36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 Thesis Defense</a:t>
            </a:r>
            <a:endParaRPr lang="en-US" sz="36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College of Nursing</a:t>
            </a:r>
            <a:endParaRPr lang="en-US" sz="36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King Saud University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6720840"/>
            <a:ext cx="10972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Font typeface="Wingdings" pitchFamily="2" charset="2"/>
              <a:buChar char="Ø"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Thesis Supervisor:</a:t>
            </a:r>
            <a:endParaRPr lang="en-US" sz="28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Prof. Ahmad Aboshaiqah</a:t>
            </a:r>
            <a:endParaRPr lang="en-US" sz="280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(1448H) – (2026G)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IPC/1ef487fd-4d6c-5dcb-aba6-fa5466b3c339/scratchpad/build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01200"/>
            <a:ext cx="182880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1280160" y="2286000"/>
            <a:ext cx="15727680" cy="7132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spcAft>
                <a:spcPts val="140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Pandemic disasters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are emerging as defining challenges to global public health in the 21st century, revealing gaps across health systems in preparation for and response to pandemics.</a:t>
            </a:r>
            <a:endParaRPr lang="en-US" sz="2700" dirty="0"/>
          </a:p>
          <a:p>
            <a:pPr algn="l" indent="0" marL="0">
              <a:lnSpc>
                <a:spcPct val="150000"/>
              </a:lnSpc>
              <a:spcAft>
                <a:spcPts val="140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Nurses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the largest workforce category, shoulder the greatest burden: infection prevention, patient triage, routine and urgent care, and communication with patients and families under intense psychological and physical stress.</a:t>
            </a:r>
            <a:endParaRPr lang="en-US" sz="2700" dirty="0"/>
          </a:p>
          <a:p>
            <a:pPr algn="l" indent="0" marL="0">
              <a:lnSpc>
                <a:spcPct val="150000"/>
              </a:lnSpc>
              <a:spcAft>
                <a:spcPts val="1400"/>
              </a:spcAft>
              <a:buNone/>
            </a:pP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COVID-19 showed that frontline preparedness is uneven, and that assessing the triad of </a:t>
            </a: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knowledge, perception and practice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important to strengthen nurses’ capacity to manage pandemic disasters.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0" y="868680"/>
            <a:ext cx="896112" cy="1005840"/>
          </a:xfrm>
          <a:prstGeom prst="rect">
            <a:avLst/>
          </a:prstGeom>
          <a:solidFill>
            <a:srgbClr val="1A3760"/>
          </a:solidFill>
          <a:ln w="12700">
            <a:solidFill>
              <a:srgbClr val="1A3760"/>
            </a:solidFill>
            <a:prstDash val="solid"/>
          </a:ln>
        </p:spPr>
      </p:sp>
      <p:sp>
        <p:nvSpPr>
          <p:cNvPr id="3" name="footer"/>
          <p:cNvSpPr/>
          <p:nvPr/>
        </p:nvSpPr>
        <p:spPr>
          <a:xfrm>
            <a:off x="0" y="9473184"/>
            <a:ext cx="18288000" cy="813816"/>
          </a:xfrm>
          <a:prstGeom prst="rect">
            <a:avLst/>
          </a:prstGeom>
          <a:solidFill>
            <a:srgbClr val="1A3760"/>
          </a:solidFill>
          <a:ln w="12700">
            <a:solidFill>
              <a:srgbClr val="1A37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194560"/>
            <a:ext cx="15727680" cy="722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global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MERS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cases were reported in Saudi Arabia: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2,196 of 2,605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cases by August 2023 (WHO, 2023a).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Saudi Arabia had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243,336 nurses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across all health sectors in 2024 (MOH, 2025).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Taif branch of the MOH has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hospitals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with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2,640 beds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4,638 nurses and midwives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(MOH, 2025).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National emergency planning has been strengthened, but it succeeds only through frontline nurses’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knowledge, confidence and consistent practice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Previous Taif evidence (Brinjee et al., 2021) addressed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emergency nurses’ training needs only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IPC/1ef487fd-4d6c-5dcb-aba6-fa5466b3c339/scratchpad/build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01200"/>
            <a:ext cx="182880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Variables: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2057400"/>
            <a:ext cx="12435840" cy="7406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Font typeface="Wingdings" pitchFamily="2" charset="2"/>
              <a:buChar char="Ø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Self-Perceived Knowledge</a:t>
            </a:r>
            <a:endParaRPr lang="en-US" sz="24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Nurses’ self-assessed familiarity, understanding and confidence regarding disaster principles, hospital plans, triage, emergency communication and nursing roles.</a:t>
            </a:r>
            <a:endParaRPr lang="en-US" sz="2400" dirty="0"/>
          </a:p>
          <a:p>
            <a:pPr algn="l" marL="342900" indent="-342900">
              <a:lnSpc>
                <a:spcPct val="115000"/>
              </a:lnSpc>
              <a:buSzPct val="100000"/>
              <a:buFont typeface="Wingdings" pitchFamily="2" charset="2"/>
              <a:buChar char="Ø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Perceptions</a:t>
            </a:r>
            <a:endParaRPr lang="en-US" sz="24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Nurses’ beliefs, attitudes, confidence, professional responsibility, perceived organizational support and readiness to respond.</a:t>
            </a:r>
            <a:endParaRPr lang="en-US" sz="2400" dirty="0"/>
          </a:p>
          <a:p>
            <a:pPr algn="l" marL="342900" indent="-342900">
              <a:lnSpc>
                <a:spcPct val="115000"/>
              </a:lnSpc>
              <a:buSzPct val="100000"/>
              <a:buFont typeface="Wingdings" pitchFamily="2" charset="2"/>
              <a:buChar char="Ø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Self-Reported Practice</a:t>
            </a:r>
            <a:endParaRPr lang="en-US" sz="240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Reported engagement in drills, emergency equipment, evacuation, documentation, infection control, PPE, protocol review and lessons learned.</a:t>
            </a:r>
            <a:endParaRPr lang="en-US" sz="2400" dirty="0"/>
          </a:p>
          <a:p>
            <a:pPr algn="l" marL="342900" indent="-342900">
              <a:lnSpc>
                <a:spcPct val="115000"/>
              </a:lnSpc>
              <a:buSzPct val="100000"/>
              <a:buFont typeface="Wingdings" pitchFamily="2" charset="2"/>
              <a:buChar char="Ø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Demographic Characteristics</a:t>
            </a:r>
            <a:endParaRPr lang="en-US" sz="240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Age, gender, marital status, educational level, years of experience and practice area.</a:t>
            </a:r>
            <a:endParaRPr lang="en-US" sz="2400" dirty="0"/>
          </a:p>
        </p:txBody>
      </p:sp>
      <p:pic>
        <p:nvPicPr>
          <p:cNvPr id="5" name="Image 1" descr="/tmp/claude-0/-home-user-CIPC/1ef487fd-4d6c-5dcb-aba6-fa5466b3c339/scratchpad/build/assets/icon_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0" y="329184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/>
          <p:nvPr/>
        </p:nvSpPr>
        <p:spPr>
          <a:xfrm>
            <a:off x="0" y="9473184"/>
            <a:ext cx="18288000" cy="813816"/>
          </a:xfrm>
          <a:prstGeom prst="rect">
            <a:avLst/>
          </a:prstGeom>
          <a:solidFill>
            <a:srgbClr val="1A3760"/>
          </a:solidFill>
          <a:ln w="12700">
            <a:solidFill>
              <a:srgbClr val="1A3760"/>
            </a:solidFill>
            <a:prstDash val="solid"/>
          </a:ln>
        </p:spPr>
      </p:sp>
      <p:sp>
        <p:nvSpPr>
          <p:cNvPr id="3" name="bar 0"/>
          <p:cNvSpPr/>
          <p:nvPr/>
        </p:nvSpPr>
        <p:spPr>
          <a:xfrm>
            <a:off x="3941064" y="310896"/>
            <a:ext cx="274320" cy="3429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4" name="bar 1"/>
          <p:cNvSpPr/>
          <p:nvPr/>
        </p:nvSpPr>
        <p:spPr>
          <a:xfrm>
            <a:off x="4334256" y="310896"/>
            <a:ext cx="274320" cy="3429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5" name="bar 2"/>
          <p:cNvSpPr/>
          <p:nvPr/>
        </p:nvSpPr>
        <p:spPr>
          <a:xfrm>
            <a:off x="4727448" y="310896"/>
            <a:ext cx="274320" cy="3429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6" name="title card"/>
          <p:cNvSpPr/>
          <p:nvPr/>
        </p:nvSpPr>
        <p:spPr>
          <a:xfrm>
            <a:off x="960120" y="923544"/>
            <a:ext cx="16358616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itle marker"/>
          <p:cNvSpPr/>
          <p:nvPr/>
        </p:nvSpPr>
        <p:spPr>
          <a:xfrm>
            <a:off x="0" y="1828800"/>
            <a:ext cx="896112" cy="1005840"/>
          </a:xfrm>
          <a:prstGeom prst="rect">
            <a:avLst/>
          </a:prstGeom>
          <a:solidFill>
            <a:srgbClr val="1A3760"/>
          </a:solidFill>
          <a:ln w="12700">
            <a:solidFill>
              <a:srgbClr val="1A37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63624" y="1216152"/>
            <a:ext cx="1325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1563624" y="4114800"/>
            <a:ext cx="149047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Despite nurses’ contribution to pandemic preparedness and response, previous Saudi studies revealed </a:t>
            </a: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persistent gaps in knowledge, training and practical preparedness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among nurses concerning disasters.</a:t>
            </a:r>
            <a:endParaRPr lang="en-US" sz="2700" dirty="0"/>
          </a:p>
          <a:p>
            <a:pPr algn="l" indent="0" marL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However, </a:t>
            </a: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few data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exist on nurses’ knowledge, perception and practice about pandemic disasters in </a:t>
            </a: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governmental hospitals in the Taif Region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Without context-specific evidence, healthcare leaders cannot identify preparedness gaps or develop targeted education, simulations and institutional interventions.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 0"/>
          <p:cNvSpPr/>
          <p:nvPr/>
        </p:nvSpPr>
        <p:spPr>
          <a:xfrm>
            <a:off x="45720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bar 1"/>
          <p:cNvSpPr/>
          <p:nvPr/>
        </p:nvSpPr>
        <p:spPr>
          <a:xfrm>
            <a:off x="438912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bar 2"/>
          <p:cNvSpPr/>
          <p:nvPr/>
        </p:nvSpPr>
        <p:spPr>
          <a:xfrm>
            <a:off x="832104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gold line"/>
          <p:cNvSpPr/>
          <p:nvPr/>
        </p:nvSpPr>
        <p:spPr>
          <a:xfrm>
            <a:off x="1216152" y="9692640"/>
            <a:ext cx="15855696" cy="0"/>
          </a:xfrm>
          <a:prstGeom prst="line">
            <a:avLst/>
          </a:prstGeom>
          <a:noFill/>
          <a:ln w="31750">
            <a:solidFill>
              <a:srgbClr val="FFC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Significance of the Study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86000"/>
            <a:ext cx="15361920" cy="722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spcAft>
                <a:spcPts val="1000"/>
              </a:spcAft>
              <a:buSzPct val="100000"/>
              <a:buFont typeface="Wingdings" pitchFamily="2" charset="2"/>
              <a:buChar char="v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Little evidence exists on whether nurses in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Taif governmental hospitals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have adequate knowledge, positive perceptions and appropriate practices related to pandemic disasters.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1000"/>
              </a:spcAft>
              <a:buSzPct val="100000"/>
              <a:buFont typeface="Wingdings" pitchFamily="2" charset="2"/>
              <a:buChar char="v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Previous research focused on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 disaster preparedness, emergency nurses, or healthcare professionals as a whole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1000"/>
              </a:spcAft>
              <a:buSzPct val="100000"/>
              <a:buFont typeface="Wingdings" pitchFamily="2" charset="2"/>
              <a:buChar char="v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one dimension is weak, others may be limited;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knowledge may not be put into practice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without confidence, training, resources and organizational support.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1000"/>
              </a:spcAft>
              <a:buSzPct val="100000"/>
              <a:buFont typeface="Wingdings" pitchFamily="2" charset="2"/>
              <a:buChar char="v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can highlight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education and simulation-training needs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support hospital leaders and policy makers in designing preparedness programs.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uter frame"/>
          <p:cNvSpPr/>
          <p:nvPr/>
        </p:nvSpPr>
        <p:spPr>
          <a:xfrm>
            <a:off x="1097280" y="868680"/>
            <a:ext cx="15819120" cy="8503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22222"/>
            </a:solidFill>
            <a:prstDash val="solid"/>
          </a:ln>
        </p:spPr>
      </p:sp>
      <p:sp>
        <p:nvSpPr>
          <p:cNvPr id="3" name="purpose frame"/>
          <p:cNvSpPr/>
          <p:nvPr/>
        </p:nvSpPr>
        <p:spPr>
          <a:xfrm>
            <a:off x="1463040" y="1371600"/>
            <a:ext cx="36576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1371600"/>
            <a:ext cx="347472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Purpose Statement</a:t>
            </a:r>
            <a:endParaRPr lang="en-US" sz="4600" dirty="0"/>
          </a:p>
        </p:txBody>
      </p:sp>
      <p:sp>
        <p:nvSpPr>
          <p:cNvPr id="5" name="divider"/>
          <p:cNvSpPr/>
          <p:nvPr/>
        </p:nvSpPr>
        <p:spPr>
          <a:xfrm>
            <a:off x="5532120" y="2560320"/>
            <a:ext cx="0" cy="457200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737360"/>
            <a:ext cx="10789920" cy="749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 and Objectives</a:t>
            </a:r>
            <a:endParaRPr lang="en-US" sz="2500" dirty="0"/>
          </a:p>
          <a:p>
            <a:pPr algn="l" indent="0" marL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aim of this study was to assess nurses’ self-perceived knowledge, perceptions and self-reported practices regarding pandemic disasters among nurses working in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governmental hospitals in the Taif Region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Saudi Arabia. Specifically, it sought to:</a:t>
            </a:r>
            <a:endParaRPr lang="en-US" sz="2500" dirty="0"/>
          </a:p>
          <a:p>
            <a:pPr algn="l" marL="342900" indent="-342900">
              <a:lnSpc>
                <a:spcPct val="150000"/>
              </a:lnSpc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Determine the level of each of the three domains.</a:t>
            </a:r>
            <a:endParaRPr lang="en-US" sz="2500" dirty="0"/>
          </a:p>
          <a:p>
            <a:pPr algn="l" marL="342900" indent="-342900">
              <a:lnSpc>
                <a:spcPct val="150000"/>
              </a:lnSpc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Examine the relationships among the three domains.</a:t>
            </a:r>
            <a:endParaRPr lang="en-US" sz="2500" dirty="0"/>
          </a:p>
          <a:p>
            <a:pPr algn="l" marL="342900" indent="-342900">
              <a:lnSpc>
                <a:spcPct val="150000"/>
              </a:lnSpc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differences according to gender and educational level.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0" y="868680"/>
            <a:ext cx="896112" cy="1005840"/>
          </a:xfrm>
          <a:prstGeom prst="rect">
            <a:avLst/>
          </a:prstGeom>
          <a:solidFill>
            <a:srgbClr val="1A3760"/>
          </a:solidFill>
          <a:ln w="12700">
            <a:solidFill>
              <a:srgbClr val="1A3760"/>
            </a:solidFill>
            <a:prstDash val="solid"/>
          </a:ln>
        </p:spPr>
      </p:sp>
      <p:pic>
        <p:nvPicPr>
          <p:cNvPr id="3" name="Image 0" descr="/tmp/claude-0/-home-user-CIPC/1ef487fd-4d6c-5dcb-aba6-fa5466b3c339/scratchpad/build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01200"/>
            <a:ext cx="1828800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Questions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2194560"/>
            <a:ext cx="15727680" cy="722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level of nurses’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self-perceived knowledge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regarding pandemic disasters in the Taif Region?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level of nurses’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perceptions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regarding pandemic disasters in the Taif Region?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level of nurses’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self-reported practices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regarding pandemic disasters in the Taif Region?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relationships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exist among nurses’ self-perceived knowledge, perceptions and self-reported practices?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what extent is self-perceived knowledge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associated with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perceptions and self-reported practices?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 there differences in the three domains according to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gender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 there differences in the three domains according to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educational level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Conceptual Framework</a:t>
            </a:r>
            <a:endParaRPr lang="en-US" sz="5400" dirty="0"/>
          </a:p>
        </p:txBody>
      </p:sp>
      <p:sp>
        <p:nvSpPr>
          <p:cNvPr id="3" name="title underline"/>
          <p:cNvSpPr/>
          <p:nvPr/>
        </p:nvSpPr>
        <p:spPr>
          <a:xfrm>
            <a:off x="1280160" y="2011680"/>
            <a:ext cx="54864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80160" y="2286000"/>
            <a:ext cx="8412480" cy="7132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1A37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Framework:</a:t>
            </a:r>
            <a:endParaRPr lang="en-US" sz="2400" dirty="0"/>
          </a:p>
          <a:p>
            <a:pPr algn="l"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Based on the Knowledge–Attitude/Perception–Practice (KAP) model.</a:t>
            </a:r>
            <a:endParaRPr lang="en-US" sz="24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1A37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Self-Perceived Knowledge:</a:t>
            </a:r>
            <a:endParaRPr lang="en-US" sz="2400" dirty="0"/>
          </a:p>
          <a:p>
            <a:pPr algn="l"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Nurses rate their own familiarity and confidence (not a scored test).</a:t>
            </a:r>
            <a:endParaRPr lang="en-US" sz="24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1A37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Perception &amp; Practice:</a:t>
            </a:r>
            <a:endParaRPr lang="en-US" sz="2400" dirty="0"/>
          </a:p>
          <a:p>
            <a:pPr algn="l"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Attitudes, support and readiness; reported preparedness behaviors.</a:t>
            </a:r>
            <a:endParaRPr lang="en-US" sz="2400" dirty="0"/>
          </a:p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1A37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Use:</a:t>
            </a:r>
            <a:endParaRPr lang="en-US" sz="2400" dirty="0"/>
          </a:p>
          <a:p>
            <a:pPr algn="l" marL="342900" indent="-342900">
              <a:lnSpc>
                <a:spcPct val="125000"/>
              </a:lnSpc>
              <a:spcAft>
                <a:spcPts val="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levels, relationships and differences; not a causal pathway.</a:t>
            </a:r>
            <a:endParaRPr lang="en-US" sz="2400" dirty="0"/>
          </a:p>
        </p:txBody>
      </p:sp>
      <p:sp>
        <p:nvSpPr>
          <p:cNvPr id="5" name="link Self-Perceived Knowledge"/>
          <p:cNvSpPr/>
          <p:nvPr/>
        </p:nvSpPr>
        <p:spPr>
          <a:xfrm>
            <a:off x="13624560" y="2926080"/>
            <a:ext cx="914" cy="256032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6" name="link Perception"/>
          <p:cNvSpPr/>
          <p:nvPr/>
        </p:nvSpPr>
        <p:spPr>
          <a:xfrm flipH="1">
            <a:off x="11704320" y="5486400"/>
            <a:ext cx="1920240" cy="201168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7" name="link Self-Reported Practice"/>
          <p:cNvSpPr/>
          <p:nvPr/>
        </p:nvSpPr>
        <p:spPr>
          <a:xfrm>
            <a:off x="13624560" y="5486400"/>
            <a:ext cx="1828800" cy="201168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</a:ln>
        </p:spPr>
      </p:sp>
      <p:sp>
        <p:nvSpPr>
          <p:cNvPr id="8" name="preparedness"/>
          <p:cNvSpPr/>
          <p:nvPr/>
        </p:nvSpPr>
        <p:spPr>
          <a:xfrm>
            <a:off x="11887200" y="4709160"/>
            <a:ext cx="3474720" cy="1554480"/>
          </a:xfrm>
          <a:prstGeom prst="roundRect">
            <a:avLst>
              <a:gd name="adj" fmla="val 17647"/>
            </a:avLst>
          </a:prstGeom>
          <a:solidFill>
            <a:srgbClr val="4472C4"/>
          </a:solidFill>
          <a:ln w="19050">
            <a:solidFill>
              <a:srgbClr val="2F52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978640" y="47548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Pandemic-Disaster Preparedness</a:t>
            </a:r>
            <a:endParaRPr lang="en-US" sz="2200" dirty="0"/>
          </a:p>
        </p:txBody>
      </p:sp>
      <p:sp>
        <p:nvSpPr>
          <p:cNvPr id="10" name="box Self-Perceived Knowledge"/>
          <p:cNvSpPr/>
          <p:nvPr/>
        </p:nvSpPr>
        <p:spPr>
          <a:xfrm>
            <a:off x="11887200" y="2377440"/>
            <a:ext cx="3474720" cy="109728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 w="19050">
            <a:solidFill>
              <a:srgbClr val="2F52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0" y="23774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Self-Perceived Knowledge</a:t>
            </a:r>
            <a:endParaRPr lang="en-US" sz="2200" dirty="0"/>
          </a:p>
        </p:txBody>
      </p:sp>
      <p:sp>
        <p:nvSpPr>
          <p:cNvPr id="12" name="box Perception"/>
          <p:cNvSpPr/>
          <p:nvPr/>
        </p:nvSpPr>
        <p:spPr>
          <a:xfrm>
            <a:off x="9966960" y="6949440"/>
            <a:ext cx="3474720" cy="109728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 w="19050">
            <a:solidFill>
              <a:srgbClr val="2F52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66960" y="69494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Perception</a:t>
            </a:r>
            <a:endParaRPr lang="en-US" sz="2200" dirty="0"/>
          </a:p>
        </p:txBody>
      </p:sp>
      <p:sp>
        <p:nvSpPr>
          <p:cNvPr id="14" name="box Self-Reported Practice"/>
          <p:cNvSpPr/>
          <p:nvPr/>
        </p:nvSpPr>
        <p:spPr>
          <a:xfrm>
            <a:off x="13716000" y="6949440"/>
            <a:ext cx="3474720" cy="109728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 w="19050">
            <a:solidFill>
              <a:srgbClr val="2F52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716000" y="69494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Self-Reported Practice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0" y="8321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1. </a:t>
            </a: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Conceptual framework on nurses’ knowledge, perception and practice about pandemic disasters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IPC/1ef487fd-4d6c-5dcb-aba6-fa5466b3c339/scratchpad/build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01200"/>
            <a:ext cx="182880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1280160" y="2286000"/>
            <a:ext cx="15727680" cy="7132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literature was reviewed around four themes, Saudi evidence and methodological limitations: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Nurses’ knowledge of pandemic and disaster preparedness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Nurses’ perceptions of risk, readiness and professional role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Nurses’ practices in pandemic disaster response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Factors predicting knowledge, perception, practice and preparedness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Saudi Arabian evidence and regional relevance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Methodological and conceptual limitations of existing evidence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 0"/>
          <p:cNvSpPr/>
          <p:nvPr/>
        </p:nvSpPr>
        <p:spPr>
          <a:xfrm>
            <a:off x="45720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bar 1"/>
          <p:cNvSpPr/>
          <p:nvPr/>
        </p:nvSpPr>
        <p:spPr>
          <a:xfrm>
            <a:off x="438912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bar 2"/>
          <p:cNvSpPr/>
          <p:nvPr/>
        </p:nvSpPr>
        <p:spPr>
          <a:xfrm>
            <a:off x="832104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gold line"/>
          <p:cNvSpPr/>
          <p:nvPr/>
        </p:nvSpPr>
        <p:spPr>
          <a:xfrm>
            <a:off x="1216152" y="9692640"/>
            <a:ext cx="15855696" cy="0"/>
          </a:xfrm>
          <a:prstGeom prst="line">
            <a:avLst/>
          </a:prstGeom>
          <a:noFill/>
          <a:ln w="31750">
            <a:solidFill>
              <a:srgbClr val="FFC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194560"/>
            <a:ext cx="15179040" cy="731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Font typeface="Wingdings" pitchFamily="2" charset="2"/>
              <a:buChar char="v"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systematic review by Said and Chiang (2020) of 12 studies (1,443 nurses) found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inadequate disaster knowledge and skills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weak psychological preparedness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2500" dirty="0"/>
          </a:p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Font typeface="Wingdings" pitchFamily="2" charset="2"/>
              <a:buChar char="v"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 and Cakir (2022) reviewed 17 studies and found nurses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inadequately prepared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while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disaster education and experience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were consistently linked to better results.</a:t>
            </a:r>
            <a:endParaRPr lang="en-US" sz="2500" dirty="0"/>
          </a:p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Font typeface="Wingdings" pitchFamily="2" charset="2"/>
              <a:buChar char="v"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Songwathana and Timalsina (2021) reported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poor-to-fair preparedness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 developing countries, with gaps in structured education, drills and disaster participation.</a:t>
            </a:r>
            <a:endParaRPr lang="en-US" sz="2500" dirty="0"/>
          </a:p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Font typeface="Wingdings" pitchFamily="2" charset="2"/>
              <a:buChar char="v"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Küçük et al. (2023) found only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moderate perceived preparedness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despite training and drill participation.</a:t>
            </a:r>
            <a:endParaRPr lang="en-US" sz="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 0"/>
          <p:cNvSpPr/>
          <p:nvPr/>
        </p:nvSpPr>
        <p:spPr>
          <a:xfrm>
            <a:off x="45720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bar 1"/>
          <p:cNvSpPr/>
          <p:nvPr/>
        </p:nvSpPr>
        <p:spPr>
          <a:xfrm>
            <a:off x="438912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bar 2"/>
          <p:cNvSpPr/>
          <p:nvPr/>
        </p:nvSpPr>
        <p:spPr>
          <a:xfrm>
            <a:off x="832104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5400" dirty="0"/>
          </a:p>
        </p:txBody>
      </p:sp>
      <p:sp>
        <p:nvSpPr>
          <p:cNvPr id="6" name="bar 0"/>
          <p:cNvSpPr/>
          <p:nvPr/>
        </p:nvSpPr>
        <p:spPr>
          <a:xfrm>
            <a:off x="16276320" y="8503920"/>
            <a:ext cx="274320" cy="1188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bar 1"/>
          <p:cNvSpPr/>
          <p:nvPr/>
        </p:nvSpPr>
        <p:spPr>
          <a:xfrm>
            <a:off x="16669512" y="8503920"/>
            <a:ext cx="274320" cy="1188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bar 2"/>
          <p:cNvSpPr/>
          <p:nvPr/>
        </p:nvSpPr>
        <p:spPr>
          <a:xfrm>
            <a:off x="17062704" y="8503920"/>
            <a:ext cx="274320" cy="1188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37360" y="2194560"/>
            <a:ext cx="14264640" cy="731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Font typeface="Wingdings" pitchFamily="2" charset="2"/>
              <a:buChar char="v"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Song et al. (2021) showed that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training, emergency drills and prior infectious-disease experience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were associated with stronger emergency-response competencies.</a:t>
            </a:r>
            <a:endParaRPr lang="en-US" sz="2500" dirty="0"/>
          </a:p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Font typeface="Wingdings" pitchFamily="2" charset="2"/>
              <a:buChar char="v"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Chegini et al. (2022) linked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training, advanced education and drill exposure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to higher preparedness; communication lagged behind technical competence.</a:t>
            </a:r>
            <a:endParaRPr lang="en-US" sz="2500" dirty="0"/>
          </a:p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Font typeface="Wingdings" pitchFamily="2" charset="2"/>
              <a:buChar char="v"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AlOtaibi et al. (2024) found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non-significant change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after a short online course, while Hung et al. (2021) reported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improvements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after an intensive mixed-format course.</a:t>
            </a:r>
            <a:endParaRPr lang="en-US" sz="2500" dirty="0"/>
          </a:p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Font typeface="Wingdings" pitchFamily="2" charset="2"/>
              <a:buChar char="v"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Saudi studies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from Riyadh, Jeddah and Dammam used varying populations, concepts and instruments, giving no comprehensive regional picture.</a:t>
            </a:r>
            <a:endParaRPr lang="en-US" sz="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IPC/1ef487fd-4d6c-5dcb-aba6-fa5466b3c339/scratchpad/build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01200"/>
            <a:ext cx="182880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in Knowledge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1463040" y="2377440"/>
            <a:ext cx="15453360" cy="6949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Saudi evidence on nurses’ pandemic preparedness is fragmented, and the only Taif study examined </a:t>
            </a: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emergency nurses’ disaster-education needs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rather than pandemic-specific knowledge, perception and practice among staff nurses. Assessing a single domain cannot show where gaps lie. </a:t>
            </a: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published study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has examined all three domains together among nurses in </a:t>
            </a: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governmental hospitals in the Taif Region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This study provides </a:t>
            </a: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data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for nursing education, simulation training and hospital emergency planning.</a:t>
            </a:r>
            <a:endParaRPr lang="en-US" sz="2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5400" dirty="0"/>
          </a:p>
        </p:txBody>
      </p:sp>
      <p:pic>
        <p:nvPicPr>
          <p:cNvPr id="3" name="Image 0" descr="/tmp/claude-0/-home-user-CIPC/1ef487fd-4d6c-5dcb-aba6-fa5466b3c339/scratchpad/build/assets/orange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11680"/>
            <a:ext cx="16093440" cy="91440"/>
          </a:xfrm>
          <a:prstGeom prst="rect">
            <a:avLst/>
          </a:prstGeom>
        </p:spPr>
      </p:pic>
      <p:sp>
        <p:nvSpPr>
          <p:cNvPr id="4" name="petal Design"/>
          <p:cNvSpPr/>
          <p:nvPr/>
        </p:nvSpPr>
        <p:spPr>
          <a:xfrm>
            <a:off x="1097280" y="2377440"/>
            <a:ext cx="7818120" cy="3291840"/>
          </a:xfrm>
          <a:prstGeom prst="round2DiagRect">
            <a:avLst>
              <a:gd name="adj" fmla="val 25000"/>
            </a:avLst>
          </a:prstGeom>
          <a:solidFill>
            <a:srgbClr val="DAE3F3"/>
          </a:solidFill>
          <a:ln w="12700">
            <a:solidFill>
              <a:srgbClr val="DAE3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371600" y="260604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3337560"/>
            <a:ext cx="6675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Quantitative, descriptive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cross-sectional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design.</a:t>
            </a:r>
            <a:endParaRPr lang="en-US" sz="2500" dirty="0"/>
          </a:p>
        </p:txBody>
      </p:sp>
      <p:sp>
        <p:nvSpPr>
          <p:cNvPr id="7" name="petal Setting &amp; Participants"/>
          <p:cNvSpPr/>
          <p:nvPr/>
        </p:nvSpPr>
        <p:spPr>
          <a:xfrm flipH="1">
            <a:off x="9372600" y="2377440"/>
            <a:ext cx="7818120" cy="3291840"/>
          </a:xfrm>
          <a:prstGeom prst="round2DiagRect">
            <a:avLst>
              <a:gd name="adj" fmla="val 25000"/>
            </a:avLst>
          </a:prstGeom>
          <a:solidFill>
            <a:srgbClr val="DAE3F3"/>
          </a:solidFill>
          <a:ln w="12700">
            <a:solidFill>
              <a:srgbClr val="DAE3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46920" y="260604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Setting &amp; Participants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921240" y="3337560"/>
            <a:ext cx="6675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Staff nurses in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governmental hospitals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 the Taif Region, Saudi Arabia.</a:t>
            </a:r>
            <a:endParaRPr lang="en-US" sz="2500" dirty="0"/>
          </a:p>
        </p:txBody>
      </p:sp>
      <p:sp>
        <p:nvSpPr>
          <p:cNvPr id="10" name="petal Sample Size"/>
          <p:cNvSpPr/>
          <p:nvPr/>
        </p:nvSpPr>
        <p:spPr>
          <a:xfrm>
            <a:off x="1097280" y="5989320"/>
            <a:ext cx="7818120" cy="3291840"/>
          </a:xfrm>
          <a:prstGeom prst="round2DiagRect">
            <a:avLst>
              <a:gd name="adj" fmla="val 25000"/>
            </a:avLst>
          </a:prstGeom>
          <a:solidFill>
            <a:srgbClr val="DAE3F3"/>
          </a:solidFill>
          <a:ln w="12700">
            <a:solidFill>
              <a:srgbClr val="DAE3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71600" y="621792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 Size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6949440"/>
            <a:ext cx="6675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G*Power 3.1 required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159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;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 nurses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were included, plus 30 in the pilot.</a:t>
            </a:r>
            <a:endParaRPr lang="en-US" sz="2500" dirty="0"/>
          </a:p>
        </p:txBody>
      </p:sp>
      <p:sp>
        <p:nvSpPr>
          <p:cNvPr id="13" name="petal Sampling"/>
          <p:cNvSpPr/>
          <p:nvPr/>
        </p:nvSpPr>
        <p:spPr>
          <a:xfrm flipH="1">
            <a:off x="9372600" y="5989320"/>
            <a:ext cx="7818120" cy="3291840"/>
          </a:xfrm>
          <a:prstGeom prst="round2DiagRect">
            <a:avLst>
              <a:gd name="adj" fmla="val 25000"/>
            </a:avLst>
          </a:prstGeom>
          <a:solidFill>
            <a:srgbClr val="DAE3F3"/>
          </a:solidFill>
          <a:ln w="12700">
            <a:solidFill>
              <a:srgbClr val="DAE3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46920" y="621792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Sampling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921240" y="6949440"/>
            <a:ext cx="6675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Purposive non-probability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sampling technique.</a:t>
            </a:r>
            <a:endParaRPr lang="en-US" sz="2500" dirty="0"/>
          </a:p>
        </p:txBody>
      </p:sp>
      <p:sp>
        <p:nvSpPr>
          <p:cNvPr id="16" name="ring 01"/>
          <p:cNvSpPr/>
          <p:nvPr/>
        </p:nvSpPr>
        <p:spPr>
          <a:xfrm>
            <a:off x="7936992" y="4690872"/>
            <a:ext cx="1097280" cy="10972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09BD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36992" y="469087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ring 02"/>
          <p:cNvSpPr/>
          <p:nvPr/>
        </p:nvSpPr>
        <p:spPr>
          <a:xfrm>
            <a:off x="9253728" y="4690872"/>
            <a:ext cx="1097280" cy="10972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B3857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53728" y="469087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3000" dirty="0"/>
          </a:p>
        </p:txBody>
      </p:sp>
      <p:sp>
        <p:nvSpPr>
          <p:cNvPr id="20" name="ring 03"/>
          <p:cNvSpPr/>
          <p:nvPr/>
        </p:nvSpPr>
        <p:spPr>
          <a:xfrm>
            <a:off x="7936992" y="5559552"/>
            <a:ext cx="1097280" cy="10972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FFBD8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36992" y="555955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ring 04"/>
          <p:cNvSpPr/>
          <p:nvPr/>
        </p:nvSpPr>
        <p:spPr>
          <a:xfrm>
            <a:off x="9253728" y="5559552"/>
            <a:ext cx="1097280" cy="10972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9BBB5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53728" y="555955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5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286000"/>
          <a:ext cx="157276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161520"/>
              </a:tblGrid>
              <a:tr h="713232">
                <a:tc row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Inclusion criteria</a:t>
                      </a:r>
                      <a:endParaRPr lang="en-US" sz="3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Nurses who majored in nursing.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Minimum six months of experience in hospitals in the Taif Region.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Provided voluntary informed consent.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 row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3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Exclusion Criteria</a:t>
                      </a:r>
                      <a:endParaRPr lang="en-US" sz="3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Student nurses and interns.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Administrative staff.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Nurses on long-term leave or who refused consent.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280160" y="6949440"/>
            <a:ext cx="15727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Ø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 distribution: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main study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pilot study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(10%) =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330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nurses recruited; pilot participants were analyzed separately.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Measurement Instruments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194560"/>
            <a:ext cx="11521440" cy="7498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structured self-report questionnaire was used. It had two parts:</a:t>
            </a:r>
            <a:endParaRPr lang="en-US" sz="2400" dirty="0"/>
          </a:p>
          <a:p>
            <a:pPr algn="l"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I: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demographic sheet (age, gender, marital status, educational level, years of experience, practice area).</a:t>
            </a:r>
            <a:endParaRPr lang="en-US" sz="2400" dirty="0"/>
          </a:p>
          <a:p>
            <a:pPr algn="l"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II: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43-item questionnaire on nurses’ disaster knowledge, attitudes and practices (Vishba &amp; Shaheen, 2025):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knowledge,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perception and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practice items.</a:t>
            </a:r>
            <a:endParaRPr lang="en-US" sz="2400" dirty="0"/>
          </a:p>
          <a:p>
            <a:pPr algn="l"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5-point Likert scale from 1 (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strongly disagree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to 5 (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strongly agree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).</a:t>
            </a:r>
            <a:endParaRPr lang="en-US" sz="2400" dirty="0"/>
          </a:p>
          <a:p>
            <a:pPr algn="l"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Written permission obtained from the corresponding author (October 15, 2025).</a:t>
            </a:r>
            <a:endParaRPr lang="en-US" sz="2400" dirty="0"/>
          </a:p>
        </p:txBody>
      </p:sp>
      <p:sp>
        <p:nvSpPr>
          <p:cNvPr id="4" name="items Knowledge"/>
          <p:cNvSpPr/>
          <p:nvPr/>
        </p:nvSpPr>
        <p:spPr>
          <a:xfrm>
            <a:off x="13350240" y="2377440"/>
            <a:ext cx="2011680" cy="201168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350240" y="23774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5499080" y="237744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Knowledge items</a:t>
            </a:r>
            <a:endParaRPr lang="en-US" sz="2400" dirty="0"/>
          </a:p>
        </p:txBody>
      </p:sp>
      <p:sp>
        <p:nvSpPr>
          <p:cNvPr id="7" name="items Perception"/>
          <p:cNvSpPr/>
          <p:nvPr/>
        </p:nvSpPr>
        <p:spPr>
          <a:xfrm>
            <a:off x="13350240" y="4754880"/>
            <a:ext cx="2011680" cy="201168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350240" y="47548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15499080" y="475488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Perception items</a:t>
            </a:r>
            <a:endParaRPr lang="en-US" sz="2400" dirty="0"/>
          </a:p>
        </p:txBody>
      </p:sp>
      <p:sp>
        <p:nvSpPr>
          <p:cNvPr id="10" name="items Practice"/>
          <p:cNvSpPr/>
          <p:nvPr/>
        </p:nvSpPr>
        <p:spPr>
          <a:xfrm>
            <a:off x="13350240" y="7132320"/>
            <a:ext cx="2011680" cy="201168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350240" y="71323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15499080" y="713232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 items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 0"/>
          <p:cNvSpPr/>
          <p:nvPr/>
        </p:nvSpPr>
        <p:spPr>
          <a:xfrm>
            <a:off x="45720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bar 1"/>
          <p:cNvSpPr/>
          <p:nvPr/>
        </p:nvSpPr>
        <p:spPr>
          <a:xfrm>
            <a:off x="438912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bar 2"/>
          <p:cNvSpPr/>
          <p:nvPr/>
        </p:nvSpPr>
        <p:spPr>
          <a:xfrm>
            <a:off x="832104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gold line"/>
          <p:cNvSpPr/>
          <p:nvPr/>
        </p:nvSpPr>
        <p:spPr>
          <a:xfrm>
            <a:off x="1216152" y="9692640"/>
            <a:ext cx="15855696" cy="0"/>
          </a:xfrm>
          <a:prstGeom prst="line">
            <a:avLst/>
          </a:prstGeom>
          <a:noFill/>
          <a:ln w="31750">
            <a:solidFill>
              <a:srgbClr val="FFC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Pilot Study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94560"/>
            <a:ext cx="7680960" cy="731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35000"/>
              </a:lnSpc>
              <a:spcAft>
                <a:spcPts val="800"/>
              </a:spcAft>
              <a:buSzPct val="100000"/>
              <a:buFont typeface="Wingdings" pitchFamily="2" charset="2"/>
              <a:buChar char="v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 nurses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meeting the same criteria were excluded from the main sample.</a:t>
            </a:r>
            <a:endParaRPr lang="en-US" sz="2400" dirty="0"/>
          </a:p>
          <a:p>
            <a:pPr algn="l" marL="342900" indent="-342900">
              <a:lnSpc>
                <a:spcPct val="135000"/>
              </a:lnSpc>
              <a:spcAft>
                <a:spcPts val="800"/>
              </a:spcAft>
              <a:buSzPct val="100000"/>
              <a:buFont typeface="Wingdings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rated clarity, relevance, ease of understanding, completion time and applicability (1 = poor, 5 = excellent).</a:t>
            </a:r>
            <a:endParaRPr lang="en-US" sz="2400" dirty="0"/>
          </a:p>
          <a:p>
            <a:pPr algn="l" marL="342900" indent="-342900">
              <a:lnSpc>
                <a:spcPct val="135000"/>
              </a:lnSpc>
              <a:spcAft>
                <a:spcPts val="800"/>
              </a:spcAft>
              <a:buSzPct val="100000"/>
              <a:buFont typeface="Wingdings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ratings: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4.00 to 4.40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supporting face validity and acceptability.</a:t>
            </a:r>
            <a:endParaRPr lang="en-US" sz="2400" dirty="0"/>
          </a:p>
          <a:p>
            <a:pPr algn="l" marL="342900" indent="-342900">
              <a:lnSpc>
                <a:spcPct val="135000"/>
              </a:lnSpc>
              <a:spcAft>
                <a:spcPts val="800"/>
              </a:spcAft>
              <a:buSzPct val="100000"/>
              <a:buFont typeface="Wingdings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 wording and formatting changes were made.</a:t>
            </a:r>
            <a:endParaRPr lang="en-US" sz="2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235440" y="2194560"/>
          <a:ext cx="8046720" cy="7223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Collection Procedure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2377440"/>
            <a:ext cx="13350240" cy="7132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spcAft>
                <a:spcPts val="1000"/>
              </a:spcAft>
              <a:buSzPct val="100000"/>
              <a:buFont typeface="Wingdings" pitchFamily="2" charset="2"/>
              <a:buChar char="Ø"/>
            </a:pP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were gathered after receiving </a:t>
            </a: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IRB approval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the consent of the participating hospitals.</a:t>
            </a:r>
            <a:endParaRPr lang="en-US" sz="2700" dirty="0"/>
          </a:p>
          <a:p>
            <a:pPr algn="l" marL="342900" indent="-342900">
              <a:lnSpc>
                <a:spcPct val="150000"/>
              </a:lnSpc>
              <a:spcAft>
                <a:spcPts val="1000"/>
              </a:spcAft>
              <a:buSzPct val="100000"/>
              <a:buFont typeface="Wingdings" pitchFamily="2" charset="2"/>
              <a:buChar char="Ø"/>
            </a:pP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Participants received </a:t>
            </a: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informed-consent forms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outlining the aims, procedures, risks and benefits.</a:t>
            </a:r>
            <a:endParaRPr lang="en-US" sz="2700" dirty="0"/>
          </a:p>
          <a:p>
            <a:pPr algn="l" marL="342900" indent="-342900">
              <a:lnSpc>
                <a:spcPct val="150000"/>
              </a:lnSpc>
              <a:spcAft>
                <a:spcPts val="1000"/>
              </a:spcAft>
              <a:buSzPct val="100000"/>
              <a:buFont typeface="Wingdings" pitchFamily="2" charset="2"/>
              <a:buChar char="Ø"/>
            </a:pP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questionnaire was completed </a:t>
            </a: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person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during a scheduled shift or via a </a:t>
            </a: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online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link.</a:t>
            </a:r>
            <a:endParaRPr lang="en-US" sz="2700" dirty="0"/>
          </a:p>
          <a:p>
            <a:pPr algn="l" marL="342900" indent="-342900">
              <a:lnSpc>
                <a:spcPct val="150000"/>
              </a:lnSpc>
              <a:spcAft>
                <a:spcPts val="1000"/>
              </a:spcAft>
              <a:buSzPct val="100000"/>
              <a:buFont typeface="Wingdings" pitchFamily="2" charset="2"/>
              <a:buChar char="Ø"/>
            </a:pP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 questionnaires were collected </a:t>
            </a: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confidentially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kept locked in a secure place.</a:t>
            </a:r>
            <a:endParaRPr lang="en-US" sz="2700" dirty="0"/>
          </a:p>
        </p:txBody>
      </p:sp>
      <p:sp>
        <p:nvSpPr>
          <p:cNvPr id="4" name="deco circle"/>
          <p:cNvSpPr/>
          <p:nvPr/>
        </p:nvSpPr>
        <p:spPr>
          <a:xfrm>
            <a:off x="15361920" y="6309360"/>
            <a:ext cx="2194560" cy="2194560"/>
          </a:xfrm>
          <a:prstGeom prst="ellipse">
            <a:avLst/>
          </a:prstGeom>
          <a:solidFill>
            <a:srgbClr val="D5DBEA"/>
          </a:solidFill>
          <a:ln w="12700">
            <a:solidFill>
              <a:srgbClr val="D5DBEA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0" y="868680"/>
            <a:ext cx="896112" cy="1005840"/>
          </a:xfrm>
          <a:prstGeom prst="rect">
            <a:avLst/>
          </a:prstGeom>
          <a:solidFill>
            <a:srgbClr val="1A3760"/>
          </a:solidFill>
          <a:ln w="12700">
            <a:solidFill>
              <a:srgbClr val="1A3760"/>
            </a:solidFill>
            <a:prstDash val="solid"/>
          </a:ln>
        </p:spPr>
      </p:sp>
      <p:pic>
        <p:nvPicPr>
          <p:cNvPr id="3" name="Image 0" descr="/tmp/claude-0/-home-user-CIPC/1ef487fd-4d6c-5dcb-aba6-fa5466b3c339/scratchpad/build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01200"/>
            <a:ext cx="1828800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Ethical Considerations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2194560"/>
            <a:ext cx="12435840" cy="731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Font typeface="Wingdings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Approved by the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Institutional Review Board (IRB)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; informed consent obtained from all participants.</a:t>
            </a:r>
            <a:endParaRPr lang="en-US" sz="2400" dirty="0"/>
          </a:p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Beneficence: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research designed to benefit participants and disaster preparedness.</a:t>
            </a:r>
            <a:endParaRPr lang="en-US" sz="2400" dirty="0"/>
          </a:p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Justice: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fair and equitable treatment, free of exploitation and bias.</a:t>
            </a:r>
            <a:endParaRPr lang="en-US" sz="2400" dirty="0"/>
          </a:p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Respect for Human Dignity: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participants’ free will and rights preserved.</a:t>
            </a:r>
            <a:endParaRPr lang="en-US" sz="2400" dirty="0"/>
          </a:p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Confidentiality: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data de-identified and stored in password-protected files.</a:t>
            </a:r>
            <a:endParaRPr lang="en-US" sz="2400" dirty="0"/>
          </a:p>
          <a:p>
            <a:pPr algn="l" marL="342900" indent="-342900">
              <a:lnSpc>
                <a:spcPct val="140000"/>
              </a:lnSpc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Freedom to Withdraw: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at any time, without penalty.</a:t>
            </a:r>
            <a:endParaRPr lang="en-US" sz="2400" dirty="0"/>
          </a:p>
        </p:txBody>
      </p:sp>
      <p:pic>
        <p:nvPicPr>
          <p:cNvPr id="6" name="Image 1" descr="/tmp/claude-0/-home-user-CIPC/1ef487fd-4d6c-5dcb-aba6-fa5466b3c339/scratchpad/build/asset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0" y="365760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Analysis</a:t>
            </a:r>
            <a:endParaRPr lang="en-US" sz="5400" dirty="0"/>
          </a:p>
        </p:txBody>
      </p:sp>
      <p:sp>
        <p:nvSpPr>
          <p:cNvPr id="3" name="rule"/>
          <p:cNvSpPr/>
          <p:nvPr/>
        </p:nvSpPr>
        <p:spPr>
          <a:xfrm>
            <a:off x="1280160" y="2240280"/>
            <a:ext cx="15727680" cy="0"/>
          </a:xfrm>
          <a:prstGeom prst="line">
            <a:avLst/>
          </a:prstGeom>
          <a:noFill/>
          <a:ln w="19050">
            <a:solidFill>
              <a:srgbClr val="D5D5D5"/>
            </a:solidFill>
            <a:prstDash val="solid"/>
          </a:ln>
        </p:spPr>
      </p:sp>
      <p:sp>
        <p:nvSpPr>
          <p:cNvPr id="4" name="rule bar"/>
          <p:cNvSpPr/>
          <p:nvPr/>
        </p:nvSpPr>
        <p:spPr>
          <a:xfrm>
            <a:off x="1280160" y="2130552"/>
            <a:ext cx="2743200" cy="219456"/>
          </a:xfrm>
          <a:prstGeom prst="rect">
            <a:avLst/>
          </a:prstGeom>
          <a:solidFill>
            <a:srgbClr val="1A3760"/>
          </a:solidFill>
          <a:ln w="12700">
            <a:solidFill>
              <a:srgbClr val="1A37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2560320"/>
            <a:ext cx="15727680" cy="6949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35000"/>
              </a:lnSpc>
              <a:spcAft>
                <a:spcPts val="400"/>
              </a:spcAft>
              <a:buSzPct val="100000"/>
              <a:buFont typeface="Wingdings" pitchFamily="2" charset="2"/>
              <a:buChar char="Ø"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were analyzed using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IBM SPSS Statistics, version 28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2500" dirty="0"/>
          </a:p>
          <a:p>
            <a:pPr algn="l" marL="342900" indent="-342900">
              <a:lnSpc>
                <a:spcPct val="135000"/>
              </a:lnSpc>
              <a:spcAft>
                <a:spcPts val="400"/>
              </a:spcAft>
              <a:buSzPct val="100000"/>
              <a:buFont typeface="Wingdings" pitchFamily="2" charset="2"/>
              <a:buChar char="Ø"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Descriptive: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frequencies, percentages, means, SD, ranges, skewness and kurtosis.</a:t>
            </a:r>
            <a:endParaRPr lang="en-US" sz="2500" dirty="0"/>
          </a:p>
          <a:p>
            <a:pPr algn="l" marL="342900" indent="-342900">
              <a:lnSpc>
                <a:spcPct val="135000"/>
              </a:lnSpc>
              <a:spcAft>
                <a:spcPts val="400"/>
              </a:spcAft>
              <a:buSzPct val="100000"/>
              <a:buFont typeface="Wingdings" pitchFamily="2" charset="2"/>
              <a:buChar char="Ø"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Reliability: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Cronbach’s alpha for each domain.</a:t>
            </a:r>
            <a:endParaRPr lang="en-US" sz="2500" dirty="0"/>
          </a:p>
          <a:p>
            <a:pPr algn="l" marL="342900" indent="-342900">
              <a:lnSpc>
                <a:spcPct val="135000"/>
              </a:lnSpc>
              <a:spcAft>
                <a:spcPts val="400"/>
              </a:spcAft>
              <a:buSzPct val="100000"/>
              <a:buFont typeface="Wingdings" pitchFamily="2" charset="2"/>
              <a:buChar char="Ø"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Correlation: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Pearson correlations among the three domains.</a:t>
            </a:r>
            <a:endParaRPr lang="en-US" sz="2500" dirty="0"/>
          </a:p>
          <a:p>
            <a:pPr algn="l" marL="342900" indent="-342900">
              <a:lnSpc>
                <a:spcPct val="135000"/>
              </a:lnSpc>
              <a:spcAft>
                <a:spcPts val="400"/>
              </a:spcAft>
              <a:buSzPct val="100000"/>
              <a:buFont typeface="Wingdings" pitchFamily="2" charset="2"/>
              <a:buChar char="Ø"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Regression: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simple linear regression of self-perceived knowledge on perceptions and practice.</a:t>
            </a:r>
            <a:endParaRPr lang="en-US" sz="2500" dirty="0"/>
          </a:p>
          <a:p>
            <a:pPr algn="l" marL="342900" indent="-342900">
              <a:lnSpc>
                <a:spcPct val="135000"/>
              </a:lnSpc>
              <a:spcAft>
                <a:spcPts val="400"/>
              </a:spcAft>
              <a:buSzPct val="100000"/>
              <a:buFont typeface="Wingdings" pitchFamily="2" charset="2"/>
              <a:buChar char="Ø"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comparisons: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independent-samples t tests (gender); one-way ANOVA with Tukey post hoc tests (educational level); effect sizes reported (APA 7).</a:t>
            </a:r>
            <a:endParaRPr lang="en-US" sz="2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 0"/>
          <p:cNvSpPr/>
          <p:nvPr/>
        </p:nvSpPr>
        <p:spPr>
          <a:xfrm>
            <a:off x="45720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bar 1"/>
          <p:cNvSpPr/>
          <p:nvPr/>
        </p:nvSpPr>
        <p:spPr>
          <a:xfrm>
            <a:off x="438912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bar 2"/>
          <p:cNvSpPr/>
          <p:nvPr/>
        </p:nvSpPr>
        <p:spPr>
          <a:xfrm>
            <a:off x="832104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gold line"/>
          <p:cNvSpPr/>
          <p:nvPr/>
        </p:nvSpPr>
        <p:spPr>
          <a:xfrm>
            <a:off x="1216152" y="9692640"/>
            <a:ext cx="15855696" cy="0"/>
          </a:xfrm>
          <a:prstGeom prst="line">
            <a:avLst/>
          </a:prstGeom>
          <a:noFill/>
          <a:ln w="31750">
            <a:solidFill>
              <a:srgbClr val="FFC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 Characteristics</a:t>
            </a:r>
            <a:endParaRPr lang="en-US" sz="5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194560"/>
          <a:ext cx="67665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Characteristic</a:t>
                      </a:r>
                      <a:endParaRPr lang="en-US" sz="2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Distribution</a:t>
                      </a:r>
                      <a:endParaRPr lang="en-US" sz="2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01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Female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61.7%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Male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38.3%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Age 20–30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24.0%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Age 31–40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23.0%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Age 41–50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25.7%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Age 51+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27.3%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Married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61.3%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Diploma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9.7%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BSN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85.0%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MSN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5.3%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412480" y="2103120"/>
            <a:ext cx="8961120" cy="7406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Gender:</a:t>
            </a:r>
            <a:endParaRPr lang="en-US" sz="2300" dirty="0"/>
          </a:p>
          <a:p>
            <a:pPr algn="l"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Female nurses predominate (185; 61.7%).</a:t>
            </a:r>
            <a:endParaRPr lang="en-US" sz="2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Age:</a:t>
            </a:r>
            <a:endParaRPr lang="en-US" sz="2300" dirty="0"/>
          </a:p>
          <a:p>
            <a:pPr algn="l"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Evenly distributed; largest group 51+ years (27.3%).</a:t>
            </a:r>
            <a:endParaRPr lang="en-US" sz="2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Education:</a:t>
            </a:r>
            <a:endParaRPr lang="en-US" sz="2300" dirty="0"/>
          </a:p>
          <a:p>
            <a:pPr algn="l"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85.0% hold a BSN; 9.7% diploma; 5.3% MSN.</a:t>
            </a:r>
            <a:endParaRPr lang="en-US" sz="2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Experience:</a:t>
            </a:r>
            <a:endParaRPr lang="en-US" sz="2300" dirty="0"/>
          </a:p>
          <a:p>
            <a:pPr algn="l"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had 1–5 years (32.7%); 23.3% had &gt;15 years.</a:t>
            </a:r>
            <a:endParaRPr lang="en-US" sz="2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 area:</a:t>
            </a:r>
            <a:endParaRPr lang="en-US" sz="2300" dirty="0"/>
          </a:p>
          <a:p>
            <a:pPr algn="l"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Mainly pediatrics (34.0%) and ICU (23.3%).</a:t>
            </a:r>
            <a:endParaRPr lang="en-US" sz="2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0" y="914400"/>
            <a:ext cx="530352" cy="1005840"/>
          </a:xfrm>
          <a:prstGeom prst="rect">
            <a:avLst/>
          </a:prstGeom>
          <a:solidFill>
            <a:srgbClr val="EEECE1"/>
          </a:solidFill>
          <a:ln w="12700">
            <a:solidFill>
              <a:srgbClr val="EEECE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Psychometric Properties</a:t>
            </a:r>
            <a:endParaRPr lang="en-US" sz="5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286000"/>
          <a:ext cx="160934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188720"/>
                <a:gridCol w="1188720"/>
                <a:gridCol w="1463040"/>
                <a:gridCol w="1280160"/>
                <a:gridCol w="1828800"/>
                <a:gridCol w="2011680"/>
                <a:gridCol w="1463040"/>
                <a:gridCol w="146304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Variable</a:t>
                      </a:r>
                      <a:endParaRPr lang="en-US" sz="2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Items</a:t>
                      </a:r>
                      <a:endParaRPr lang="en-US" sz="2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α</a:t>
                      </a:r>
                      <a:endParaRPr lang="en-US" sz="2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</a:t>
                      </a:r>
                      <a:endParaRPr lang="en-US" sz="2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SD</a:t>
                      </a:r>
                      <a:endParaRPr lang="en-US" sz="2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 Range</a:t>
                      </a:r>
                      <a:endParaRPr lang="en-US" sz="2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Potential Range</a:t>
                      </a:r>
                      <a:endParaRPr lang="en-US" sz="2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Skewness</a:t>
                      </a:r>
                      <a:endParaRPr lang="en-US" sz="2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Kurtosis</a:t>
                      </a:r>
                      <a:endParaRPr lang="en-US" sz="2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01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Self-Perceived Knowledge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.91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61.64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4.64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47–73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15–75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−0.51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0.23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Perception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.88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57.69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4.45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43–68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14–70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−0.55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0.30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Self-Reported Practice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.73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57.25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5.37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31–68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14–70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−1.16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3.20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d Reliability:"/>
          <p:cNvSpPr/>
          <p:nvPr/>
        </p:nvSpPr>
        <p:spPr>
          <a:xfrm>
            <a:off x="4297680" y="6144768"/>
            <a:ext cx="12893040" cy="1243584"/>
          </a:xfrm>
          <a:prstGeom prst="roundRect">
            <a:avLst>
              <a:gd name="adj" fmla="val 11029"/>
            </a:avLst>
          </a:prstGeom>
          <a:solidFill>
            <a:srgbClr val="D6DDEA"/>
          </a:solidFill>
          <a:ln w="12700">
            <a:solidFill>
              <a:srgbClr val="D6DDEA"/>
            </a:solidFill>
            <a:prstDash val="solid"/>
          </a:ln>
        </p:spPr>
      </p:sp>
      <p:sp>
        <p:nvSpPr>
          <p:cNvPr id="6" name="label Reliability:"/>
          <p:cNvSpPr/>
          <p:nvPr/>
        </p:nvSpPr>
        <p:spPr>
          <a:xfrm>
            <a:off x="1097280" y="6035040"/>
            <a:ext cx="3474720" cy="1463040"/>
          </a:xfrm>
          <a:prstGeom prst="roundRect">
            <a:avLst>
              <a:gd name="adj" fmla="val 12500"/>
            </a:avLst>
          </a:prstGeom>
          <a:solidFill>
            <a:srgbClr val="4F81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6035040"/>
            <a:ext cx="347472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Reliability: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6144768"/>
            <a:ext cx="12298680" cy="12435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Satisfactory internal consistency: α =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.73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(practice) to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.91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(knowledge).</a:t>
            </a:r>
            <a:endParaRPr lang="en-US" sz="2400" dirty="0"/>
          </a:p>
        </p:txBody>
      </p:sp>
      <p:sp>
        <p:nvSpPr>
          <p:cNvPr id="9" name="card Distribution:"/>
          <p:cNvSpPr/>
          <p:nvPr/>
        </p:nvSpPr>
        <p:spPr>
          <a:xfrm>
            <a:off x="4297680" y="7790688"/>
            <a:ext cx="12893040" cy="1243584"/>
          </a:xfrm>
          <a:prstGeom prst="roundRect">
            <a:avLst>
              <a:gd name="adj" fmla="val 11029"/>
            </a:avLst>
          </a:prstGeom>
          <a:solidFill>
            <a:srgbClr val="D6DDEA"/>
          </a:solidFill>
          <a:ln w="12700">
            <a:solidFill>
              <a:srgbClr val="D6DDEA"/>
            </a:solidFill>
            <a:prstDash val="solid"/>
          </a:ln>
        </p:spPr>
      </p:sp>
      <p:sp>
        <p:nvSpPr>
          <p:cNvPr id="10" name="label Distribution:"/>
          <p:cNvSpPr/>
          <p:nvPr/>
        </p:nvSpPr>
        <p:spPr>
          <a:xfrm>
            <a:off x="1097280" y="7680960"/>
            <a:ext cx="3474720" cy="1463040"/>
          </a:xfrm>
          <a:prstGeom prst="roundRect">
            <a:avLst>
              <a:gd name="adj" fmla="val 12500"/>
            </a:avLst>
          </a:prstGeom>
          <a:solidFill>
            <a:srgbClr val="4F81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" y="7680960"/>
            <a:ext cx="347472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Distribution: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7790688"/>
            <a:ext cx="12298680" cy="12435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Negative skewness in all scales: responses concentrated at the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end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Self-Perceived Knowledge</a:t>
            </a:r>
            <a:endParaRPr lang="en-US" sz="5400" dirty="0"/>
          </a:p>
        </p:txBody>
      </p:sp>
      <p:pic>
        <p:nvPicPr>
          <p:cNvPr id="3" name="Image 0" descr="/tmp/claude-0/-home-user-CIPC/1ef487fd-4d6c-5dcb-aba6-fa5466b3c339/scratchpad/build/assets/orange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11680"/>
            <a:ext cx="16093440" cy="91440"/>
          </a:xfrm>
          <a:prstGeom prst="rect">
            <a:avLst/>
          </a:prstGeom>
        </p:spPr>
      </p:pic>
      <p:sp>
        <p:nvSpPr>
          <p:cNvPr id="4" name="card Overall:"/>
          <p:cNvSpPr/>
          <p:nvPr/>
        </p:nvSpPr>
        <p:spPr>
          <a:xfrm>
            <a:off x="3108960" y="2487168"/>
            <a:ext cx="4480560" cy="1883664"/>
          </a:xfrm>
          <a:prstGeom prst="roundRect">
            <a:avLst>
              <a:gd name="adj" fmla="val 7282"/>
            </a:avLst>
          </a:prstGeom>
          <a:solidFill>
            <a:srgbClr val="D6DDEA"/>
          </a:solidFill>
          <a:ln w="12700">
            <a:solidFill>
              <a:srgbClr val="D6DDEA"/>
            </a:solidFill>
            <a:prstDash val="solid"/>
          </a:ln>
        </p:spPr>
      </p:sp>
      <p:sp>
        <p:nvSpPr>
          <p:cNvPr id="5" name="label Overall:"/>
          <p:cNvSpPr/>
          <p:nvPr/>
        </p:nvSpPr>
        <p:spPr>
          <a:xfrm>
            <a:off x="914400" y="2377440"/>
            <a:ext cx="2468880" cy="2103120"/>
          </a:xfrm>
          <a:prstGeom prst="roundRect">
            <a:avLst>
              <a:gd name="adj" fmla="val 8696"/>
            </a:avLst>
          </a:prstGeom>
          <a:solidFill>
            <a:srgbClr val="4F81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377440"/>
            <a:ext cx="2468880" cy="21031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Overall: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2487168"/>
            <a:ext cx="3886200" cy="18836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 = 61.64 (SD = 4.64)</a:t>
            </a: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high level</a:t>
            </a:r>
            <a:endParaRPr lang="en-US" sz="2200" dirty="0"/>
          </a:p>
        </p:txBody>
      </p:sp>
      <p:sp>
        <p:nvSpPr>
          <p:cNvPr id="8" name="card Highest:"/>
          <p:cNvSpPr/>
          <p:nvPr/>
        </p:nvSpPr>
        <p:spPr>
          <a:xfrm>
            <a:off x="3108960" y="4773168"/>
            <a:ext cx="4480560" cy="2066544"/>
          </a:xfrm>
          <a:prstGeom prst="roundRect">
            <a:avLst>
              <a:gd name="adj" fmla="val 6637"/>
            </a:avLst>
          </a:prstGeom>
          <a:solidFill>
            <a:srgbClr val="D6DDEA"/>
          </a:solidFill>
          <a:ln w="12700">
            <a:solidFill>
              <a:srgbClr val="D6DDEA"/>
            </a:solidFill>
            <a:prstDash val="solid"/>
          </a:ln>
        </p:spPr>
      </p:sp>
      <p:sp>
        <p:nvSpPr>
          <p:cNvPr id="9" name="label Highest:"/>
          <p:cNvSpPr/>
          <p:nvPr/>
        </p:nvSpPr>
        <p:spPr>
          <a:xfrm>
            <a:off x="914400" y="4663440"/>
            <a:ext cx="2468880" cy="2286000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4663440"/>
            <a:ext cx="2468880" cy="2286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Highest: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4773168"/>
            <a:ext cx="3886200" cy="20665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Disaster management, hospital plans, drills, triage role and coordination (</a:t>
            </a: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4.19</a:t>
            </a: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).</a:t>
            </a:r>
            <a:endParaRPr lang="en-US" sz="2100" dirty="0"/>
          </a:p>
        </p:txBody>
      </p:sp>
      <p:sp>
        <p:nvSpPr>
          <p:cNvPr id="12" name="card Lowest:"/>
          <p:cNvSpPr/>
          <p:nvPr/>
        </p:nvSpPr>
        <p:spPr>
          <a:xfrm>
            <a:off x="3108960" y="7242048"/>
            <a:ext cx="4480560" cy="2066544"/>
          </a:xfrm>
          <a:prstGeom prst="roundRect">
            <a:avLst>
              <a:gd name="adj" fmla="val 6637"/>
            </a:avLst>
          </a:prstGeom>
          <a:solidFill>
            <a:srgbClr val="D6DDEA"/>
          </a:solidFill>
          <a:ln w="12700">
            <a:solidFill>
              <a:srgbClr val="D6DDEA"/>
            </a:solidFill>
            <a:prstDash val="solid"/>
          </a:ln>
        </p:spPr>
      </p:sp>
      <p:sp>
        <p:nvSpPr>
          <p:cNvPr id="13" name="label Lowest:"/>
          <p:cNvSpPr/>
          <p:nvPr/>
        </p:nvSpPr>
        <p:spPr>
          <a:xfrm>
            <a:off x="914400" y="7132320"/>
            <a:ext cx="2468880" cy="2286000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7132320"/>
            <a:ext cx="2468880" cy="2286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Lowest: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7242048"/>
            <a:ext cx="3886200" cy="20665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components, nurses’ roles, triage principles, </a:t>
            </a: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communication channels</a:t>
            </a: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emergency exits (</a:t>
            </a: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4.00</a:t>
            </a: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).</a:t>
            </a:r>
            <a:endParaRPr lang="en-US" sz="2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863840" y="2286000"/>
          <a:ext cx="9509760" cy="7223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Perceptions</a:t>
            </a:r>
            <a:endParaRPr lang="en-US" sz="5400" dirty="0"/>
          </a:p>
        </p:txBody>
      </p:sp>
      <p:pic>
        <p:nvPicPr>
          <p:cNvPr id="3" name="Image 0" descr="/tmp/claude-0/-home-user-CIPC/1ef487fd-4d6c-5dcb-aba6-fa5466b3c339/scratchpad/build/assets/orange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11680"/>
            <a:ext cx="16093440" cy="91440"/>
          </a:xfrm>
          <a:prstGeom prst="rect">
            <a:avLst/>
          </a:prstGeom>
        </p:spPr>
      </p:pic>
      <p:sp>
        <p:nvSpPr>
          <p:cNvPr id="4" name="card Overall:"/>
          <p:cNvSpPr/>
          <p:nvPr/>
        </p:nvSpPr>
        <p:spPr>
          <a:xfrm>
            <a:off x="3108960" y="2487168"/>
            <a:ext cx="4480560" cy="1883664"/>
          </a:xfrm>
          <a:prstGeom prst="roundRect">
            <a:avLst>
              <a:gd name="adj" fmla="val 7282"/>
            </a:avLst>
          </a:prstGeom>
          <a:solidFill>
            <a:srgbClr val="D6DDEA"/>
          </a:solidFill>
          <a:ln w="12700">
            <a:solidFill>
              <a:srgbClr val="D6DDEA"/>
            </a:solidFill>
            <a:prstDash val="solid"/>
          </a:ln>
        </p:spPr>
      </p:sp>
      <p:sp>
        <p:nvSpPr>
          <p:cNvPr id="5" name="label Overall:"/>
          <p:cNvSpPr/>
          <p:nvPr/>
        </p:nvSpPr>
        <p:spPr>
          <a:xfrm>
            <a:off x="914400" y="2377440"/>
            <a:ext cx="2468880" cy="2103120"/>
          </a:xfrm>
          <a:prstGeom prst="roundRect">
            <a:avLst>
              <a:gd name="adj" fmla="val 8696"/>
            </a:avLst>
          </a:prstGeom>
          <a:solidFill>
            <a:srgbClr val="4F81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377440"/>
            <a:ext cx="2468880" cy="21031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Overall: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2487168"/>
            <a:ext cx="3886200" cy="18836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 = 57.69 (SD = 4.45)</a:t>
            </a: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high level</a:t>
            </a:r>
            <a:endParaRPr lang="en-US" sz="2200" dirty="0"/>
          </a:p>
        </p:txBody>
      </p:sp>
      <p:sp>
        <p:nvSpPr>
          <p:cNvPr id="8" name="card Highest:"/>
          <p:cNvSpPr/>
          <p:nvPr/>
        </p:nvSpPr>
        <p:spPr>
          <a:xfrm>
            <a:off x="3108960" y="4773168"/>
            <a:ext cx="4480560" cy="2066544"/>
          </a:xfrm>
          <a:prstGeom prst="roundRect">
            <a:avLst>
              <a:gd name="adj" fmla="val 6637"/>
            </a:avLst>
          </a:prstGeom>
          <a:solidFill>
            <a:srgbClr val="D6DDEA"/>
          </a:solidFill>
          <a:ln w="12700">
            <a:solidFill>
              <a:srgbClr val="D6DDEA"/>
            </a:solidFill>
            <a:prstDash val="solid"/>
          </a:ln>
        </p:spPr>
      </p:sp>
      <p:sp>
        <p:nvSpPr>
          <p:cNvPr id="9" name="label Highest:"/>
          <p:cNvSpPr/>
          <p:nvPr/>
        </p:nvSpPr>
        <p:spPr>
          <a:xfrm>
            <a:off x="914400" y="4663440"/>
            <a:ext cx="2468880" cy="2286000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4663440"/>
            <a:ext cx="2468880" cy="2286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Highest: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4773168"/>
            <a:ext cx="3886200" cy="20665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Satisfaction with training and staff mental-health support (</a:t>
            </a: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4.21</a:t>
            </a: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).</a:t>
            </a:r>
            <a:endParaRPr lang="en-US" sz="2100" dirty="0"/>
          </a:p>
        </p:txBody>
      </p:sp>
      <p:sp>
        <p:nvSpPr>
          <p:cNvPr id="12" name="card Lowest:"/>
          <p:cNvSpPr/>
          <p:nvPr/>
        </p:nvSpPr>
        <p:spPr>
          <a:xfrm>
            <a:off x="3108960" y="7242048"/>
            <a:ext cx="4480560" cy="2066544"/>
          </a:xfrm>
          <a:prstGeom prst="roundRect">
            <a:avLst>
              <a:gd name="adj" fmla="val 6637"/>
            </a:avLst>
          </a:prstGeom>
          <a:solidFill>
            <a:srgbClr val="D6DDEA"/>
          </a:solidFill>
          <a:ln w="12700">
            <a:solidFill>
              <a:srgbClr val="D6DDEA"/>
            </a:solidFill>
            <a:prstDash val="solid"/>
          </a:ln>
        </p:spPr>
      </p:sp>
      <p:sp>
        <p:nvSpPr>
          <p:cNvPr id="13" name="label Lowest:"/>
          <p:cNvSpPr/>
          <p:nvPr/>
        </p:nvSpPr>
        <p:spPr>
          <a:xfrm>
            <a:off x="914400" y="7132320"/>
            <a:ext cx="2468880" cy="2286000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7132320"/>
            <a:ext cx="2468880" cy="2286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Lowest: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7242048"/>
            <a:ext cx="3886200" cy="20665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 confidence, colleague support, </a:t>
            </a: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patients’ emotional well-being</a:t>
            </a: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</a:t>
            </a: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</a:t>
            </a: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4.01</a:t>
            </a: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).</a:t>
            </a:r>
            <a:endParaRPr lang="en-US" sz="2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863840" y="2286000"/>
          <a:ext cx="9509760" cy="7223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Self-Reported Practice</a:t>
            </a:r>
            <a:endParaRPr lang="en-US" sz="5400" dirty="0"/>
          </a:p>
        </p:txBody>
      </p:sp>
      <p:pic>
        <p:nvPicPr>
          <p:cNvPr id="3" name="Image 0" descr="/tmp/claude-0/-home-user-CIPC/1ef487fd-4d6c-5dcb-aba6-fa5466b3c339/scratchpad/build/assets/orange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11680"/>
            <a:ext cx="16093440" cy="91440"/>
          </a:xfrm>
          <a:prstGeom prst="rect">
            <a:avLst/>
          </a:prstGeom>
        </p:spPr>
      </p:pic>
      <p:sp>
        <p:nvSpPr>
          <p:cNvPr id="4" name="card Overall:"/>
          <p:cNvSpPr/>
          <p:nvPr/>
        </p:nvSpPr>
        <p:spPr>
          <a:xfrm>
            <a:off x="3108960" y="2487168"/>
            <a:ext cx="4480560" cy="1883664"/>
          </a:xfrm>
          <a:prstGeom prst="roundRect">
            <a:avLst>
              <a:gd name="adj" fmla="val 7282"/>
            </a:avLst>
          </a:prstGeom>
          <a:solidFill>
            <a:srgbClr val="D6DDEA"/>
          </a:solidFill>
          <a:ln w="12700">
            <a:solidFill>
              <a:srgbClr val="D6DDEA"/>
            </a:solidFill>
            <a:prstDash val="solid"/>
          </a:ln>
        </p:spPr>
      </p:sp>
      <p:sp>
        <p:nvSpPr>
          <p:cNvPr id="5" name="label Overall:"/>
          <p:cNvSpPr/>
          <p:nvPr/>
        </p:nvSpPr>
        <p:spPr>
          <a:xfrm>
            <a:off x="914400" y="2377440"/>
            <a:ext cx="2468880" cy="2103120"/>
          </a:xfrm>
          <a:prstGeom prst="roundRect">
            <a:avLst>
              <a:gd name="adj" fmla="val 8696"/>
            </a:avLst>
          </a:prstGeom>
          <a:solidFill>
            <a:srgbClr val="4F81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377440"/>
            <a:ext cx="2468880" cy="21031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Overall: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2487168"/>
            <a:ext cx="3886200" cy="18836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 = 57.25 (SD = 5.37)</a:t>
            </a: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high level</a:t>
            </a:r>
            <a:endParaRPr lang="en-US" sz="2200" dirty="0"/>
          </a:p>
        </p:txBody>
      </p:sp>
      <p:sp>
        <p:nvSpPr>
          <p:cNvPr id="8" name="card Highest:"/>
          <p:cNvSpPr/>
          <p:nvPr/>
        </p:nvSpPr>
        <p:spPr>
          <a:xfrm>
            <a:off x="3108960" y="4773168"/>
            <a:ext cx="4480560" cy="2066544"/>
          </a:xfrm>
          <a:prstGeom prst="roundRect">
            <a:avLst>
              <a:gd name="adj" fmla="val 6637"/>
            </a:avLst>
          </a:prstGeom>
          <a:solidFill>
            <a:srgbClr val="D6DDEA"/>
          </a:solidFill>
          <a:ln w="12700">
            <a:solidFill>
              <a:srgbClr val="D6DDEA"/>
            </a:solidFill>
            <a:prstDash val="solid"/>
          </a:ln>
        </p:spPr>
      </p:sp>
      <p:sp>
        <p:nvSpPr>
          <p:cNvPr id="9" name="label Highest:"/>
          <p:cNvSpPr/>
          <p:nvPr/>
        </p:nvSpPr>
        <p:spPr>
          <a:xfrm>
            <a:off x="914400" y="4663440"/>
            <a:ext cx="2468880" cy="2286000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4663440"/>
            <a:ext cx="2468880" cy="2286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Highest: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4773168"/>
            <a:ext cx="3886200" cy="20665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Evacuation procedures and accurate documentation (</a:t>
            </a: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4.21</a:t>
            </a: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).</a:t>
            </a:r>
            <a:endParaRPr lang="en-US" sz="2100" dirty="0"/>
          </a:p>
        </p:txBody>
      </p:sp>
      <p:sp>
        <p:nvSpPr>
          <p:cNvPr id="12" name="card Lowest:"/>
          <p:cNvSpPr/>
          <p:nvPr/>
        </p:nvSpPr>
        <p:spPr>
          <a:xfrm>
            <a:off x="3108960" y="7242048"/>
            <a:ext cx="4480560" cy="2066544"/>
          </a:xfrm>
          <a:prstGeom prst="roundRect">
            <a:avLst>
              <a:gd name="adj" fmla="val 6637"/>
            </a:avLst>
          </a:prstGeom>
          <a:solidFill>
            <a:srgbClr val="D6DDEA"/>
          </a:solidFill>
          <a:ln w="12700">
            <a:solidFill>
              <a:srgbClr val="D6DDEA"/>
            </a:solidFill>
            <a:prstDash val="solid"/>
          </a:ln>
        </p:spPr>
      </p:sp>
      <p:sp>
        <p:nvSpPr>
          <p:cNvPr id="13" name="label Lowest:"/>
          <p:cNvSpPr/>
          <p:nvPr/>
        </p:nvSpPr>
        <p:spPr>
          <a:xfrm>
            <a:off x="914400" y="7132320"/>
            <a:ext cx="2468880" cy="2286000"/>
          </a:xfrm>
          <a:prstGeom prst="roundRect">
            <a:avLst>
              <a:gd name="adj" fmla="val 8000"/>
            </a:avLst>
          </a:prstGeom>
          <a:solidFill>
            <a:srgbClr val="4F81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7132320"/>
            <a:ext cx="2468880" cy="2286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Lowest: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7242048"/>
            <a:ext cx="3886200" cy="20665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Regular drill participation and equipment checks (</a:t>
            </a: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4.00</a:t>
            </a: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); documentation and continuous improvement (</a:t>
            </a: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4.01</a:t>
            </a: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).</a:t>
            </a:r>
            <a:endParaRPr lang="en-US" sz="2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863840" y="2286000"/>
          <a:ext cx="9509760" cy="7223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0" y="914400"/>
            <a:ext cx="530352" cy="1005840"/>
          </a:xfrm>
          <a:prstGeom prst="rect">
            <a:avLst/>
          </a:prstGeom>
          <a:solidFill>
            <a:srgbClr val="EEECE1"/>
          </a:solidFill>
          <a:ln w="12700">
            <a:solidFill>
              <a:srgbClr val="EEECE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Relationships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2011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Pearson correlations among the three domains (N = 300)</a:t>
            </a:r>
            <a:endParaRPr lang="en-US" sz="2400" dirty="0"/>
          </a:p>
        </p:txBody>
      </p:sp>
      <p:sp>
        <p:nvSpPr>
          <p:cNvPr id="5" name="sub underline"/>
          <p:cNvSpPr/>
          <p:nvPr/>
        </p:nvSpPr>
        <p:spPr>
          <a:xfrm>
            <a:off x="1280160" y="2606040"/>
            <a:ext cx="73152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3017520"/>
          <a:ext cx="91440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097280"/>
                <a:gridCol w="1097280"/>
                <a:gridCol w="1097280"/>
                <a:gridCol w="1097280"/>
                <a:gridCol w="109728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Variable</a:t>
                      </a:r>
                      <a:endParaRPr lang="en-US" sz="2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</a:t>
                      </a:r>
                      <a:endParaRPr lang="en-US" sz="2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SD</a:t>
                      </a:r>
                      <a:endParaRPr lang="en-US" sz="2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0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01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 Self-Perceived Knowledge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61.64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4.64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 Perception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57.69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4.45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.52***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 Self-Reported Practice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57.25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5.37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.46***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.58***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2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280160" y="6217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*** p &lt; .001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676656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5000"/>
              </a:lnSpc>
              <a:spcAft>
                <a:spcPts val="200"/>
              </a:spcAft>
              <a:buSzPct val="100000"/>
              <a:buFont typeface="Wingdings" pitchFamily="2" charset="2"/>
              <a:buChar char="Ø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three domains were </a:t>
            </a:r>
            <a:r>
              <a:rPr lang="en-US" sz="2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positively and moderately</a:t>
            </a: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correlated.</a:t>
            </a:r>
            <a:endParaRPr lang="en-US" sz="2300" dirty="0"/>
          </a:p>
          <a:p>
            <a:pPr algn="l" marL="342900" indent="-342900">
              <a:lnSpc>
                <a:spcPct val="125000"/>
              </a:lnSpc>
              <a:spcAft>
                <a:spcPts val="200"/>
              </a:spcAft>
              <a:buSzPct val="100000"/>
              <a:buFont typeface="Wingdings" pitchFamily="2" charset="2"/>
              <a:buChar char="Ø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Strongest: </a:t>
            </a:r>
            <a:r>
              <a:rPr lang="en-US" sz="2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perception–practice</a:t>
            </a: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(r = .58).</a:t>
            </a:r>
            <a:endParaRPr lang="en-US" sz="2300" dirty="0"/>
          </a:p>
          <a:p>
            <a:pPr algn="l" marL="342900" indent="-342900">
              <a:lnSpc>
                <a:spcPct val="125000"/>
              </a:lnSpc>
              <a:spcAft>
                <a:spcPts val="200"/>
              </a:spcAft>
              <a:buSzPct val="100000"/>
              <a:buFont typeface="Wingdings" pitchFamily="2" charset="2"/>
              <a:buChar char="Ø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Correlations indicate </a:t>
            </a:r>
            <a:r>
              <a:rPr lang="en-US" sz="2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association, not causation</a:t>
            </a: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2300" dirty="0"/>
          </a:p>
        </p:txBody>
      </p:sp>
      <p:sp>
        <p:nvSpPr>
          <p:cNvPr id="9" name="r r = .52"/>
          <p:cNvSpPr/>
          <p:nvPr/>
        </p:nvSpPr>
        <p:spPr>
          <a:xfrm flipH="1">
            <a:off x="12298680" y="2857500"/>
            <a:ext cx="1463040" cy="4663440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47120" y="4754880"/>
            <a:ext cx="14630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= .52</a:t>
            </a:r>
            <a:endParaRPr lang="en-US" sz="2600" dirty="0"/>
          </a:p>
        </p:txBody>
      </p:sp>
      <p:sp>
        <p:nvSpPr>
          <p:cNvPr id="11" name="r r = .46"/>
          <p:cNvSpPr/>
          <p:nvPr/>
        </p:nvSpPr>
        <p:spPr>
          <a:xfrm>
            <a:off x="13761720" y="2857500"/>
            <a:ext cx="2468880" cy="4663440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361920" y="4754880"/>
            <a:ext cx="14630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= .46</a:t>
            </a:r>
            <a:endParaRPr lang="en-US" sz="2600" dirty="0"/>
          </a:p>
        </p:txBody>
      </p:sp>
      <p:sp>
        <p:nvSpPr>
          <p:cNvPr id="13" name="r r = .58"/>
          <p:cNvSpPr/>
          <p:nvPr/>
        </p:nvSpPr>
        <p:spPr>
          <a:xfrm>
            <a:off x="12298680" y="7520940"/>
            <a:ext cx="3931920" cy="914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3258800" y="8183880"/>
            <a:ext cx="14630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= .58</a:t>
            </a:r>
            <a:endParaRPr lang="en-US" sz="2600" dirty="0"/>
          </a:p>
        </p:txBody>
      </p:sp>
      <p:sp>
        <p:nvSpPr>
          <p:cNvPr id="15" name="node Self-Perceived Knowledge"/>
          <p:cNvSpPr/>
          <p:nvPr/>
        </p:nvSpPr>
        <p:spPr>
          <a:xfrm>
            <a:off x="12435840" y="2286000"/>
            <a:ext cx="2651760" cy="1143000"/>
          </a:xfrm>
          <a:prstGeom prst="roundRect">
            <a:avLst>
              <a:gd name="adj" fmla="val 24000"/>
            </a:avLst>
          </a:prstGeom>
          <a:solidFill>
            <a:srgbClr val="4472C4"/>
          </a:solidFill>
          <a:ln w="19050">
            <a:solidFill>
              <a:srgbClr val="2F52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435840" y="228600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Self-Perceived Knowledge</a:t>
            </a:r>
            <a:endParaRPr lang="en-US" sz="2100" dirty="0"/>
          </a:p>
        </p:txBody>
      </p:sp>
      <p:sp>
        <p:nvSpPr>
          <p:cNvPr id="17" name="node Perception"/>
          <p:cNvSpPr/>
          <p:nvPr/>
        </p:nvSpPr>
        <p:spPr>
          <a:xfrm>
            <a:off x="10972800" y="6949440"/>
            <a:ext cx="2651760" cy="1143000"/>
          </a:xfrm>
          <a:prstGeom prst="roundRect">
            <a:avLst>
              <a:gd name="adj" fmla="val 24000"/>
            </a:avLst>
          </a:prstGeom>
          <a:solidFill>
            <a:srgbClr val="4472C4"/>
          </a:solidFill>
          <a:ln w="19050">
            <a:solidFill>
              <a:srgbClr val="2F528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972800" y="69494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Perception</a:t>
            </a:r>
            <a:endParaRPr lang="en-US" sz="2100" dirty="0"/>
          </a:p>
        </p:txBody>
      </p:sp>
      <p:sp>
        <p:nvSpPr>
          <p:cNvPr id="19" name="node Self-Reported Practice"/>
          <p:cNvSpPr/>
          <p:nvPr/>
        </p:nvSpPr>
        <p:spPr>
          <a:xfrm>
            <a:off x="14904720" y="6949440"/>
            <a:ext cx="2651760" cy="1143000"/>
          </a:xfrm>
          <a:prstGeom prst="roundRect">
            <a:avLst>
              <a:gd name="adj" fmla="val 24000"/>
            </a:avLst>
          </a:prstGeom>
          <a:solidFill>
            <a:srgbClr val="4472C4"/>
          </a:solidFill>
          <a:ln w="19050">
            <a:solidFill>
              <a:srgbClr val="2F528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4904720" y="69494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Self-Reported Practice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0" y="914400"/>
            <a:ext cx="530352" cy="1005840"/>
          </a:xfrm>
          <a:prstGeom prst="rect">
            <a:avLst/>
          </a:prstGeom>
          <a:solidFill>
            <a:srgbClr val="EEECE1"/>
          </a:solidFill>
          <a:ln w="12700">
            <a:solidFill>
              <a:srgbClr val="EEECE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Knowledge as a Predictor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2011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Simple linear regression (N = 300)</a:t>
            </a:r>
            <a:endParaRPr lang="en-US" sz="2400" dirty="0"/>
          </a:p>
        </p:txBody>
      </p:sp>
      <p:sp>
        <p:nvSpPr>
          <p:cNvPr id="5" name="sub underline"/>
          <p:cNvSpPr/>
          <p:nvPr/>
        </p:nvSpPr>
        <p:spPr>
          <a:xfrm>
            <a:off x="1280160" y="2606040"/>
            <a:ext cx="54864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</p:sp>
      <p:sp>
        <p:nvSpPr>
          <p:cNvPr id="6" name="card Perception:"/>
          <p:cNvSpPr/>
          <p:nvPr/>
        </p:nvSpPr>
        <p:spPr>
          <a:xfrm>
            <a:off x="4389120" y="3127248"/>
            <a:ext cx="12801600" cy="1335024"/>
          </a:xfrm>
          <a:prstGeom prst="roundRect">
            <a:avLst>
              <a:gd name="adj" fmla="val 10274"/>
            </a:avLst>
          </a:prstGeom>
          <a:solidFill>
            <a:srgbClr val="D6DDEA"/>
          </a:solidFill>
          <a:ln w="12700">
            <a:solidFill>
              <a:srgbClr val="D6DDEA"/>
            </a:solidFill>
            <a:prstDash val="solid"/>
          </a:ln>
        </p:spPr>
      </p:sp>
      <p:sp>
        <p:nvSpPr>
          <p:cNvPr id="7" name="label Perception:"/>
          <p:cNvSpPr/>
          <p:nvPr/>
        </p:nvSpPr>
        <p:spPr>
          <a:xfrm>
            <a:off x="1097280" y="3017520"/>
            <a:ext cx="3566160" cy="1554480"/>
          </a:xfrm>
          <a:prstGeom prst="roundRect">
            <a:avLst>
              <a:gd name="adj" fmla="val 11765"/>
            </a:avLst>
          </a:prstGeom>
          <a:solidFill>
            <a:srgbClr val="4F81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3017520"/>
            <a:ext cx="3566160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Perception: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3127248"/>
            <a:ext cx="12207240" cy="13350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Knowledge explained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27.0%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the variance (R² = .270, β = .52), F(1, 298) = 110.45, p &lt; .001.</a:t>
            </a:r>
            <a:endParaRPr lang="en-US" sz="2400" dirty="0"/>
          </a:p>
        </p:txBody>
      </p:sp>
      <p:sp>
        <p:nvSpPr>
          <p:cNvPr id="10" name="card Practice:"/>
          <p:cNvSpPr/>
          <p:nvPr/>
        </p:nvSpPr>
        <p:spPr>
          <a:xfrm>
            <a:off x="4389120" y="4864608"/>
            <a:ext cx="12801600" cy="1335024"/>
          </a:xfrm>
          <a:prstGeom prst="roundRect">
            <a:avLst>
              <a:gd name="adj" fmla="val 10274"/>
            </a:avLst>
          </a:prstGeom>
          <a:solidFill>
            <a:srgbClr val="D6DDEA"/>
          </a:solidFill>
          <a:ln w="12700">
            <a:solidFill>
              <a:srgbClr val="D6DDEA"/>
            </a:solidFill>
            <a:prstDash val="solid"/>
          </a:ln>
        </p:spPr>
      </p:sp>
      <p:sp>
        <p:nvSpPr>
          <p:cNvPr id="11" name="label Practice:"/>
          <p:cNvSpPr/>
          <p:nvPr/>
        </p:nvSpPr>
        <p:spPr>
          <a:xfrm>
            <a:off x="1097280" y="4754880"/>
            <a:ext cx="3566160" cy="1554480"/>
          </a:xfrm>
          <a:prstGeom prst="roundRect">
            <a:avLst>
              <a:gd name="adj" fmla="val 11765"/>
            </a:avLst>
          </a:prstGeom>
          <a:solidFill>
            <a:srgbClr val="4F81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4754880"/>
            <a:ext cx="3566160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Practice: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4864608"/>
            <a:ext cx="12207240" cy="13350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Knowledge explained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21.2%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the variance (R² = .212, β = .46), F(1, 298) = 80.13, p &lt; .001.</a:t>
            </a:r>
            <a:endParaRPr lang="en-US" sz="2400" dirty="0"/>
          </a:p>
        </p:txBody>
      </p:sp>
      <p:sp>
        <p:nvSpPr>
          <p:cNvPr id="14" name="card Meaning:"/>
          <p:cNvSpPr/>
          <p:nvPr/>
        </p:nvSpPr>
        <p:spPr>
          <a:xfrm>
            <a:off x="4389120" y="6601968"/>
            <a:ext cx="12801600" cy="1335024"/>
          </a:xfrm>
          <a:prstGeom prst="roundRect">
            <a:avLst>
              <a:gd name="adj" fmla="val 10274"/>
            </a:avLst>
          </a:prstGeom>
          <a:solidFill>
            <a:srgbClr val="D6DDEA"/>
          </a:solidFill>
          <a:ln w="12700">
            <a:solidFill>
              <a:srgbClr val="D6DDEA"/>
            </a:solidFill>
            <a:prstDash val="solid"/>
          </a:ln>
        </p:spPr>
      </p:sp>
      <p:sp>
        <p:nvSpPr>
          <p:cNvPr id="15" name="label Meaning:"/>
          <p:cNvSpPr/>
          <p:nvPr/>
        </p:nvSpPr>
        <p:spPr>
          <a:xfrm>
            <a:off x="1097280" y="6492240"/>
            <a:ext cx="3566160" cy="1554480"/>
          </a:xfrm>
          <a:prstGeom prst="roundRect">
            <a:avLst>
              <a:gd name="adj" fmla="val 11765"/>
            </a:avLst>
          </a:prstGeom>
          <a:solidFill>
            <a:srgbClr val="4F81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6492240"/>
            <a:ext cx="3566160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Meaning: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6601968"/>
            <a:ext cx="12207240" cy="13350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self-perceived knowledge predicted more positive perceptions and higher reported practice; this is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statistical prediction, not causation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Differences by Gender</a:t>
            </a:r>
            <a:endParaRPr lang="en-US" sz="5400" dirty="0"/>
          </a:p>
        </p:txBody>
      </p:sp>
      <p:sp>
        <p:nvSpPr>
          <p:cNvPr id="3" name="bar 0"/>
          <p:cNvSpPr/>
          <p:nvPr/>
        </p:nvSpPr>
        <p:spPr>
          <a:xfrm>
            <a:off x="45720" y="475488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bar 1"/>
          <p:cNvSpPr/>
          <p:nvPr/>
        </p:nvSpPr>
        <p:spPr>
          <a:xfrm>
            <a:off x="438912" y="475488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bar 2"/>
          <p:cNvSpPr/>
          <p:nvPr/>
        </p:nvSpPr>
        <p:spPr>
          <a:xfrm>
            <a:off x="832104" y="475488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1463040" y="2194560"/>
          <a:ext cx="9509760" cy="7223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1338560" y="2194560"/>
            <a:ext cx="6400800" cy="731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Knowledge:</a:t>
            </a:r>
            <a:endParaRPr lang="en-US" sz="2300" dirty="0"/>
          </a:p>
          <a:p>
            <a:pPr algn="l"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t(298) = 2.33, p = .021, d = 0.27</a:t>
            </a:r>
            <a:endParaRPr lang="en-US" sz="2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Perception:</a:t>
            </a:r>
            <a:endParaRPr lang="en-US" sz="2300" dirty="0"/>
          </a:p>
          <a:p>
            <a:pPr algn="l"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t(298) = 2.42, p = .016, d = 0.28</a:t>
            </a:r>
            <a:endParaRPr lang="en-US" sz="2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Practice:</a:t>
            </a:r>
            <a:endParaRPr lang="en-US" sz="2300" dirty="0"/>
          </a:p>
          <a:p>
            <a:pPr algn="l"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t(298) = 2.89, p = .004, d = 0.33</a:t>
            </a:r>
            <a:endParaRPr lang="en-US" sz="2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Overall:</a:t>
            </a:r>
            <a:endParaRPr lang="en-US" sz="2300" dirty="0"/>
          </a:p>
          <a:p>
            <a:pPr algn="l"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Male nurses scored higher in all three domains; </a:t>
            </a:r>
            <a:r>
              <a:rPr lang="en-US" sz="2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effects</a:t>
            </a: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2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Differences by Education</a:t>
            </a:r>
            <a:endParaRPr lang="en-US" sz="5400" dirty="0"/>
          </a:p>
        </p:txBody>
      </p:sp>
      <p:sp>
        <p:nvSpPr>
          <p:cNvPr id="3" name="bar 0"/>
          <p:cNvSpPr/>
          <p:nvPr/>
        </p:nvSpPr>
        <p:spPr>
          <a:xfrm>
            <a:off x="45720" y="475488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bar 1"/>
          <p:cNvSpPr/>
          <p:nvPr/>
        </p:nvSpPr>
        <p:spPr>
          <a:xfrm>
            <a:off x="438912" y="475488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bar 2"/>
          <p:cNvSpPr/>
          <p:nvPr/>
        </p:nvSpPr>
        <p:spPr>
          <a:xfrm>
            <a:off x="832104" y="475488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1463040" y="2194560"/>
          <a:ext cx="9509760" cy="7223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1338560" y="2194560"/>
            <a:ext cx="6400800" cy="731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Knowledge:</a:t>
            </a:r>
            <a:endParaRPr lang="en-US" sz="2300" dirty="0"/>
          </a:p>
          <a:p>
            <a:pPr algn="l"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F(2, 297) = 5.14, p = .006, η² = .033</a:t>
            </a:r>
            <a:endParaRPr lang="en-US" sz="2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Perception:</a:t>
            </a:r>
            <a:endParaRPr lang="en-US" sz="2300" dirty="0"/>
          </a:p>
          <a:p>
            <a:pPr algn="l"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F(2, 297) = 4.44, p = .013, η² = .029</a:t>
            </a:r>
            <a:endParaRPr lang="en-US" sz="2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Practice:</a:t>
            </a:r>
            <a:endParaRPr lang="en-US" sz="2300" dirty="0"/>
          </a:p>
          <a:p>
            <a:pPr algn="l"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F(2, 297) = 4.85, p = .009, η² = .032</a:t>
            </a:r>
            <a:endParaRPr lang="en-US" sz="2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E47B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Tukey:</a:t>
            </a:r>
            <a:endParaRPr lang="en-US" sz="2300" dirty="0"/>
          </a:p>
          <a:p>
            <a:pPr algn="l"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MSN &gt; Diploma in all three domains; </a:t>
            </a:r>
            <a:r>
              <a:rPr lang="en-US" sz="2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effects</a:t>
            </a: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2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0" y="914400"/>
            <a:ext cx="530352" cy="1005840"/>
          </a:xfrm>
          <a:prstGeom prst="rect">
            <a:avLst/>
          </a:prstGeom>
          <a:solidFill>
            <a:srgbClr val="EEECE1"/>
          </a:solidFill>
          <a:ln w="12700">
            <a:solidFill>
              <a:srgbClr val="EEECE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</a:t>
            </a:r>
            <a:endParaRPr lang="en-US" sz="5400" dirty="0"/>
          </a:p>
        </p:txBody>
      </p:sp>
      <p:sp>
        <p:nvSpPr>
          <p:cNvPr id="4" name="accent"/>
          <p:cNvSpPr/>
          <p:nvPr/>
        </p:nvSpPr>
        <p:spPr>
          <a:xfrm>
            <a:off x="1097280" y="2148840"/>
            <a:ext cx="1097280" cy="0"/>
          </a:xfrm>
          <a:prstGeom prst="line">
            <a:avLst/>
          </a:prstGeom>
          <a:noFill/>
          <a:ln w="38100">
            <a:solidFill>
              <a:srgbClr val="E47B0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0" y="2286000"/>
            <a:ext cx="15179040" cy="731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35000"/>
              </a:lnSpc>
              <a:buSzPct val="100000"/>
              <a:buFont typeface="Wingdings" pitchFamily="2" charset="2"/>
              <a:buChar char="Ø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Nurses reported </a:t>
            </a:r>
            <a:r>
              <a:rPr lang="en-US" sz="2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self-perceived knowledge</a:t>
            </a: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(M = 61.64).</a:t>
            </a:r>
            <a:endParaRPr lang="en-US" sz="2300" dirty="0"/>
          </a:p>
          <a:p>
            <a:pPr algn="l" lvl="1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Consistent with Younis et al. (2020), Saidam &amp; Eljedi (2020) and Alrowili et al. (2025); reviews found insufficient or moderate knowledge (Said &amp; Chiang, 2020; Tas &amp; Cakir, 2022).</a:t>
            </a:r>
            <a:endParaRPr lang="en-US" sz="2300" dirty="0"/>
          </a:p>
          <a:p>
            <a:pPr algn="l" marL="342900" indent="-342900">
              <a:lnSpc>
                <a:spcPct val="135000"/>
              </a:lnSpc>
              <a:buSzPct val="100000"/>
              <a:buFont typeface="Wingdings" pitchFamily="2" charset="2"/>
              <a:buChar char="Ø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Nurses held </a:t>
            </a:r>
            <a:r>
              <a:rPr lang="en-US" sz="2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positive perceptions</a:t>
            </a: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(M = 57.69).</a:t>
            </a:r>
            <a:endParaRPr lang="en-US" sz="2300" dirty="0"/>
          </a:p>
          <a:p>
            <a:pPr algn="l" lvl="1"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line with Saidam &amp; Eljedi (2020) and Alan et al. (2022); Küçük et al. (2023) found only moderate perceived preparedness.</a:t>
            </a:r>
            <a:endParaRPr lang="en-US" sz="2300" dirty="0"/>
          </a:p>
          <a:p>
            <a:pPr algn="l" marL="342900" indent="-342900">
              <a:lnSpc>
                <a:spcPct val="135000"/>
              </a:lnSpc>
              <a:buSzPct val="100000"/>
              <a:buFont typeface="Wingdings" pitchFamily="2" charset="2"/>
              <a:buChar char="Ø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Nurses reported a </a:t>
            </a:r>
            <a:r>
              <a:rPr lang="en-US" sz="2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level of practice</a:t>
            </a: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(M = 57.25).</a:t>
            </a:r>
            <a:endParaRPr lang="en-US" sz="2300" dirty="0"/>
          </a:p>
          <a:p>
            <a:pPr algn="l" lvl="1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Aligned with Younis et al. (2020), Song et al. (2021) and Hong et al. (2022); Karnjuš et al. (2021) and Thirunavukkarasu et al. (2025) reported practice gaps.</a:t>
            </a:r>
            <a:endParaRPr lang="en-US" sz="2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 bar"/>
          <p:cNvSpPr/>
          <p:nvPr/>
        </p:nvSpPr>
        <p:spPr>
          <a:xfrm>
            <a:off x="265176" y="0"/>
            <a:ext cx="795528" cy="8412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side bar tip"/>
          <p:cNvSpPr/>
          <p:nvPr/>
        </p:nvSpPr>
        <p:spPr>
          <a:xfrm>
            <a:off x="265176" y="8641080"/>
            <a:ext cx="795528" cy="23774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777240"/>
            <a:ext cx="1298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920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Relationships &amp; Prediction</a:t>
            </a:r>
            <a:endParaRPr lang="en-US" sz="2400" dirty="0"/>
          </a:p>
        </p:txBody>
      </p:sp>
      <p:sp>
        <p:nvSpPr>
          <p:cNvPr id="6" name="frame"/>
          <p:cNvSpPr/>
          <p:nvPr/>
        </p:nvSpPr>
        <p:spPr>
          <a:xfrm>
            <a:off x="1463040" y="2514600"/>
            <a:ext cx="15544800" cy="694944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38100">
            <a:solidFill>
              <a:srgbClr val="043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2834640"/>
            <a:ext cx="1426464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Moderate positive correlations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show the domains are related yet distinct; the strongest link was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perception–practice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(r = .58), similar to Thirunavukkarasu et al. (2025), Gandhi et al. (2021) and Alan et al. (2022).</a:t>
            </a:r>
            <a:endParaRPr lang="en-US" sz="2500" dirty="0"/>
          </a:p>
          <a:p>
            <a:pPr algn="l"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Knowledge explained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27.0%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perception and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21.2%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practice, consistent with Hong et al. (2022) and Song et al. (2021).</a:t>
            </a:r>
            <a:endParaRPr lang="en-US" sz="2500" dirty="0"/>
          </a:p>
          <a:p>
            <a:pPr algn="l"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Wingdings" pitchFamily="2" charset="2"/>
              <a:buChar char="Ø"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73.0% and 78.8%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the variance remained unexplained, pointing to training, experience, organizational support, staffing, leadership, resources and resilience.</a:t>
            </a:r>
            <a:endParaRPr lang="en-US" sz="2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 bar"/>
          <p:cNvSpPr/>
          <p:nvPr/>
        </p:nvSpPr>
        <p:spPr>
          <a:xfrm>
            <a:off x="265176" y="0"/>
            <a:ext cx="795528" cy="8412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side bar tip"/>
          <p:cNvSpPr/>
          <p:nvPr/>
        </p:nvSpPr>
        <p:spPr>
          <a:xfrm>
            <a:off x="265176" y="8641080"/>
            <a:ext cx="795528" cy="23774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777240"/>
            <a:ext cx="1298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920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Differences</a:t>
            </a:r>
            <a:endParaRPr lang="en-US" sz="2400" dirty="0"/>
          </a:p>
        </p:txBody>
      </p:sp>
      <p:sp>
        <p:nvSpPr>
          <p:cNvPr id="6" name="frame"/>
          <p:cNvSpPr/>
          <p:nvPr/>
        </p:nvSpPr>
        <p:spPr>
          <a:xfrm>
            <a:off x="1463040" y="2514600"/>
            <a:ext cx="15544800" cy="694944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38100">
            <a:solidFill>
              <a:srgbClr val="043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2834640"/>
            <a:ext cx="1426464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Gender</a:t>
            </a:r>
            <a:endParaRPr lang="en-US" sz="2500" dirty="0"/>
          </a:p>
          <a:p>
            <a:pPr algn="l" marL="342900" indent="-342900">
              <a:lnSpc>
                <a:spcPct val="135000"/>
              </a:lnSpc>
              <a:spcAft>
                <a:spcPts val="1000"/>
              </a:spcAft>
              <a:buSzPct val="100000"/>
              <a:buFont typeface="Wingdings" pitchFamily="2" charset="2"/>
              <a:buChar char="§"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differences favoring male nurses may reflect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assignments, emergency exposure and training opportunities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rather than gender itself; evidence is mixed (Hong et al., 2022; Chegini et al., 2022).</a:t>
            </a:r>
            <a:endParaRPr lang="en-US" sz="2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Educational Level</a:t>
            </a:r>
            <a:endParaRPr lang="en-US" sz="2500" dirty="0"/>
          </a:p>
          <a:p>
            <a:pPr algn="l" marL="342900" indent="-342900">
              <a:lnSpc>
                <a:spcPct val="135000"/>
              </a:lnSpc>
              <a:spcAft>
                <a:spcPts val="1000"/>
              </a:spcAft>
              <a:buSzPct val="100000"/>
              <a:buFont typeface="Wingdings" pitchFamily="2" charset="2"/>
              <a:buChar char="§"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MSN-prepared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nurses scored higher than diploma-prepared nurses, consistent with Chegini et al. (2022), Song et al. (2021) and Hung et al. (2021); effects were small and the MSN group was small.</a:t>
            </a:r>
            <a:endParaRPr lang="en-US" sz="2500" dirty="0"/>
          </a:p>
          <a:p>
            <a:pPr algn="l" marL="342900" indent="-342900">
              <a:lnSpc>
                <a:spcPct val="135000"/>
              </a:lnSpc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Formal qualifications are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the only route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to preparedness: experience, simulation and lifelong learning also build competency.</a:t>
            </a:r>
            <a:endParaRPr lang="en-US" sz="2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marker"/>
          <p:cNvSpPr/>
          <p:nvPr/>
        </p:nvSpPr>
        <p:spPr>
          <a:xfrm>
            <a:off x="0" y="914400"/>
            <a:ext cx="530352" cy="1005840"/>
          </a:xfrm>
          <a:prstGeom prst="rect">
            <a:avLst/>
          </a:prstGeom>
          <a:solidFill>
            <a:srgbClr val="EEECE1"/>
          </a:solidFill>
          <a:ln w="12700">
            <a:solidFill>
              <a:srgbClr val="EEECE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</a:t>
            </a:r>
            <a:endParaRPr lang="en-US" sz="5400" dirty="0"/>
          </a:p>
        </p:txBody>
      </p:sp>
      <p:sp>
        <p:nvSpPr>
          <p:cNvPr id="4" name="accent"/>
          <p:cNvSpPr/>
          <p:nvPr/>
        </p:nvSpPr>
        <p:spPr>
          <a:xfrm>
            <a:off x="1097280" y="2148840"/>
            <a:ext cx="1097280" cy="0"/>
          </a:xfrm>
          <a:prstGeom prst="line">
            <a:avLst/>
          </a:prstGeom>
          <a:noFill/>
          <a:ln w="38100">
            <a:solidFill>
              <a:srgbClr val="E47B0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0" y="2286000"/>
            <a:ext cx="15179040" cy="731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Integrated Interpretation</a:t>
            </a:r>
            <a:endParaRPr lang="en-US" sz="2400" dirty="0"/>
          </a:p>
          <a:p>
            <a:pPr algn="l" marL="342900" indent="-342900">
              <a:lnSpc>
                <a:spcPct val="135000"/>
              </a:lnSpc>
              <a:spcAft>
                <a:spcPts val="600"/>
              </a:spcAft>
              <a:buSzPct val="100000"/>
              <a:buFont typeface="Wingdings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Pandemic-disaster preparedness is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multidimensional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does not depend on knowledge alone.</a:t>
            </a:r>
            <a:endParaRPr lang="en-US" sz="2400" dirty="0"/>
          </a:p>
          <a:p>
            <a:pPr algn="l" marL="342900" indent="-342900">
              <a:lnSpc>
                <a:spcPct val="135000"/>
              </a:lnSpc>
              <a:spcAft>
                <a:spcPts val="600"/>
              </a:spcAft>
              <a:buSzPct val="100000"/>
              <a:buFont typeface="Wingdings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Nurses who felt more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confident, supported and responsible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reported more preparedness behaviors; the direction cannot be determined.</a:t>
            </a:r>
            <a:endParaRPr lang="en-US" sz="2400" dirty="0"/>
          </a:p>
          <a:p>
            <a:pPr algn="l" marL="342900" indent="-342900">
              <a:lnSpc>
                <a:spcPct val="135000"/>
              </a:lnSpc>
              <a:spcAft>
                <a:spcPts val="600"/>
              </a:spcAft>
              <a:buSzPct val="100000"/>
              <a:buFont typeface="Wingdings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Programs should combine theory with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drills, multidisciplinary exercises, communication readiness, psychological-skills training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periodic competency testing.</a:t>
            </a:r>
            <a:endParaRPr lang="en-US" sz="2400" dirty="0"/>
          </a:p>
          <a:p>
            <a:pPr algn="l" marL="342900" indent="-342900">
              <a:lnSpc>
                <a:spcPct val="135000"/>
              </a:lnSpc>
              <a:spcAft>
                <a:spcPts val="600"/>
              </a:spcAft>
              <a:buSzPct val="100000"/>
              <a:buFont typeface="Wingdings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scores are </a:t>
            </a: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self-assessed</a:t>
            </a: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not proof of objective mastery; social desirability and COVID-19 exposure may have influenced responses.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IPC/1ef487fd-4d6c-5dcb-aba6-fa5466b3c339/scratchpad/build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01200"/>
            <a:ext cx="182880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Strengths and Limitations of the Study</a:t>
            </a:r>
            <a:endParaRPr lang="en-US" sz="5400" dirty="0"/>
          </a:p>
        </p:txBody>
      </p:sp>
      <p:pic>
        <p:nvPicPr>
          <p:cNvPr id="4" name="Image 1" descr="/tmp/claude-0/-home-user-CIPC/1ef487fd-4d6c-5dcb-aba6-fa5466b3c339/scratchpad/build/assets/icon_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3108960" cy="31089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480560" y="2103120"/>
            <a:ext cx="13167360" cy="7406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5000"/>
              </a:lnSpc>
              <a:spcAft>
                <a:spcPts val="200"/>
              </a:spcAft>
              <a:buSzPct val="100000"/>
              <a:buFont typeface="Wingdings" pitchFamily="2" charset="2"/>
              <a:buChar char="Ø"/>
            </a:pPr>
            <a:r>
              <a:rPr lang="en-US" sz="2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Strengths of the Study</a:t>
            </a:r>
            <a:endParaRPr lang="en-US" sz="2300" dirty="0"/>
          </a:p>
          <a:p>
            <a:pPr algn="l" lvl="1" marL="685800" indent="-342900">
              <a:lnSpc>
                <a:spcPct val="125000"/>
              </a:lnSpc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Assessed knowledge, perception and practice together, with their relationships.</a:t>
            </a:r>
            <a:endParaRPr lang="en-US" sz="2300" dirty="0"/>
          </a:p>
          <a:p>
            <a:pPr algn="l" lvl="1" marL="685800" indent="-342900">
              <a:lnSpc>
                <a:spcPct val="125000"/>
              </a:lnSpc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 assessment of its kind in Taif governmental hospitals; sample of 300 exceeded the minimum of 159.</a:t>
            </a:r>
            <a:endParaRPr lang="en-US" sz="2300" dirty="0"/>
          </a:p>
          <a:p>
            <a:pPr algn="l" lvl="1" marL="685800" indent="-342900">
              <a:lnSpc>
                <a:spcPct val="125000"/>
              </a:lnSpc>
              <a:spcAft>
                <a:spcPts val="800"/>
              </a:spcAft>
              <a:buSzPct val="100000"/>
              <a:buFont typeface="Wingdings" pitchFamily="2" charset="2"/>
              <a:buChar char="§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Pilot-tested instrument with acceptable reliability (α = .73–.91).</a:t>
            </a:r>
            <a:endParaRPr lang="en-US" sz="2300" dirty="0"/>
          </a:p>
          <a:p>
            <a:pPr algn="l" marL="342900" indent="-342900">
              <a:lnSpc>
                <a:spcPct val="125000"/>
              </a:lnSpc>
              <a:spcAft>
                <a:spcPts val="200"/>
              </a:spcAft>
              <a:buSzPct val="100000"/>
              <a:buFont typeface="Wingdings" pitchFamily="2" charset="2"/>
              <a:buChar char="Ø"/>
            </a:pPr>
            <a:r>
              <a:rPr lang="en-US" sz="2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of the Study</a:t>
            </a:r>
            <a:endParaRPr lang="en-US" sz="2300" dirty="0"/>
          </a:p>
          <a:p>
            <a:pPr algn="l" lvl="1" marL="685800" indent="-342900">
              <a:lnSpc>
                <a:spcPct val="125000"/>
              </a:lnSpc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Cross-sectional design: associations only, no causal conclusions.</a:t>
            </a:r>
            <a:endParaRPr lang="en-US" sz="2300" dirty="0"/>
          </a:p>
          <a:p>
            <a:pPr algn="l" lvl="1" marL="685800" indent="-342900">
              <a:lnSpc>
                <a:spcPct val="125000"/>
              </a:lnSpc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Purposive sampling restricted to Taif governmental hospitals limits generalizability.</a:t>
            </a:r>
            <a:endParaRPr lang="en-US" sz="2300" dirty="0"/>
          </a:p>
          <a:p>
            <a:pPr algn="l" lvl="1" marL="685800" indent="-342900">
              <a:lnSpc>
                <a:spcPct val="125000"/>
              </a:lnSpc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Self-reported data may involve recall, response and social-desirability bias.</a:t>
            </a:r>
            <a:endParaRPr lang="en-US" sz="2300" dirty="0"/>
          </a:p>
          <a:p>
            <a:pPr algn="l" lvl="1" marL="685800" indent="-342900">
              <a:lnSpc>
                <a:spcPct val="125000"/>
              </a:lnSpc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validity evidence; knowledge not objectively tested and practice not observed.</a:t>
            </a:r>
            <a:endParaRPr lang="en-US" sz="2300" dirty="0"/>
          </a:p>
          <a:p>
            <a:pPr algn="l" lvl="1" marL="685800" indent="-342900">
              <a:lnSpc>
                <a:spcPct val="125000"/>
              </a:lnSpc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2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Unequal educational groups, especially the small MSN group.</a:t>
            </a:r>
            <a:endParaRPr lang="en-US" sz="2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 0"/>
          <p:cNvSpPr/>
          <p:nvPr/>
        </p:nvSpPr>
        <p:spPr>
          <a:xfrm>
            <a:off x="45720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bar 1"/>
          <p:cNvSpPr/>
          <p:nvPr/>
        </p:nvSpPr>
        <p:spPr>
          <a:xfrm>
            <a:off x="438912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bar 2"/>
          <p:cNvSpPr/>
          <p:nvPr/>
        </p:nvSpPr>
        <p:spPr>
          <a:xfrm>
            <a:off x="832104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gold line"/>
          <p:cNvSpPr/>
          <p:nvPr/>
        </p:nvSpPr>
        <p:spPr>
          <a:xfrm>
            <a:off x="1216152" y="9692640"/>
            <a:ext cx="15855696" cy="0"/>
          </a:xfrm>
          <a:prstGeom prst="line">
            <a:avLst/>
          </a:prstGeom>
          <a:noFill/>
          <a:ln w="31750">
            <a:solidFill>
              <a:srgbClr val="FFC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Recommendations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194560"/>
            <a:ext cx="15270480" cy="731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Reinforce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simulation-based training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that mirrors real disaster conditions to improve decision making, communication and team coordination under pressure.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Strengthen and regularly practice common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communication protocols and chains of command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during training.</a:t>
            </a:r>
            <a:endParaRPr lang="en-US" sz="2600" dirty="0"/>
          </a:p>
          <a:p>
            <a:pPr algn="l" marL="342900" indent="-342900">
              <a:lnSpc>
                <a:spcPct val="150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psychological support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stress-management programs, counseling and resilience-building workshops.</a:t>
            </a:r>
            <a:endParaRPr lang="en-US" sz="2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 0"/>
          <p:cNvSpPr/>
          <p:nvPr/>
        </p:nvSpPr>
        <p:spPr>
          <a:xfrm>
            <a:off x="45720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bar 1"/>
          <p:cNvSpPr/>
          <p:nvPr/>
        </p:nvSpPr>
        <p:spPr>
          <a:xfrm>
            <a:off x="438912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bar 2"/>
          <p:cNvSpPr/>
          <p:nvPr/>
        </p:nvSpPr>
        <p:spPr>
          <a:xfrm>
            <a:off x="832104" y="822960"/>
            <a:ext cx="274320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gold line"/>
          <p:cNvSpPr/>
          <p:nvPr/>
        </p:nvSpPr>
        <p:spPr>
          <a:xfrm>
            <a:off x="1216152" y="9692640"/>
            <a:ext cx="15855696" cy="0"/>
          </a:xfrm>
          <a:prstGeom prst="line">
            <a:avLst/>
          </a:prstGeom>
          <a:noFill/>
          <a:ln w="31750">
            <a:solidFill>
              <a:srgbClr val="FFC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Recommendations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194560"/>
            <a:ext cx="15270480" cy="731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Font typeface="+mj-lt"/>
              <a:buAutoNum type="arabicPeriod" startAt="4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Enhance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continuing professional development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with practical exercises, case-based learning and reflective practice.</a:t>
            </a:r>
            <a:endParaRPr lang="en-US" sz="2600" dirty="0"/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Font typeface="+mj-lt"/>
              <a:buAutoNum type="arabicPeriod" startAt="4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 a process of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periodic review and feedback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after disaster drills and actual incidents.</a:t>
            </a:r>
            <a:endParaRPr lang="en-US" sz="2600" dirty="0"/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Font typeface="+mj-lt"/>
              <a:buAutoNum type="arabicPeriod" startAt="4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Policymakers should include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disaster preparedness in compulsory nursing competencies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at institutional and national levels.</a:t>
            </a:r>
            <a:endParaRPr lang="en-US" sz="2600" dirty="0"/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Font typeface="+mj-lt"/>
              <a:buAutoNum type="arabicPeriod" startAt="4"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research: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longitudinal, multicenter and experimental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studies; public and private hospitals; </a:t>
            </a: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probability sampling</a:t>
            </a: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; objective knowledge tests, observed practice and qualitative interviews.</a:t>
            </a:r>
            <a:endParaRPr lang="en-US" sz="2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5852160" cy="10287000"/>
          </a:xfrm>
          <a:prstGeom prst="rect">
            <a:avLst/>
          </a:prstGeom>
          <a:solidFill>
            <a:srgbClr val="1A3760"/>
          </a:solidFill>
          <a:ln w="12700">
            <a:solidFill>
              <a:srgbClr val="1A3760"/>
            </a:solidFill>
            <a:prstDash val="solid"/>
          </a:ln>
        </p:spPr>
      </p:sp>
      <p:sp>
        <p:nvSpPr>
          <p:cNvPr id="3" name="deco circle"/>
          <p:cNvSpPr/>
          <p:nvPr/>
        </p:nvSpPr>
        <p:spPr>
          <a:xfrm>
            <a:off x="548640" y="283464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42062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Implications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2377440"/>
            <a:ext cx="10424160" cy="6766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study presents several implications for </a:t>
            </a: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practice, nursing education, hospital management and health policy</a:t>
            </a: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2800" dirty="0"/>
          </a:p>
          <a:p>
            <a:pPr algn="l" indent="0" marL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Nurses are at the core of pandemic response; their readiness shapes </a:t>
            </a: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patient outcomes, safety</a:t>
            </a: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the performance of the emergency-response system.</a:t>
            </a:r>
            <a:endParaRPr lang="en-US" sz="2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IPC/1ef487fd-4d6c-5dcb-aba6-fa5466b3c339/scratchpad/build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01200"/>
            <a:ext cx="182880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Implications for Practice and Education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1280160" y="2286000"/>
            <a:ext cx="15727680" cy="7132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spcAft>
                <a:spcPts val="200"/>
              </a:spcAft>
              <a:buSzPct val="100000"/>
              <a:buFont typeface="Wingdings" pitchFamily="2" charset="2"/>
              <a:buChar char="Ø"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</a:t>
            </a:r>
            <a:endParaRPr lang="en-US" sz="2700" dirty="0"/>
          </a:p>
          <a:p>
            <a:pPr algn="l" lvl="1" marL="685800" indent="-342900">
              <a:lnSpc>
                <a:spcPct val="150000"/>
              </a:lnSpc>
              <a:spcAft>
                <a:spcPts val="1200"/>
              </a:spcAft>
              <a:buSzPct val="100000"/>
              <a:buFont typeface="Wingdings" pitchFamily="2" charset="2"/>
              <a:buChar char="§"/>
            </a:pP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Enhancing nurses’ </a:t>
            </a: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communication, decision-making and psychological preparation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can improve readiness in clinical settings.</a:t>
            </a:r>
            <a:endParaRPr lang="en-US" sz="2700" dirty="0"/>
          </a:p>
          <a:p>
            <a:pPr algn="l" marL="342900" indent="-342900">
              <a:lnSpc>
                <a:spcPct val="150000"/>
              </a:lnSpc>
              <a:spcAft>
                <a:spcPts val="200"/>
              </a:spcAft>
              <a:buSzPct val="100000"/>
              <a:buFont typeface="Wingdings" pitchFamily="2" charset="2"/>
              <a:buChar char="Ø"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Education</a:t>
            </a:r>
            <a:endParaRPr lang="en-US" sz="2700" dirty="0"/>
          </a:p>
          <a:p>
            <a:pPr algn="l" lvl="1" marL="685800" indent="-342900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 disaster management </a:t>
            </a: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holistically into nursing curricula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with simulation exercises rather than theory alone.</a:t>
            </a:r>
            <a:endParaRPr lang="en-US" sz="2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IPC/1ef487fd-4d6c-5dcb-aba6-fa5466b3c339/scratchpad/build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01200"/>
            <a:ext cx="182880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Implications for Management and Policy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1280160" y="2286000"/>
            <a:ext cx="15727680" cy="7132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spcAft>
                <a:spcPts val="200"/>
              </a:spcAft>
              <a:buSzPct val="100000"/>
              <a:buFont typeface="Wingdings" pitchFamily="2" charset="2"/>
              <a:buChar char="Ø"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Management</a:t>
            </a:r>
            <a:endParaRPr lang="en-US" sz="2700" dirty="0"/>
          </a:p>
          <a:p>
            <a:pPr algn="l" lvl="1" marL="685800" indent="-342900">
              <a:lnSpc>
                <a:spcPct val="150000"/>
              </a:lnSpc>
              <a:spcAft>
                <a:spcPts val="1200"/>
              </a:spcAft>
              <a:buSzPct val="100000"/>
              <a:buFont typeface="Wingdings" pitchFamily="2" charset="2"/>
              <a:buChar char="§"/>
            </a:pP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 </a:t>
            </a: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 preparedness training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with sufficient resources, time, institutional support and interdisciplinary collaboration.</a:t>
            </a:r>
            <a:endParaRPr lang="en-US" sz="2700" dirty="0"/>
          </a:p>
          <a:p>
            <a:pPr algn="l" marL="342900" indent="-342900">
              <a:lnSpc>
                <a:spcPct val="150000"/>
              </a:lnSpc>
              <a:spcAft>
                <a:spcPts val="200"/>
              </a:spcAft>
              <a:buSzPct val="100000"/>
              <a:buFont typeface="Wingdings" pitchFamily="2" charset="2"/>
              <a:buChar char="Ø"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</a:t>
            </a:r>
            <a:endParaRPr lang="en-US" sz="2700" dirty="0"/>
          </a:p>
          <a:p>
            <a:pPr algn="l" lvl="1" marL="685800" indent="-342900">
              <a:lnSpc>
                <a:spcPct val="150000"/>
              </a:lnSpc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</a:t>
            </a: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uniform national guidance</a:t>
            </a:r>
            <a:r>
              <a:rPr lang="en-US" sz="2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on disaster-preparedness training so that all nurses are prepared, whatever their setting.</a:t>
            </a:r>
            <a:endParaRPr lang="en-US" sz="2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IPC/1ef487fd-4d6c-5dcb-aba6-fa5466b3c339/scratchpad/build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01200"/>
            <a:ext cx="182880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777240"/>
            <a:ext cx="1325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Conclusions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1280160" y="2194560"/>
            <a:ext cx="15727680" cy="731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Nurses in governmental hospitals in the Taif Region reported relatively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self-perceived knowledge, positive perceptions and high self-reported practices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regarding pandemic disasters.</a:t>
            </a:r>
            <a:endParaRPr lang="en-US" sz="2500" dirty="0"/>
          </a:p>
          <a:p>
            <a:pPr algn="l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three domains were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positively associated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and self-perceived knowledge statistically predicted perceptions and self-reported practice.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but significant differences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were found by gender and educational level.</a:t>
            </a:r>
            <a:endParaRPr lang="en-US" sz="2500" dirty="0"/>
          </a:p>
          <a:p>
            <a:pPr algn="l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Emergency communication, psychological preparedness and ongoing review of protocols need further development through </a:t>
            </a: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 education, simulation and institutional support</a:t>
            </a: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2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 bar"/>
          <p:cNvSpPr/>
          <p:nvPr/>
        </p:nvSpPr>
        <p:spPr>
          <a:xfrm>
            <a:off x="0" y="10012680"/>
            <a:ext cx="18288000" cy="27432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0" y="914400"/>
            <a:ext cx="1234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20240"/>
            <a:ext cx="16459200" cy="786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Thobaity, A., &amp; Alshammari, F. (2020). Nurses on the frontline against the COVID-19 pandemic: an integrative review. Dubai Medical Journal, 3(3), 87-92.</a:t>
            </a:r>
            <a:endParaRPr lang="en-US" sz="20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Alan, H., Eskici, G. T., Sen, H. T., &amp; Bacaksiz, F. E. (2022). Nurses’ disaster core competencies and resilience during the COVID-19 pandemic: A cross-sectional study from Turkey. Journal of Nursing Management, 30(3), 622–632. https://doi.org/10.1111/jonm.13552.</a:t>
            </a:r>
            <a:endParaRPr lang="en-US" sz="20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AlOtaibi, S. S., Almutairi, H. A., Alotaibi, M. K., Alharbi, K., &amp; Bahari, G. (2024). Enhancing nurses’ disaster management and preparedness: Evaluating the effectiveness of an online educational program through a quasi-experimental study. Risk Management and Healthcare Policy, 17, 101–111. https://doi.org/10.2147/RMHP.S446704.</a:t>
            </a:r>
            <a:endParaRPr lang="en-US" sz="20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Alrowili, M. R., Almoajel, A. M., Alneam, F. M., &amp; Alhazmi, R. A. (2025). Disaster preparedness in saudi arabia’s primary healthcare workers for human well-being and sustainability. Sustainability, 17(14), 6562.</a:t>
            </a:r>
            <a:endParaRPr lang="en-US" sz="20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Cariaso-Sugay, J., Hultgren, M., Browder, B., &amp; Chen, J. (2021). Nurse Leaders' Knowledge and Confidence Managing Disasters in the Acute Care Setting. Nursing Administration Quarterly, 45, 142–151. https://doi.org/10.1097/naq.0000000000000468.</a:t>
            </a:r>
            <a:endParaRPr lang="en-US" sz="20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Chegini, Z., Arab-Zozani, M., Kakemam, E., Lotfi, M., Nobakht, A., &amp; Aziz Karkan, H. (2022). Disaster preparedness and core competencies among emergency nurses: A cross-sectional study. Nursing open, 9(2), 1294-1302.</a:t>
            </a:r>
            <a:endParaRPr lang="en-US" sz="20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Gandhi, S., Sahu, M., Govindan, R., Nattala, P., Gandhi, S., Sudhir, P. M., &amp; Balachandran, R. (2021). Psychological preparedness for pandemic (COVID-19) management: Perceptions of nurses and nursing students in India. Plos one, 16(8), e0255772.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 bar"/>
          <p:cNvSpPr/>
          <p:nvPr/>
        </p:nvSpPr>
        <p:spPr>
          <a:xfrm>
            <a:off x="0" y="10012680"/>
            <a:ext cx="18288000" cy="27432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0" y="914400"/>
            <a:ext cx="1234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20240"/>
            <a:ext cx="16459200" cy="786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Hong, E., Jung, A., &amp; Woo, K. (2022). A cross-sectional study on public health nurses' disaster competencies and influencing factors during the COVID-19 pandemic in Korea. BMC Public Health, 22(1), 731.</a:t>
            </a:r>
            <a:endParaRPr lang="en-US" sz="20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Hung, M. S. Y., Lam, S. K. K., Chow, M. C. M., Ng, W. W. M., &amp; Pau, O. K. (2021). The effectiveness of disaster education for undergraduate nursing students’ knowledge, willingness, and perceived ability: An evaluation study. International journal of environmental research and public health, 18(19), 10545.</a:t>
            </a:r>
            <a:endParaRPr lang="en-US" sz="20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Karnjuš, I., Prosen, M., &amp; Ličen, S. (2021). Nurses’ core disaster-response competencies for combating COVID-19—a cross-sectional study. Plos one, 16(6), e0252934.</a:t>
            </a:r>
            <a:endParaRPr lang="en-US" sz="20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Küçük, U., Sari, C., &amp; Demirbağ, B. C. (2023). Nurse perceptions of knowledge and preparedness for disasters. Disaster medicine and public health preparedness, 17, e519.</a:t>
            </a:r>
            <a:endParaRPr lang="en-US" sz="20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Said, N. B., &amp; Chiang, V. C. (2020). The knowledge, skill competencies, and psychological preparedness of nurses for disasters: a systematic review. International emergency nursing, 48, 100806.</a:t>
            </a:r>
            <a:endParaRPr lang="en-US" sz="20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Saidam, M. N., &amp; Eljedi, A. Y. (2020). Palestinian emergency nurses’ knowledge and role perception about disaster management: a need for immediate actions. International Journal of Community Medicine and Public Health, 7(3), 831-836.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 bar"/>
          <p:cNvSpPr/>
          <p:nvPr/>
        </p:nvSpPr>
        <p:spPr>
          <a:xfrm>
            <a:off x="0" y="10012680"/>
            <a:ext cx="18288000" cy="27432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0" y="914400"/>
            <a:ext cx="1234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20240"/>
            <a:ext cx="16459200" cy="786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Song, S., Li, X., Bell, S. A., Yang, X., &amp; Zhang, W. (2021). Emergency response: a cross-sectional study of core competencies for nurses regarding major infectious disease outbreaks. Journal of Emergency Nursing, 47(6), 902-913.</a:t>
            </a:r>
            <a:endParaRPr lang="en-US" sz="20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Songwathana, P., &amp; Timalsina, R. (2021). Disaster preparedness among nurses of developing countries: An integrative review. International emergency nursing, 55, 100955. https://doi.org/10.1016/j.ienj.2020.100955.</a:t>
            </a:r>
            <a:endParaRPr lang="en-US" sz="20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Tas, F., &amp; Cakir, M. (2022). Nurses' knowledge levels and preparedness for disasters: A systematic review. International Journal of Disaster Risk Reduction, 80, 103230.</a:t>
            </a:r>
            <a:endParaRPr lang="en-US" sz="20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Thirunavukkarasu, A., Alsaidan, A. A., Aldhafeeri, S. T., Abdel-Salam, D. M., Aldhafeeri, N. T., Alanazi, M. A., &amp; Al-Zahrany, W. (2025). Evaluation of awareness, attitudes, and practices towards disaster preparedness among Saudi healthcare professionals: implications for enhancing emergency response and training. PeerJ, 13, e20464.</a:t>
            </a:r>
            <a:endParaRPr lang="en-US" sz="20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Vishba, &amp; Shaheen. (2025). Knowledge, attitude and practice of nurses about disaster management in Mayo Hospital, Lahore, Pakistan. Insights-Journal of Health and Rehabilitation, 3(3), 140–150.</a:t>
            </a:r>
            <a:endParaRPr lang="en-US" sz="2000" dirty="0"/>
          </a:p>
          <a:p>
            <a:pPr lvl="1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Younis, N. M., Ahmed, M. M., &amp; Hussein, A. A. (2020). Nurses’ knowledge, attitude and practice towards preparedness of disaster management in emergency of Mosul teaching hospitals. Medico-Legal Update, 20(3), 775–779. https://doi.org/10.37506/mlu.v20i3.1611.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IPC/1ef487fd-4d6c-5dcb-aba6-fa5466b3c339/scratchpad/build/asset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82880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4937760"/>
            <a:ext cx="1463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9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SU Thesis">
  <a:themeElements>
    <a:clrScheme name="KSU Thesis">
      <a:dk1>
        <a:srgbClr val="000000"/>
      </a:dk1>
      <a:lt1>
        <a:srgbClr val="FFFFFF"/>
      </a:lt1>
      <a:dk2>
        <a:srgbClr val="1A376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SU Thesis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Assessing Nurses' Knowledge, Perception, and Practice about Pandemic Disasters</dc:title>
  <dc:subject>PptxGenJS Presentation</dc:subject>
  <dc:creator>Samirah Alkhaldi</dc:creator>
  <cp:lastModifiedBy>Samirah Alkhaldi</cp:lastModifiedBy>
  <cp:revision>1</cp:revision>
  <dcterms:created xsi:type="dcterms:W3CDTF">2026-10-22T16:22:36Z</dcterms:created>
  <dcterms:modified xsi:type="dcterms:W3CDTF">2026-10-22T16:22:36Z</dcterms:modified>
</cp:coreProperties>
</file>