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8.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9.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0.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4c64cf1-a0b8-69b8-c443-2ed2257a2380}">
          <p14:sldIdLst>
            <p14:sldId id="256"/>
            <p14:sldId id="257"/>
            <p14:sldId id="258"/>
            <p14:sldId id="259"/>
            <p14:sldId id="260"/>
            <p14:sldId id="261"/>
            <p14:sldId id="262"/>
            <p14:sldId id="263"/>
            <p14:sldId id="264"/>
          </p14:sldIdLst>
        </p14:section>
        <p14:section name="Literature Review" id="{b7067679-ee43-19ce-d559-e8851d39fb43}">
          <p14:sldIdLst>
            <p14:sldId id="265"/>
            <p14:sldId id="266"/>
            <p14:sldId id="267"/>
            <p14:sldId id="268"/>
          </p14:sldIdLst>
        </p14:section>
        <p14:section name="Methodology" id="{970f02ef-0236-04c0-bc9a-8d5ab25317e8}">
          <p14:sldIdLst>
            <p14:sldId id="269"/>
            <p14:sldId id="270"/>
            <p14:sldId id="271"/>
            <p14:sldId id="272"/>
            <p14:sldId id="273"/>
            <p14:sldId id="274"/>
            <p14:sldId id="275"/>
          </p14:sldIdLst>
        </p14:section>
        <p14:section name="Results" id="{55f5defb-03d4-6bac-37df-5dae94fdde40}">
          <p14:sldIdLst>
            <p14:sldId id="276"/>
            <p14:sldId id="277"/>
            <p14:sldId id="278"/>
            <p14:sldId id="279"/>
            <p14:sldId id="280"/>
            <p14:sldId id="281"/>
            <p14:sldId id="282"/>
            <p14:sldId id="283"/>
            <p14:sldId id="284"/>
          </p14:sldIdLst>
        </p14:section>
        <p14:section name="Discussion" id="{df6d210a-fee8-7099-2015-087e9ae6305f}">
          <p14:sldIdLst>
            <p14:sldId id="285"/>
            <p14:sldId id="286"/>
            <p14:sldId id="287"/>
            <p14:sldId id="288"/>
          </p14:sldIdLst>
        </p14:section>
        <p14:section name="Conclusion" id="{3884a484-31d2-67ea-b577-e99415658393}">
          <p14:sldIdLst>
            <p14:sldId id="289"/>
            <p14:sldId id="290"/>
            <p14:sldId id="291"/>
            <p14:sldId id="292"/>
            <p14:sldId id="293"/>
            <p14:sldId id="294"/>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2000" b="0" i="0" u="none" strike="noStrike">
                <a:solidFill>
                  <a:srgbClr val="1A3760"/>
                </a:solidFill>
                <a:latin typeface="+mn-lt"/>
              </a:defRPr>
            </a:pPr>
            <a:r>
              <a:rPr sz="2000" b="0" i="0" u="none" strike="noStrike">
                <a:solidFill>
                  <a:srgbClr val="1A3760"/>
                </a:solidFill>
                <a:latin typeface="+mn-lt"/>
              </a:rPr>
              <a:t>Evaluation of the Questionnaire (N = 30, mean ratings)</a:t>
            </a:r>
          </a:p>
        </c:rich>
      </c:tx>
      <c:layout/>
      <c:overlay val="0"/>
    </c:title>
    <c:autoTitleDeleted val="0"/>
    <c:plotArea>
      <c:layout/>
      <c:barChart>
        <c:barDir val="bar"/>
        <c:grouping val="clustered"/>
        <c:varyColors val="0"/>
        <c:ser>
          <c:idx val="0"/>
          <c:order val="0"/>
          <c:tx>
            <c:strRef>
              <c:f>Sheet1!$B$1</c:f>
              <c:strCache>
                <c:ptCount val="1"/>
                <c:pt idx="0">
                  <c:v>Mean rating</c:v>
                </c:pt>
              </c:strCache>
            </c:strRef>
          </c:tx>
          <c:spPr>
            <a:solidFill>
              <a:srgbClr val="4F81BD"/>
            </a:solidFill>
            <a:effectLst/>
          </c:spPr>
          <c:invertIfNegative val="0"/>
          <c:dLbls>
            <c:numFmt formatCode="0.00" sourceLinked="0"/>
            <c:txPr>
              <a:bodyPr/>
              <a:lstStyle/>
              <a:p>
                <a:pPr>
                  <a:defRPr b="0" i="0" strike="noStrike" sz="16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Clarity of items</c:v>
                  </c:pt>
                  <c:pt idx="1">
                    <c:v>Relevance of items</c:v>
                  </c:pt>
                  <c:pt idx="2">
                    <c:v>Ease of understanding</c:v>
                  </c:pt>
                  <c:pt idx="3">
                    <c:v>Completion time</c:v>
                  </c:pt>
                  <c:pt idx="4">
                    <c:v>Overall applicability</c:v>
                  </c:pt>
                </c:lvl>
              </c:multiLvlStrCache>
            </c:multiLvlStrRef>
          </c:cat>
          <c:val>
            <c:numRef>
              <c:f>Sheet1!$B$2:$B$6</c:f>
              <c:numCache>
                <c:formatCode>General</c:formatCode>
                <c:ptCount val="5"/>
                <c:pt idx="0">
                  <c:v>4.17</c:v>
                </c:pt>
                <c:pt idx="1">
                  <c:v>4.37</c:v>
                </c:pt>
                <c:pt idx="2">
                  <c:v>4.13</c:v>
                </c:pt>
                <c:pt idx="3">
                  <c:v>4</c:v>
                </c:pt>
                <c:pt idx="4">
                  <c:v>4.4</c:v>
                </c:pt>
              </c:numCache>
            </c:numRef>
          </c:val>
        </c:ser>
        <c:dLbls>
          <c:numFmt formatCode="0.00" sourceLinked="0"/>
          <c:txPr>
            <a:bodyPr/>
            <a:lstStyle/>
            <a:p>
              <a:pPr>
                <a:defRPr b="0" i="0" strike="noStrike" sz="1600" u="none">
                  <a:solidFill>
                    <a:srgbClr val="00000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7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5"/>
          <c:min val="1"/>
        </c:scaling>
        <c:delete val="0"/>
        <c:axPos val="b"/>
        <c:majorGridlines>
          <c:spPr>
            <a:ln w="1270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1A3760"/>
                </a:solidFill>
                <a:latin typeface="+mn-lt"/>
              </a:defRPr>
            </a:pPr>
            <a:r>
              <a:rPr sz="1800" b="0" i="0" u="none" strike="noStrike">
                <a:solidFill>
                  <a:srgbClr val="1A3760"/>
                </a:solidFill>
                <a:latin typeface="+mn-lt"/>
              </a:rPr>
              <a:t>Age (years)</a:t>
            </a:r>
          </a:p>
        </c:rich>
      </c:tx>
      <c:layout/>
      <c:overlay val="0"/>
    </c:title>
    <c:autoTitleDeleted val="0"/>
    <c:plotArea>
      <c:layout/>
      <c:barChart>
        <c:barDir val="col"/>
        <c:grouping val="clustered"/>
        <c:varyColors val="0"/>
        <c:ser>
          <c:idx val="0"/>
          <c:order val="0"/>
          <c:tx>
            <c:strRef>
              <c:f>Sheet1!$B$1</c:f>
              <c:strCache>
                <c:ptCount val="1"/>
                <c:pt idx="0">
                  <c:v>%</c:v>
                </c:pt>
              </c:strCache>
            </c:strRef>
          </c:tx>
          <c:spPr>
            <a:solidFill>
              <a:srgbClr val="4F81BD"/>
            </a:solidFill>
            <a:effectLst/>
          </c:spPr>
          <c:invertIfNegative val="0"/>
          <c:dLbls>
            <c:numFmt formatCode="0.0&quot;%&quot;"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cat>
            <c:multiLvlStrRef>
              <c:f>Sheet1!$A$2:$A$5</c:f>
              <c:multiLvlStrCache>
                <c:ptCount val="4"/>
                <c:lvl>
                  <c:pt idx="0">
                    <c:v>20–30</c:v>
                  </c:pt>
                  <c:pt idx="1">
                    <c:v>31–40</c:v>
                  </c:pt>
                  <c:pt idx="2">
                    <c:v>41–50</c:v>
                  </c:pt>
                  <c:pt idx="3">
                    <c:v>51+</c:v>
                  </c:pt>
                </c:lvl>
              </c:multiLvlStrCache>
            </c:multiLvlStrRef>
          </c:cat>
          <c:val>
            <c:numRef>
              <c:f>Sheet1!$B$2:$B$5</c:f>
              <c:numCache>
                <c:formatCode>General</c:formatCode>
                <c:ptCount val="4"/>
                <c:pt idx="0">
                  <c:v>24</c:v>
                </c:pt>
                <c:pt idx="1">
                  <c:v>23</c:v>
                </c:pt>
                <c:pt idx="2">
                  <c:v>25.7</c:v>
                </c:pt>
                <c:pt idx="3">
                  <c:v>27.3</c:v>
                </c:pt>
              </c:numCache>
            </c:numRef>
          </c:val>
        </c:ser>
        <c:dLbls>
          <c:numFmt formatCode="0.0&quot;%&quot;"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3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1A3760"/>
                </a:solidFill>
                <a:latin typeface="+mn-lt"/>
              </a:defRPr>
            </a:pPr>
            <a:r>
              <a:rPr sz="1800" b="0" i="0" u="none" strike="noStrike">
                <a:solidFill>
                  <a:srgbClr val="1A3760"/>
                </a:solidFill>
                <a:latin typeface="+mn-lt"/>
              </a:rPr>
              <a:t>Educational Level</a:t>
            </a:r>
          </a:p>
        </c:rich>
      </c:tx>
      <c:layout/>
      <c:overlay val="0"/>
    </c:title>
    <c:autoTitleDeleted val="0"/>
    <c:plotArea>
      <c:layout/>
      <c:barChart>
        <c:barDir val="col"/>
        <c:grouping val="clustered"/>
        <c:varyColors val="0"/>
        <c:ser>
          <c:idx val="0"/>
          <c:order val="0"/>
          <c:tx>
            <c:strRef>
              <c:f>Sheet1!$B$1</c:f>
              <c:strCache>
                <c:ptCount val="1"/>
                <c:pt idx="0">
                  <c:v>%</c:v>
                </c:pt>
              </c:strCache>
            </c:strRef>
          </c:tx>
          <c:spPr>
            <a:solidFill>
              <a:srgbClr val="1A3760"/>
            </a:solidFill>
            <a:effectLst/>
          </c:spPr>
          <c:invertIfNegative val="0"/>
          <c:dLbls>
            <c:numFmt formatCode="0.0&quot;%&quot;"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Diploma</c:v>
                  </c:pt>
                  <c:pt idx="1">
                    <c:v>BSN</c:v>
                  </c:pt>
                  <c:pt idx="2">
                    <c:v>MSN</c:v>
                  </c:pt>
                </c:lvl>
              </c:multiLvlStrCache>
            </c:multiLvlStrRef>
          </c:cat>
          <c:val>
            <c:numRef>
              <c:f>Sheet1!$B$2:$B$4</c:f>
              <c:numCache>
                <c:formatCode>General</c:formatCode>
                <c:ptCount val="3"/>
                <c:pt idx="0">
                  <c:v>9.7</c:v>
                </c:pt>
                <c:pt idx="1">
                  <c:v>85</c:v>
                </c:pt>
                <c:pt idx="2">
                  <c:v>5.3</c:v>
                </c:pt>
              </c:numCache>
            </c:numRef>
          </c:val>
        </c:ser>
        <c:dLbls>
          <c:numFmt formatCode="0.0&quot;%&quot;"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1A3760"/>
                </a:solidFill>
                <a:latin typeface="+mn-lt"/>
              </a:defRPr>
            </a:pPr>
            <a:r>
              <a:rPr sz="1800" b="0" i="0" u="none" strike="noStrike">
                <a:solidFill>
                  <a:srgbClr val="1A3760"/>
                </a:solidFill>
                <a:latin typeface="+mn-lt"/>
              </a:rPr>
              <a:t>Years of Nursing Experience</a:t>
            </a:r>
          </a:p>
        </c:rich>
      </c:tx>
      <c:layout/>
      <c:overlay val="0"/>
    </c:title>
    <c:autoTitleDeleted val="0"/>
    <c:plotArea>
      <c:layout/>
      <c:barChart>
        <c:barDir val="col"/>
        <c:grouping val="clustered"/>
        <c:varyColors val="0"/>
        <c:ser>
          <c:idx val="0"/>
          <c:order val="0"/>
          <c:tx>
            <c:strRef>
              <c:f>Sheet1!$B$1</c:f>
              <c:strCache>
                <c:ptCount val="1"/>
                <c:pt idx="0">
                  <c:v>%</c:v>
                </c:pt>
              </c:strCache>
            </c:strRef>
          </c:tx>
          <c:spPr>
            <a:solidFill>
              <a:srgbClr val="4F81BD"/>
            </a:solidFill>
            <a:effectLst/>
          </c:spPr>
          <c:invertIfNegative val="0"/>
          <c:dLbls>
            <c:numFmt formatCode="0.0&quot;%&quot;"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&lt;1</c:v>
                  </c:pt>
                  <c:pt idx="1">
                    <c:v>1–5</c:v>
                  </c:pt>
                  <c:pt idx="2">
                    <c:v>6–10</c:v>
                  </c:pt>
                  <c:pt idx="3">
                    <c:v>11–15</c:v>
                  </c:pt>
                  <c:pt idx="4">
                    <c:v>&gt;15</c:v>
                  </c:pt>
                </c:lvl>
              </c:multiLvlStrCache>
            </c:multiLvlStrRef>
          </c:cat>
          <c:val>
            <c:numRef>
              <c:f>Sheet1!$B$2:$B$6</c:f>
              <c:numCache>
                <c:formatCode>General</c:formatCode>
                <c:ptCount val="5"/>
                <c:pt idx="0">
                  <c:v>1.3</c:v>
                </c:pt>
                <c:pt idx="1">
                  <c:v>32.7</c:v>
                </c:pt>
                <c:pt idx="2">
                  <c:v>25.7</c:v>
                </c:pt>
                <c:pt idx="3">
                  <c:v>17</c:v>
                </c:pt>
                <c:pt idx="4">
                  <c:v>23.3</c:v>
                </c:pt>
              </c:numCache>
            </c:numRef>
          </c:val>
        </c:ser>
        <c:dLbls>
          <c:numFmt formatCode="0.0&quot;%&quot;"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1A3760"/>
                </a:solidFill>
                <a:latin typeface="+mn-lt"/>
              </a:defRPr>
            </a:pPr>
            <a:r>
              <a:rPr sz="1800" b="0" i="0" u="none" strike="noStrike">
                <a:solidFill>
                  <a:srgbClr val="1A3760"/>
                </a:solidFill>
                <a:latin typeface="+mn-lt"/>
              </a:rPr>
              <a:t>Practice Area (top 5)</a:t>
            </a:r>
          </a:p>
        </c:rich>
      </c:tx>
      <c:layout/>
      <c:overlay val="0"/>
    </c:title>
    <c:autoTitleDeleted val="0"/>
    <c:plotArea>
      <c:layout/>
      <c:barChart>
        <c:barDir val="bar"/>
        <c:grouping val="clustered"/>
        <c:varyColors val="0"/>
        <c:ser>
          <c:idx val="0"/>
          <c:order val="0"/>
          <c:tx>
            <c:strRef>
              <c:f>Sheet1!$B$1</c:f>
              <c:strCache>
                <c:ptCount val="1"/>
                <c:pt idx="0">
                  <c:v>%</c:v>
                </c:pt>
              </c:strCache>
            </c:strRef>
          </c:tx>
          <c:spPr>
            <a:solidFill>
              <a:srgbClr val="E3A100"/>
            </a:solidFill>
            <a:effectLst/>
          </c:spPr>
          <c:invertIfNegative val="0"/>
          <c:dLbls>
            <c:numFmt formatCode="0.0&quot;%&quot;"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Pediatrics</c:v>
                  </c:pt>
                  <c:pt idx="1">
                    <c:v>ICU</c:v>
                  </c:pt>
                  <c:pt idx="2">
                    <c:v>Obstetrics &amp; Gynecology</c:v>
                  </c:pt>
                  <c:pt idx="3">
                    <c:v>Medical-Surgical</c:v>
                  </c:pt>
                  <c:pt idx="4">
                    <c:v>NICU / Outpatient</c:v>
                  </c:pt>
                </c:lvl>
              </c:multiLvlStrCache>
            </c:multiLvlStrRef>
          </c:cat>
          <c:val>
            <c:numRef>
              <c:f>Sheet1!$B$2:$B$6</c:f>
              <c:numCache>
                <c:formatCode>General</c:formatCode>
                <c:ptCount val="5"/>
                <c:pt idx="0">
                  <c:v>34</c:v>
                </c:pt>
                <c:pt idx="1">
                  <c:v>23.3</c:v>
                </c:pt>
                <c:pt idx="2">
                  <c:v>12</c:v>
                </c:pt>
                <c:pt idx="3">
                  <c:v>11.7</c:v>
                </c:pt>
                <c:pt idx="4">
                  <c:v>4.3</c:v>
                </c:pt>
              </c:numCache>
            </c:numRef>
          </c:val>
        </c:ser>
        <c:dLbls>
          <c:numFmt formatCode="0.0&quot;%&quot;"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4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2000" b="0" i="0" u="none" strike="noStrike">
                <a:solidFill>
                  <a:srgbClr val="1A3760"/>
                </a:solidFill>
                <a:latin typeface="+mn-lt"/>
              </a:defRPr>
            </a:pPr>
            <a:r>
              <a:rPr sz="2000" b="0" i="0" u="none" strike="noStrike">
                <a:solidFill>
                  <a:srgbClr val="1A3760"/>
                </a:solidFill>
                <a:latin typeface="+mn-lt"/>
              </a:rPr>
              <a:t>Highest- and Lowest-Rated Knowledge Items (Mean)</a:t>
            </a:r>
          </a:p>
        </c:rich>
      </c:tx>
      <c:layout/>
      <c:overlay val="0"/>
    </c:title>
    <c:autoTitleDeleted val="0"/>
    <c:plotArea>
      <c:layout/>
      <c:barChart>
        <c:barDir val="bar"/>
        <c:grouping val="clustered"/>
        <c:varyColors val="0"/>
        <c:ser>
          <c:idx val="0"/>
          <c:order val="0"/>
          <c:tx>
            <c:strRef>
              <c:f>Sheet1!$B$1</c:f>
              <c:strCache>
                <c:ptCount val="1"/>
                <c:pt idx="0">
                  <c:v>Mean</c:v>
                </c:pt>
              </c:strCache>
            </c:strRef>
          </c:tx>
          <c:spPr>
            <a:solidFill>
              <a:srgbClr val="4F81BD"/>
            </a:solidFill>
            <a:effectLst/>
          </c:spPr>
          <c:invertIfNegative val="0"/>
          <c:dLbls>
            <c:numFmt formatCode="0.00" sourceLinked="0"/>
            <c:txPr>
              <a:bodyPr/>
              <a:lstStyle/>
              <a:p>
                <a:pPr>
                  <a:defRPr b="0" i="0" strike="noStrike" sz="15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4F81BD"/>
              </a:solidFill>
              <a:effectLst/>
            </c:spPr>
          </c:dPt>
          <c:dPt>
            <c:idx val="1"/>
            <c:invertIfNegative val="0"/>
            <c:bubble3D val="0"/>
            <c:spPr>
              <a:solidFill>
                <a:srgbClr val="4F81BD"/>
              </a:solidFill>
              <a:effectLst/>
            </c:spPr>
          </c:dPt>
          <c:dPt>
            <c:idx val="2"/>
            <c:invertIfNegative val="0"/>
            <c:bubble3D val="0"/>
            <c:spPr>
              <a:solidFill>
                <a:srgbClr val="4F81BD"/>
              </a:solidFill>
              <a:effectLst/>
            </c:spPr>
          </c:dPt>
          <c:dPt>
            <c:idx val="3"/>
            <c:invertIfNegative val="0"/>
            <c:bubble3D val="0"/>
            <c:spPr>
              <a:solidFill>
                <a:srgbClr val="4F81BD"/>
              </a:solidFill>
              <a:effectLst/>
            </c:spPr>
          </c:dPt>
          <c:dPt>
            <c:idx val="4"/>
            <c:invertIfNegative val="0"/>
            <c:bubble3D val="0"/>
            <c:spPr>
              <a:solidFill>
                <a:srgbClr val="4F81BD"/>
              </a:solidFill>
              <a:effectLst/>
            </c:spPr>
          </c:dPt>
          <c:dPt>
            <c:idx val="5"/>
            <c:invertIfNegative val="0"/>
            <c:bubble3D val="0"/>
            <c:spPr>
              <a:solidFill>
                <a:srgbClr val="E3A100"/>
              </a:solidFill>
              <a:effectLst/>
            </c:spPr>
          </c:dPt>
          <c:dPt>
            <c:idx val="6"/>
            <c:invertIfNegative val="0"/>
            <c:bubble3D val="0"/>
            <c:spPr>
              <a:solidFill>
                <a:srgbClr val="E3A100"/>
              </a:solidFill>
              <a:effectLst/>
            </c:spPr>
          </c:dPt>
          <c:dPt>
            <c:idx val="7"/>
            <c:invertIfNegative val="0"/>
            <c:bubble3D val="0"/>
            <c:spPr>
              <a:solidFill>
                <a:srgbClr val="E3A100"/>
              </a:solidFill>
              <a:effectLst/>
            </c:spPr>
          </c:dPt>
          <c:dPt>
            <c:idx val="8"/>
            <c:invertIfNegative val="0"/>
            <c:bubble3D val="0"/>
            <c:spPr>
              <a:solidFill>
                <a:srgbClr val="E3A100"/>
              </a:solidFill>
              <a:effectLst/>
            </c:spPr>
          </c:dPt>
          <c:dPt>
            <c:idx val="9"/>
            <c:invertIfNegative val="0"/>
            <c:bubble3D val="0"/>
            <c:spPr>
              <a:solidFill>
                <a:srgbClr val="E3A100"/>
              </a:solidFill>
              <a:effectLst/>
            </c:spPr>
          </c:dPt>
          <c:cat>
            <c:multiLvlStrRef>
              <c:f>Sheet1!$A$2:$A$11</c:f>
              <c:multiLvlStrCache>
                <c:ptCount val="10"/>
                <c:lvl>
                  <c:pt idx="0">
                    <c:v>Disaster management is essential to healthcare</c:v>
                  </c:pt>
                  <c:pt idx="1">
                    <c:v>Hospital-specific knowledge of disaster plans</c:v>
                  </c:pt>
                  <c:pt idx="2">
                    <c:v>Disaster drills are frequent enough</c:v>
                  </c:pt>
                  <c:pt idx="3">
                    <c:v>Triage plays a crucial role in disasters</c:v>
                  </c:pt>
                  <c:pt idx="4">
                    <c:v>Interdepartmental coordination is well-managed</c:v>
                  </c:pt>
                  <c:pt idx="5">
                    <c:v>Key components of preparedness are clear</c:v>
                  </c:pt>
                  <c:pt idx="6">
                    <c:v>Understand nurses’ roles in a disaster</c:v>
                  </c:pt>
                  <c:pt idx="7">
                    <c:v>Understand triage principles in mass casualties</c:v>
                  </c:pt>
                  <c:pt idx="8">
                    <c:v>Disaster communication channels are effective</c:v>
                  </c:pt>
                  <c:pt idx="9">
                    <c:v>Know emergency exits and assembly points</c:v>
                  </c:pt>
                </c:lvl>
              </c:multiLvlStrCache>
            </c:multiLvlStrRef>
          </c:cat>
          <c:val>
            <c:numRef>
              <c:f>Sheet1!$B$2:$B$11</c:f>
              <c:numCache>
                <c:formatCode>General</c:formatCode>
                <c:ptCount val="10"/>
                <c:pt idx="0">
                  <c:v>4.19</c:v>
                </c:pt>
                <c:pt idx="1">
                  <c:v>4.19</c:v>
                </c:pt>
                <c:pt idx="2">
                  <c:v>4.19</c:v>
                </c:pt>
                <c:pt idx="3">
                  <c:v>4.19</c:v>
                </c:pt>
                <c:pt idx="4">
                  <c:v>4.19</c:v>
                </c:pt>
                <c:pt idx="5">
                  <c:v>4</c:v>
                </c:pt>
                <c:pt idx="6">
                  <c:v>4</c:v>
                </c:pt>
                <c:pt idx="7">
                  <c:v>4</c:v>
                </c:pt>
                <c:pt idx="8">
                  <c:v>4</c:v>
                </c:pt>
                <c:pt idx="9">
                  <c:v>4</c:v>
                </c:pt>
              </c:numCache>
            </c:numRef>
          </c:val>
        </c:ser>
        <c:dLbls>
          <c:numFmt formatCode="0.00" sourceLinked="0"/>
          <c:txPr>
            <a:bodyPr/>
            <a:lstStyle/>
            <a:p>
              <a:pPr>
                <a:defRPr b="0" i="0" strike="noStrike" sz="1500" u="none">
                  <a:solidFill>
                    <a:srgbClr val="00000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4.3"/>
          <c:min val="3.8"/>
        </c:scaling>
        <c:delete val="0"/>
        <c:axPos val="b"/>
        <c:majorGridlines>
          <c:spPr>
            <a:ln w="12700" cap="flat">
              <a:solidFill>
                <a:srgbClr val="D9D9D9"/>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300" b="0" i="0" u="none" strike="noStrike">
                <a:solidFill>
                  <a:srgbClr val="595959"/>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2000" b="0" i="0" u="none" strike="noStrike">
                <a:solidFill>
                  <a:srgbClr val="1A3760"/>
                </a:solidFill>
                <a:latin typeface="+mn-lt"/>
              </a:defRPr>
            </a:pPr>
            <a:r>
              <a:rPr sz="2000" b="0" i="0" u="none" strike="noStrike">
                <a:solidFill>
                  <a:srgbClr val="1A3760"/>
                </a:solidFill>
                <a:latin typeface="+mn-lt"/>
              </a:rPr>
              <a:t>Highest- and Lowest-Rated Perception Items (Mean)</a:t>
            </a:r>
          </a:p>
        </c:rich>
      </c:tx>
      <c:layout/>
      <c:overlay val="0"/>
    </c:title>
    <c:autoTitleDeleted val="0"/>
    <c:plotArea>
      <c:layout/>
      <c:barChart>
        <c:barDir val="bar"/>
        <c:grouping val="clustered"/>
        <c:varyColors val="0"/>
        <c:ser>
          <c:idx val="0"/>
          <c:order val="0"/>
          <c:tx>
            <c:strRef>
              <c:f>Sheet1!$B$1</c:f>
              <c:strCache>
                <c:ptCount val="1"/>
                <c:pt idx="0">
                  <c:v>Mean</c:v>
                </c:pt>
              </c:strCache>
            </c:strRef>
          </c:tx>
          <c:spPr>
            <a:solidFill>
              <a:srgbClr val="4F81BD"/>
            </a:solidFill>
            <a:effectLst/>
          </c:spPr>
          <c:invertIfNegative val="0"/>
          <c:dLbls>
            <c:numFmt formatCode="0.00" sourceLinked="0"/>
            <c:txPr>
              <a:bodyPr/>
              <a:lstStyle/>
              <a:p>
                <a:pPr>
                  <a:defRPr b="0" i="0" strike="noStrike" sz="15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4F81BD"/>
              </a:solidFill>
              <a:effectLst/>
            </c:spPr>
          </c:dPt>
          <c:dPt>
            <c:idx val="1"/>
            <c:invertIfNegative val="0"/>
            <c:bubble3D val="0"/>
            <c:spPr>
              <a:solidFill>
                <a:srgbClr val="4F81BD"/>
              </a:solidFill>
              <a:effectLst/>
            </c:spPr>
          </c:dPt>
          <c:dPt>
            <c:idx val="2"/>
            <c:invertIfNegative val="0"/>
            <c:bubble3D val="0"/>
            <c:spPr>
              <a:solidFill>
                <a:srgbClr val="4F81BD"/>
              </a:solidFill>
              <a:effectLst/>
            </c:spPr>
          </c:dPt>
          <c:dPt>
            <c:idx val="3"/>
            <c:invertIfNegative val="0"/>
            <c:bubble3D val="0"/>
            <c:spPr>
              <a:solidFill>
                <a:srgbClr val="4F81BD"/>
              </a:solidFill>
              <a:effectLst/>
            </c:spPr>
          </c:dPt>
          <c:dPt>
            <c:idx val="4"/>
            <c:invertIfNegative val="0"/>
            <c:bubble3D val="0"/>
            <c:spPr>
              <a:solidFill>
                <a:srgbClr val="4F81BD"/>
              </a:solidFill>
              <a:effectLst/>
            </c:spPr>
          </c:dPt>
          <c:dPt>
            <c:idx val="5"/>
            <c:invertIfNegative val="0"/>
            <c:bubble3D val="0"/>
            <c:spPr>
              <a:solidFill>
                <a:srgbClr val="E3A100"/>
              </a:solidFill>
              <a:effectLst/>
            </c:spPr>
          </c:dPt>
          <c:dPt>
            <c:idx val="6"/>
            <c:invertIfNegative val="0"/>
            <c:bubble3D val="0"/>
            <c:spPr>
              <a:solidFill>
                <a:srgbClr val="E3A100"/>
              </a:solidFill>
              <a:effectLst/>
            </c:spPr>
          </c:dPt>
          <c:dPt>
            <c:idx val="7"/>
            <c:invertIfNegative val="0"/>
            <c:bubble3D val="0"/>
            <c:spPr>
              <a:solidFill>
                <a:srgbClr val="E3A100"/>
              </a:solidFill>
              <a:effectLst/>
            </c:spPr>
          </c:dPt>
          <c:dPt>
            <c:idx val="8"/>
            <c:invertIfNegative val="0"/>
            <c:bubble3D val="0"/>
            <c:spPr>
              <a:solidFill>
                <a:srgbClr val="E3A100"/>
              </a:solidFill>
              <a:effectLst/>
            </c:spPr>
          </c:dPt>
          <c:cat>
            <c:multiLvlStrRef>
              <c:f>Sheet1!$A$2:$A$10</c:f>
              <c:multiLvlStrCache>
                <c:ptCount val="9"/>
                <c:lvl>
                  <c:pt idx="0">
                    <c:v>Satisfied with disaster training received</c:v>
                  </c:pt>
                  <c:pt idx="1">
                    <c:v>Staff mental-health support is in place</c:v>
                  </c:pt>
                  <c:pt idx="2">
                    <c:v>Disaster management is crucial in nursing</c:v>
                  </c:pt>
                  <c:pt idx="3">
                    <c:v>My skills contribute to hospital preparedness</c:v>
                  </c:pt>
                  <c:pt idx="4">
                    <c:v>Personal responsibility to be prepared</c:v>
                  </c:pt>
                  <c:pt idx="5">
                    <c:v>Confident in my performance during a disaster</c:v>
                  </c:pt>
                  <c:pt idx="6">
                    <c:v>Supported by colleagues during a disaster</c:v>
                  </c:pt>
                  <c:pt idx="7">
                    <c:v>Patients’ emotional well-being is addressed</c:v>
                  </c:pt>
                  <c:pt idx="8">
                    <c:v>Motivated to improve my preparedness skills</c:v>
                  </c:pt>
                </c:lvl>
              </c:multiLvlStrCache>
            </c:multiLvlStrRef>
          </c:cat>
          <c:val>
            <c:numRef>
              <c:f>Sheet1!$B$2:$B$10</c:f>
              <c:numCache>
                <c:formatCode>General</c:formatCode>
                <c:ptCount val="9"/>
                <c:pt idx="0">
                  <c:v>4.21</c:v>
                </c:pt>
                <c:pt idx="1">
                  <c:v>4.21</c:v>
                </c:pt>
                <c:pt idx="2">
                  <c:v>4.2</c:v>
                </c:pt>
                <c:pt idx="3">
                  <c:v>4.2</c:v>
                </c:pt>
                <c:pt idx="4">
                  <c:v>4.2</c:v>
                </c:pt>
                <c:pt idx="5">
                  <c:v>4.01</c:v>
                </c:pt>
                <c:pt idx="6">
                  <c:v>4.01</c:v>
                </c:pt>
                <c:pt idx="7">
                  <c:v>4.01</c:v>
                </c:pt>
                <c:pt idx="8">
                  <c:v>4.01</c:v>
                </c:pt>
              </c:numCache>
            </c:numRef>
          </c:val>
        </c:ser>
        <c:dLbls>
          <c:numFmt formatCode="0.00" sourceLinked="0"/>
          <c:txPr>
            <a:bodyPr/>
            <a:lstStyle/>
            <a:p>
              <a:pPr>
                <a:defRPr b="0" i="0" strike="noStrike" sz="1500" u="none">
                  <a:solidFill>
                    <a:srgbClr val="00000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4.3"/>
          <c:min val="3.8"/>
        </c:scaling>
        <c:delete val="0"/>
        <c:axPos val="b"/>
        <c:majorGridlines>
          <c:spPr>
            <a:ln w="12700" cap="flat">
              <a:solidFill>
                <a:srgbClr val="D9D9D9"/>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300" b="0" i="0" u="none" strike="noStrike">
                <a:solidFill>
                  <a:srgbClr val="595959"/>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2000" b="0" i="0" u="none" strike="noStrike">
                <a:solidFill>
                  <a:srgbClr val="1A3760"/>
                </a:solidFill>
                <a:latin typeface="+mn-lt"/>
              </a:defRPr>
            </a:pPr>
            <a:r>
              <a:rPr sz="2000" b="0" i="0" u="none" strike="noStrike">
                <a:solidFill>
                  <a:srgbClr val="1A3760"/>
                </a:solidFill>
                <a:latin typeface="+mn-lt"/>
              </a:rPr>
              <a:t>Highest- and Lowest-Rated Practice Items (Mean)</a:t>
            </a:r>
          </a:p>
        </c:rich>
      </c:tx>
      <c:layout/>
      <c:overlay val="0"/>
    </c:title>
    <c:autoTitleDeleted val="0"/>
    <c:plotArea>
      <c:layout/>
      <c:barChart>
        <c:barDir val="bar"/>
        <c:grouping val="clustered"/>
        <c:varyColors val="0"/>
        <c:ser>
          <c:idx val="0"/>
          <c:order val="0"/>
          <c:tx>
            <c:strRef>
              <c:f>Sheet1!$B$1</c:f>
              <c:strCache>
                <c:ptCount val="1"/>
                <c:pt idx="0">
                  <c:v>Mean</c:v>
                </c:pt>
              </c:strCache>
            </c:strRef>
          </c:tx>
          <c:spPr>
            <a:solidFill>
              <a:srgbClr val="4F81BD"/>
            </a:solidFill>
            <a:effectLst/>
          </c:spPr>
          <c:invertIfNegative val="0"/>
          <c:dLbls>
            <c:numFmt formatCode="0.00" sourceLinked="0"/>
            <c:txPr>
              <a:bodyPr/>
              <a:lstStyle/>
              <a:p>
                <a:pPr>
                  <a:defRPr b="0" i="0" strike="noStrike" sz="15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4F81BD"/>
              </a:solidFill>
              <a:effectLst/>
            </c:spPr>
          </c:dPt>
          <c:dPt>
            <c:idx val="1"/>
            <c:invertIfNegative val="0"/>
            <c:bubble3D val="0"/>
            <c:spPr>
              <a:solidFill>
                <a:srgbClr val="4F81BD"/>
              </a:solidFill>
              <a:effectLst/>
            </c:spPr>
          </c:dPt>
          <c:dPt>
            <c:idx val="2"/>
            <c:invertIfNegative val="0"/>
            <c:bubble3D val="0"/>
            <c:spPr>
              <a:solidFill>
                <a:srgbClr val="4F81BD"/>
              </a:solidFill>
              <a:effectLst/>
            </c:spPr>
          </c:dPt>
          <c:dPt>
            <c:idx val="3"/>
            <c:invertIfNegative val="0"/>
            <c:bubble3D val="0"/>
            <c:spPr>
              <a:solidFill>
                <a:srgbClr val="E3A100"/>
              </a:solidFill>
              <a:effectLst/>
            </c:spPr>
          </c:dPt>
          <c:dPt>
            <c:idx val="4"/>
            <c:invertIfNegative val="0"/>
            <c:bubble3D val="0"/>
            <c:spPr>
              <a:solidFill>
                <a:srgbClr val="E3A100"/>
              </a:solidFill>
              <a:effectLst/>
            </c:spPr>
          </c:dPt>
          <c:dPt>
            <c:idx val="5"/>
            <c:invertIfNegative val="0"/>
            <c:bubble3D val="0"/>
            <c:spPr>
              <a:solidFill>
                <a:srgbClr val="E3A100"/>
              </a:solidFill>
              <a:effectLst/>
            </c:spPr>
          </c:dPt>
          <c:dPt>
            <c:idx val="6"/>
            <c:invertIfNegative val="0"/>
            <c:bubble3D val="0"/>
            <c:spPr>
              <a:solidFill>
                <a:srgbClr val="E3A100"/>
              </a:solidFill>
              <a:effectLst/>
            </c:spPr>
          </c:dPt>
          <c:cat>
            <c:multiLvlStrRef>
              <c:f>Sheet1!$A$2:$A$8</c:f>
              <c:multiLvlStrCache>
                <c:ptCount val="7"/>
                <c:lvl>
                  <c:pt idx="0">
                    <c:v>Confident in patient evacuation procedures</c:v>
                  </c:pt>
                  <c:pt idx="1">
                    <c:v>Accurate documentation is crucial</c:v>
                  </c:pt>
                  <c:pt idx="2">
                    <c:v>My role in drills is clearly defined</c:v>
                  </c:pt>
                  <c:pt idx="3">
                    <c:v>I participate regularly in disaster drills</c:v>
                  </c:pt>
                  <c:pt idx="4">
                    <c:v>Supplies and equipment are regularly checked</c:v>
                  </c:pt>
                  <c:pt idx="5">
                    <c:v>Information is documented effectively</c:v>
                  </c:pt>
                  <c:pt idx="6">
                    <c:v>Continuous improvement is needed in practices</c:v>
                  </c:pt>
                </c:lvl>
              </c:multiLvlStrCache>
            </c:multiLvlStrRef>
          </c:cat>
          <c:val>
            <c:numRef>
              <c:f>Sheet1!$B$2:$B$8</c:f>
              <c:numCache>
                <c:formatCode>General</c:formatCode>
                <c:ptCount val="7"/>
                <c:pt idx="0">
                  <c:v>4.21</c:v>
                </c:pt>
                <c:pt idx="1">
                  <c:v>4.21</c:v>
                </c:pt>
                <c:pt idx="2">
                  <c:v>4.2</c:v>
                </c:pt>
                <c:pt idx="3">
                  <c:v>4</c:v>
                </c:pt>
                <c:pt idx="4">
                  <c:v>4</c:v>
                </c:pt>
                <c:pt idx="5">
                  <c:v>4.01</c:v>
                </c:pt>
                <c:pt idx="6">
                  <c:v>4.01</c:v>
                </c:pt>
              </c:numCache>
            </c:numRef>
          </c:val>
        </c:ser>
        <c:dLbls>
          <c:numFmt formatCode="0.00" sourceLinked="0"/>
          <c:txPr>
            <a:bodyPr/>
            <a:lstStyle/>
            <a:p>
              <a:pPr>
                <a:defRPr b="0" i="0" strike="noStrike" sz="1500" u="none">
                  <a:solidFill>
                    <a:srgbClr val="00000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4.3"/>
          <c:min val="3.8"/>
        </c:scaling>
        <c:delete val="0"/>
        <c:axPos val="b"/>
        <c:majorGridlines>
          <c:spPr>
            <a:ln w="12700" cap="flat">
              <a:solidFill>
                <a:srgbClr val="D9D9D9"/>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300" b="0" i="0" u="none" strike="noStrike">
                <a:solidFill>
                  <a:srgbClr val="595959"/>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2000" b="0" i="0" u="none" strike="noStrike">
                <a:solidFill>
                  <a:srgbClr val="1A3760"/>
                </a:solidFill>
                <a:latin typeface="+mn-lt"/>
              </a:defRPr>
            </a:pPr>
            <a:r>
              <a:rPr sz="2000" b="0" i="0" u="none" strike="noStrike">
                <a:solidFill>
                  <a:srgbClr val="1A3760"/>
                </a:solidFill>
                <a:latin typeface="+mn-lt"/>
              </a:rPr>
              <a:t>Mean Scores by Gender (Independent-Samples t Test)</a:t>
            </a:r>
          </a:p>
        </c:rich>
      </c:tx>
      <c:layout/>
      <c:overlay val="0"/>
    </c:title>
    <c:autoTitleDeleted val="0"/>
    <c:plotArea>
      <c:layout/>
      <c:barChart>
        <c:barDir val="col"/>
        <c:grouping val="clustered"/>
        <c:varyColors val="0"/>
        <c:ser>
          <c:idx val="0"/>
          <c:order val="0"/>
          <c:tx>
            <c:strRef>
              <c:f>Sheet1!$B$1</c:f>
              <c:strCache>
                <c:ptCount val="1"/>
                <c:pt idx="0">
                  <c:v>Male (n = 115)</c:v>
                </c:pt>
              </c:strCache>
            </c:strRef>
          </c:tx>
          <c:spPr>
            <a:solidFill>
              <a:srgbClr val="1A3760"/>
            </a:solidFill>
            <a:effectLst/>
          </c:spPr>
          <c:invertIfNegative val="0"/>
          <c:dLbls>
            <c:numFmt formatCode="0.00"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Self-Perceived Knowledge</c:v>
                  </c:pt>
                  <c:pt idx="1">
                    <c:v>Perception</c:v>
                  </c:pt>
                  <c:pt idx="2">
                    <c:v>Self-Reported Practice</c:v>
                  </c:pt>
                </c:lvl>
              </c:multiLvlStrCache>
            </c:multiLvlStrRef>
          </c:cat>
          <c:val>
            <c:numRef>
              <c:f>Sheet1!$B$2:$B$4</c:f>
              <c:numCache>
                <c:formatCode>General</c:formatCode>
                <c:ptCount val="3"/>
                <c:pt idx="0">
                  <c:v>62.3</c:v>
                </c:pt>
                <c:pt idx="1">
                  <c:v>58.35</c:v>
                </c:pt>
                <c:pt idx="2">
                  <c:v>58.2</c:v>
                </c:pt>
              </c:numCache>
            </c:numRef>
          </c:val>
        </c:ser>
        <c:ser>
          <c:idx val="1"/>
          <c:order val="1"/>
          <c:tx>
            <c:strRef>
              <c:f>Sheet1!$C$1</c:f>
              <c:strCache>
                <c:ptCount val="1"/>
                <c:pt idx="0">
                  <c:v>Female (n = 185)</c:v>
                </c:pt>
              </c:strCache>
            </c:strRef>
          </c:tx>
          <c:spPr>
            <a:solidFill>
              <a:srgbClr val="4F81BD"/>
            </a:solidFill>
            <a:effectLst/>
          </c:spPr>
          <c:invertIfNegative val="0"/>
          <c:dLbls>
            <c:numFmt formatCode="0.00"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Self-Perceived Knowledge</c:v>
                  </c:pt>
                  <c:pt idx="1">
                    <c:v>Perception</c:v>
                  </c:pt>
                  <c:pt idx="2">
                    <c:v>Self-Reported Practice</c:v>
                  </c:pt>
                </c:lvl>
              </c:multiLvlStrCache>
            </c:multiLvlStrRef>
          </c:cat>
          <c:val>
            <c:numRef>
              <c:f>Sheet1!$C$2:$C$4</c:f>
              <c:numCache>
                <c:formatCode>General</c:formatCode>
                <c:ptCount val="3"/>
                <c:pt idx="0">
                  <c:v>61.06</c:v>
                </c:pt>
                <c:pt idx="1">
                  <c:v>57.11</c:v>
                </c:pt>
                <c:pt idx="2">
                  <c:v>56.42</c:v>
                </c:pt>
              </c:numCache>
            </c:numRef>
          </c:val>
        </c:ser>
        <c:dLbls>
          <c:numFmt formatCode="0.00"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66"/>
          <c:min val="50"/>
        </c:scaling>
        <c:delete val="0"/>
        <c:axPos val="l"/>
        <c:majorGridlines>
          <c:spPr>
            <a:ln w="12700" cap="flat">
              <a:solidFill>
                <a:srgbClr val="D9D9D9"/>
              </a:solidFill>
              <a:prstDash val="solid"/>
              <a:round/>
            </a:ln>
          </c:spPr>
        </c:majorGridlines>
        <c:title>
          <c:tx>
            <c:rich>
              <a:bodyPr/>
              <a:lstStyle/>
              <a:p>
                <a:pPr>
                  <a:defRPr sz="1400" b="0" i="0" u="none" strike="noStrike">
                    <a:solidFill>
                      <a:srgbClr val="595959"/>
                    </a:solidFill>
                    <a:latin typeface="+mn-lt"/>
                  </a:defRPr>
                </a:pPr>
                <a:r>
                  <a:rPr sz="1400" b="0" i="0" u="none" strike="noStrike">
                    <a:solidFill>
                      <a:srgbClr val="595959"/>
                    </a:solidFill>
                    <a:latin typeface="+mn-lt"/>
                  </a:rPr>
                  <a:t>Mean score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600">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2000" b="0" i="0" u="none" strike="noStrike">
                <a:solidFill>
                  <a:srgbClr val="1A3760"/>
                </a:solidFill>
                <a:latin typeface="+mn-lt"/>
              </a:defRPr>
            </a:pPr>
            <a:r>
              <a:rPr sz="2000" b="0" i="0" u="none" strike="noStrike">
                <a:solidFill>
                  <a:srgbClr val="1A3760"/>
                </a:solidFill>
                <a:latin typeface="+mn-lt"/>
              </a:rPr>
              <a:t>Mean Scores by Educational Level (One-Way ANOVA)</a:t>
            </a:r>
          </a:p>
        </c:rich>
      </c:tx>
      <c:layout/>
      <c:overlay val="0"/>
    </c:title>
    <c:autoTitleDeleted val="0"/>
    <c:plotArea>
      <c:layout/>
      <c:barChart>
        <c:barDir val="col"/>
        <c:grouping val="clustered"/>
        <c:varyColors val="0"/>
        <c:ser>
          <c:idx val="0"/>
          <c:order val="0"/>
          <c:tx>
            <c:strRef>
              <c:f>Sheet1!$B$1</c:f>
              <c:strCache>
                <c:ptCount val="1"/>
                <c:pt idx="0">
                  <c:v>Diploma (n = 29)</c:v>
                </c:pt>
              </c:strCache>
            </c:strRef>
          </c:tx>
          <c:spPr>
            <a:solidFill>
              <a:srgbClr val="E3A100"/>
            </a:solidFill>
            <a:effectLst/>
          </c:spPr>
          <c:invertIfNegative val="0"/>
          <c:dLbls>
            <c:numFmt formatCode="0.00"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Self-Perceived Knowledge</c:v>
                  </c:pt>
                  <c:pt idx="1">
                    <c:v>Perception</c:v>
                  </c:pt>
                  <c:pt idx="2">
                    <c:v>Self-Reported Practice</c:v>
                  </c:pt>
                </c:lvl>
              </c:multiLvlStrCache>
            </c:multiLvlStrRef>
          </c:cat>
          <c:val>
            <c:numRef>
              <c:f>Sheet1!$B$2:$B$4</c:f>
              <c:numCache>
                <c:formatCode>General</c:formatCode>
                <c:ptCount val="3"/>
                <c:pt idx="0">
                  <c:v>59.5</c:v>
                </c:pt>
                <c:pt idx="1">
                  <c:v>55.8</c:v>
                </c:pt>
                <c:pt idx="2">
                  <c:v>54.9</c:v>
                </c:pt>
              </c:numCache>
            </c:numRef>
          </c:val>
        </c:ser>
        <c:ser>
          <c:idx val="1"/>
          <c:order val="1"/>
          <c:tx>
            <c:strRef>
              <c:f>Sheet1!$C$1</c:f>
              <c:strCache>
                <c:ptCount val="1"/>
                <c:pt idx="0">
                  <c:v>BSN (n = 255)</c:v>
                </c:pt>
              </c:strCache>
            </c:strRef>
          </c:tx>
          <c:spPr>
            <a:solidFill>
              <a:srgbClr val="4F81BD"/>
            </a:solidFill>
            <a:effectLst/>
          </c:spPr>
          <c:invertIfNegative val="0"/>
          <c:dLbls>
            <c:numFmt formatCode="0.00"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Self-Perceived Knowledge</c:v>
                  </c:pt>
                  <c:pt idx="1">
                    <c:v>Perception</c:v>
                  </c:pt>
                  <c:pt idx="2">
                    <c:v>Self-Reported Practice</c:v>
                  </c:pt>
                </c:lvl>
              </c:multiLvlStrCache>
            </c:multiLvlStrRef>
          </c:cat>
          <c:val>
            <c:numRef>
              <c:f>Sheet1!$C$2:$C$4</c:f>
              <c:numCache>
                <c:formatCode>General</c:formatCode>
                <c:ptCount val="3"/>
                <c:pt idx="0">
                  <c:v>61.75</c:v>
                </c:pt>
                <c:pt idx="1">
                  <c:v>57.78</c:v>
                </c:pt>
                <c:pt idx="2">
                  <c:v>57.36</c:v>
                </c:pt>
              </c:numCache>
            </c:numRef>
          </c:val>
        </c:ser>
        <c:ser>
          <c:idx val="2"/>
          <c:order val="2"/>
          <c:tx>
            <c:strRef>
              <c:f>Sheet1!$D$1</c:f>
              <c:strCache>
                <c:ptCount val="1"/>
                <c:pt idx="0">
                  <c:v>MSN (n = 16)</c:v>
                </c:pt>
              </c:strCache>
            </c:strRef>
          </c:tx>
          <c:spPr>
            <a:solidFill>
              <a:srgbClr val="1A3760"/>
            </a:solidFill>
            <a:effectLst/>
          </c:spPr>
          <c:invertIfNegative val="0"/>
          <c:dLbls>
            <c:numFmt formatCode="0.00"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Self-Perceived Knowledge</c:v>
                  </c:pt>
                  <c:pt idx="1">
                    <c:v>Perception</c:v>
                  </c:pt>
                  <c:pt idx="2">
                    <c:v>Self-Reported Practice</c:v>
                  </c:pt>
                </c:lvl>
              </c:multiLvlStrCache>
            </c:multiLvlStrRef>
          </c:cat>
          <c:val>
            <c:numRef>
              <c:f>Sheet1!$D$2:$D$4</c:f>
              <c:numCache>
                <c:formatCode>General</c:formatCode>
                <c:ptCount val="3"/>
                <c:pt idx="0">
                  <c:v>63.77</c:v>
                </c:pt>
                <c:pt idx="1">
                  <c:v>59.68</c:v>
                </c:pt>
                <c:pt idx="2">
                  <c:v>59.75</c:v>
                </c:pt>
              </c:numCache>
            </c:numRef>
          </c:val>
        </c:ser>
        <c:dLbls>
          <c:numFmt formatCode="0.00" sourceLinked="0"/>
          <c:txPr>
            <a:bodyPr/>
            <a:lstStyle/>
            <a:p>
              <a:pPr>
                <a:defRPr b="0" i="0" strike="noStrike" sz="14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66"/>
          <c:min val="50"/>
        </c:scaling>
        <c:delete val="0"/>
        <c:axPos val="l"/>
        <c:majorGridlines>
          <c:spPr>
            <a:ln w="12700" cap="flat">
              <a:solidFill>
                <a:srgbClr val="D9D9D9"/>
              </a:solidFill>
              <a:prstDash val="solid"/>
              <a:round/>
            </a:ln>
          </c:spPr>
        </c:majorGridlines>
        <c:title>
          <c:tx>
            <c:rich>
              <a:bodyPr/>
              <a:lstStyle/>
              <a:p>
                <a:pPr>
                  <a:defRPr sz="1400" b="0" i="0" u="none" strike="noStrike">
                    <a:solidFill>
                      <a:srgbClr val="595959"/>
                    </a:solidFill>
                    <a:latin typeface="+mn-lt"/>
                  </a:defRPr>
                </a:pPr>
                <a:r>
                  <a:rPr sz="1400" b="0" i="0" u="none" strike="noStrike">
                    <a:solidFill>
                      <a:srgbClr val="595959"/>
                    </a:solidFill>
                    <a:latin typeface="+mn-lt"/>
                  </a:rPr>
                  <a:t>Mean score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6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SU Title">
    <p:bg>
      <p:bgPr>
        <a:solidFill>
          <a:srgbClr val="FFFFFF"/>
        </a:solidFill>
      </p:bgPr>
    </p:bg>
    <p:spTree>
      <p:nvGrpSpPr>
        <p:cNvPr id="1" name=""/>
        <p:cNvGrpSpPr/>
        <p:nvPr/>
      </p:nvGrpSpPr>
      <p:grpSpPr>
        <a:xfrm>
          <a:off x="0" y="0"/>
          <a:ext cx="0" cy="0"/>
          <a:chOff x="0" y="0"/>
          <a:chExt cx="0" cy="0"/>
        </a:xfrm>
      </p:grpSpPr>
      <p:pic>
        <p:nvPicPr>
          <p:cNvPr id="2" name="Image 0" descr="/tmp/claude-0/-home-user-CIPC/1ef487fd-4d6c-5dcb-aba6-fa5466b3c339/scratchpad/build/assets/ksu_logo.jpeg">    </p:cNvPr>
          <p:cNvPicPr>
            <a:picLocks noChangeAspect="1"/>
          </p:cNvPicPr>
          <p:nvPr/>
        </p:nvPicPr>
        <p:blipFill>
          <a:blip r:embed="rId1"/>
          <a:stretch>
            <a:fillRect/>
          </a:stretch>
        </p:blipFill>
        <p:spPr>
          <a:xfrm>
            <a:off x="14776704" y="0"/>
            <a:ext cx="3483864" cy="1545336"/>
          </a:xfrm>
          <a:prstGeom prst="rect">
            <a:avLst/>
          </a:prstGeom>
        </p:spPr>
      </p:pic>
      <p:sp>
        <p:nvSpPr>
          <p:cNvPr id="3" name="Shape 0"/>
          <p:cNvSpPr/>
          <p:nvPr/>
        </p:nvSpPr>
        <p:spPr>
          <a:xfrm>
            <a:off x="0" y="9646920"/>
            <a:ext cx="18288000" cy="0"/>
          </a:xfrm>
          <a:prstGeom prst="line">
            <a:avLst/>
          </a:prstGeom>
          <a:noFill/>
          <a:ln w="19050">
            <a:solidFill>
              <a:srgbClr val="333333"/>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SU Content">
    <p:bg>
      <p:bgPr>
        <a:solidFill>
          <a:srgbClr val="FFFFFF"/>
        </a:solidFill>
      </p:bgPr>
    </p:bg>
    <p:spTree>
      <p:nvGrpSpPr>
        <p:cNvPr id="1" name=""/>
        <p:cNvGrpSpPr/>
        <p:nvPr/>
      </p:nvGrpSpPr>
      <p:grpSpPr>
        <a:xfrm>
          <a:off x="0" y="0"/>
          <a:ext cx="0" cy="0"/>
          <a:chOff x="0" y="0"/>
          <a:chExt cx="0" cy="0"/>
        </a:xfrm>
      </p:grpSpPr>
      <p:pic>
        <p:nvPicPr>
          <p:cNvPr id="2" name="Image 0" descr="/tmp/claude-0/-home-user-CIPC/1ef487fd-4d6c-5dcb-aba6-fa5466b3c339/scratchpad/build/assets/ksu_logo.jpeg">    </p:cNvPr>
          <p:cNvPicPr>
            <a:picLocks noChangeAspect="1"/>
          </p:cNvPicPr>
          <p:nvPr/>
        </p:nvPicPr>
        <p:blipFill>
          <a:blip r:embed="rId1"/>
          <a:stretch>
            <a:fillRect/>
          </a:stretch>
        </p:blipFill>
        <p:spPr>
          <a:xfrm>
            <a:off x="14776704" y="0"/>
            <a:ext cx="3483864" cy="1545336"/>
          </a:xfrm>
          <a:prstGeom prst="rect">
            <a:avLst/>
          </a:prstGeom>
        </p:spPr>
      </p:pic>
      <p:pic>
        <p:nvPicPr>
          <p:cNvPr id="3" name="Image 1" descr="/tmp/claude-0/-home-user-CIPC/1ef487fd-4d6c-5dcb-aba6-fa5466b3c339/scratchpad/build/assets/band.png">    </p:cNvPr>
          <p:cNvPicPr>
            <a:picLocks noChangeAspect="1"/>
          </p:cNvPicPr>
          <p:nvPr/>
        </p:nvPicPr>
        <p:blipFill>
          <a:blip r:embed="rId2"/>
          <a:stretch>
            <a:fillRect/>
          </a:stretch>
        </p:blipFill>
        <p:spPr>
          <a:xfrm>
            <a:off x="0" y="9601200"/>
            <a:ext cx="18288000" cy="685800"/>
          </a:xfrm>
          <a:prstGeom prst="rect">
            <a:avLst/>
          </a:prstGeom>
        </p:spPr>
      </p:pic>
      <p:sp>
        <p:nvSpPr>
          <p:cNvPr id="4" name="Shape 0"/>
          <p:cNvSpPr/>
          <p:nvPr/>
        </p:nvSpPr>
        <p:spPr>
          <a:xfrm>
            <a:off x="0" y="868680"/>
            <a:ext cx="685800" cy="960120"/>
          </a:xfrm>
          <a:prstGeom prst="rect">
            <a:avLst/>
          </a:prstGeom>
          <a:solidFill>
            <a:srgbClr val="1A3760"/>
          </a:solidFill>
          <a:ln/>
        </p:spPr>
      </p:sp>
      <p:sp>
        <p:nvSpPr>
          <p:cNvPr id="5" name="Text 1"/>
          <p:cNvSpPr/>
          <p:nvPr>
            <p:ph idx="103" type="title" hasCustomPrompt="1"/>
          </p:nvPr>
        </p:nvSpPr>
        <p:spPr>
          <a:xfrm>
            <a:off x="1097280" y="777240"/>
            <a:ext cx="13350240" cy="1143000"/>
          </a:xfrm>
          <a:prstGeom prst="rect">
            <a:avLst/>
          </a:prstGeom>
          <a:noFill/>
          <a:ln/>
        </p:spPr>
        <p:txBody>
          <a:bodyPr wrap="square" rtlCol="0"/>
          <a:lstStyle>
            <a:lvl1pPr algn="l" indent="0" marL="0">
              <a:buNone/>
              <a:defRPr lang="en-US" sz="5400" b="1"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54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frame"/>
          <p:cNvSpPr/>
          <p:nvPr/>
        </p:nvSpPr>
        <p:spPr>
          <a:xfrm>
            <a:off x="1097280" y="594360"/>
            <a:ext cx="13350240" cy="2606040"/>
          </a:xfrm>
          <a:prstGeom prst="rect">
            <a:avLst/>
          </a:prstGeom>
          <a:solidFill>
            <a:srgbClr val="FFFFFF"/>
          </a:solidFill>
          <a:ln w="12700">
            <a:solidFill>
              <a:srgbClr val="333333"/>
            </a:solidFill>
            <a:prstDash val="solid"/>
          </a:ln>
        </p:spPr>
      </p:sp>
      <p:sp>
        <p:nvSpPr>
          <p:cNvPr id="3" name="Text 1"/>
          <p:cNvSpPr txBox="1"/>
          <p:nvPr/>
        </p:nvSpPr>
        <p:spPr>
          <a:xfrm>
            <a:off x="1371600" y="685800"/>
            <a:ext cx="12801600" cy="2423160"/>
          </a:xfrm>
          <a:prstGeom prst="rect">
            <a:avLst/>
          </a:prstGeom>
          <a:noFill/>
          <a:ln/>
        </p:spPr>
        <p:txBody>
          <a:bodyPr wrap="square" rtlCol="0" anchor="ctr"/>
          <a:lstStyle/>
          <a:p>
            <a:pPr algn="ctr" indent="0" marL="0">
              <a:buNone/>
            </a:pPr>
            <a:r>
              <a:rPr lang="en-US" sz="5000" b="1" dirty="0">
                <a:solidFill>
                  <a:srgbClr val="000000"/>
                </a:solidFill>
                <a:latin typeface="Times New Roman" pitchFamily="34" charset="0"/>
                <a:ea typeface="Times New Roman" pitchFamily="34" charset="-122"/>
                <a:cs typeface="Times New Roman" pitchFamily="34" charset="-120"/>
              </a:rPr>
              <a:t>Assessing Nurses’ Knowledge, Perception, and Practice about Pandemic Disasters</a:t>
            </a:r>
            <a:endParaRPr lang="en-US" sz="5000" dirty="0"/>
          </a:p>
        </p:txBody>
      </p:sp>
      <p:sp>
        <p:nvSpPr>
          <p:cNvPr id="4" name="Text 2"/>
          <p:cNvSpPr txBox="1"/>
          <p:nvPr/>
        </p:nvSpPr>
        <p:spPr>
          <a:xfrm>
            <a:off x="2743200" y="3611880"/>
            <a:ext cx="12801600" cy="5852160"/>
          </a:xfrm>
          <a:prstGeom prst="rect">
            <a:avLst/>
          </a:prstGeom>
          <a:noFill/>
          <a:ln/>
        </p:spPr>
        <p:txBody>
          <a:bodyPr wrap="square" rtlCol="0" anchor="t"/>
          <a:lstStyle/>
          <a:p>
            <a:pPr algn="ctr" indent="0" marL="0">
              <a:spcAft>
                <a:spcPts val="400"/>
              </a:spcAft>
              <a:buNone/>
            </a:pPr>
            <a:r>
              <a:rPr lang="en-US" sz="3800" b="1" dirty="0">
                <a:solidFill>
                  <a:srgbClr val="000000"/>
                </a:solidFill>
                <a:latin typeface="Times New Roman" pitchFamily="34" charset="0"/>
                <a:ea typeface="Times New Roman" pitchFamily="34" charset="-122"/>
                <a:cs typeface="Times New Roman" pitchFamily="34" charset="-120"/>
              </a:rPr>
              <a:t>Samirah Alkhaldi</a:t>
            </a:r>
            <a:endParaRPr lang="en-US" sz="3800" dirty="0"/>
          </a:p>
          <a:p>
            <a:pPr algn="ctr" indent="0" marL="0">
              <a:spcAft>
                <a:spcPts val="400"/>
              </a:spcAft>
              <a:buNone/>
            </a:pPr>
            <a:r>
              <a:rPr lang="en-US" sz="2800" dirty="0">
                <a:solidFill>
                  <a:srgbClr val="000000"/>
                </a:solidFill>
                <a:latin typeface="Times New Roman" pitchFamily="34" charset="0"/>
                <a:ea typeface="Times New Roman" pitchFamily="34" charset="-122"/>
                <a:cs typeface="Times New Roman" pitchFamily="34" charset="-120"/>
              </a:rPr>
              <a:t>ID: 446200992</a:t>
            </a:r>
            <a:endParaRPr lang="en-US" sz="3800" dirty="0"/>
          </a:p>
          <a:p>
            <a:pPr algn="ctr" indent="0" marL="0">
              <a:spcAft>
                <a:spcPts val="400"/>
              </a:spcAft>
              <a:buNone/>
            </a:pPr>
            <a:r>
              <a:rPr lang="en-US" sz="2800" dirty="0">
                <a:solidFill>
                  <a:srgbClr val="000000"/>
                </a:solidFill>
                <a:latin typeface="Times New Roman" pitchFamily="34" charset="0"/>
                <a:ea typeface="Times New Roman" pitchFamily="34" charset="-122"/>
                <a:cs typeface="Times New Roman" pitchFamily="34" charset="-120"/>
              </a:rPr>
              <a:t>Master Thesis Defense</a:t>
            </a:r>
            <a:endParaRPr lang="en-US" sz="3800" dirty="0"/>
          </a:p>
          <a:p>
            <a:pPr algn="ctr" indent="0" marL="0">
              <a:spcAft>
                <a:spcPts val="1800"/>
              </a:spcAft>
              <a:buNone/>
            </a:pPr>
            <a:r>
              <a:rPr lang="en-US" sz="2800" dirty="0">
                <a:solidFill>
                  <a:srgbClr val="000000"/>
                </a:solidFill>
                <a:latin typeface="Times New Roman" pitchFamily="34" charset="0"/>
                <a:ea typeface="Times New Roman" pitchFamily="34" charset="-122"/>
                <a:cs typeface="Times New Roman" pitchFamily="34" charset="-120"/>
              </a:rPr>
              <a:t>College of Nursing, King Saud University</a:t>
            </a:r>
            <a:endParaRPr lang="en-US" sz="3800" dirty="0"/>
          </a:p>
          <a:p>
            <a:pPr algn="ctr" indent="0" marL="0">
              <a:spcAft>
                <a:spcPts val="400"/>
              </a:spcAft>
              <a:buNone/>
            </a:pPr>
            <a:r>
              <a:rPr lang="en-US" sz="2600" b="1" dirty="0">
                <a:solidFill>
                  <a:srgbClr val="1A3760"/>
                </a:solidFill>
                <a:latin typeface="Times New Roman" pitchFamily="34" charset="0"/>
                <a:ea typeface="Times New Roman" pitchFamily="34" charset="-122"/>
                <a:cs typeface="Times New Roman" pitchFamily="34" charset="-120"/>
              </a:rPr>
              <a:t>Thesis Supervisor</a:t>
            </a:r>
            <a:endParaRPr lang="en-US" sz="3800" dirty="0"/>
          </a:p>
          <a:p>
            <a:pPr algn="ctr" indent="0" marL="0">
              <a:spcAft>
                <a:spcPts val="1400"/>
              </a:spcAft>
              <a:buNone/>
            </a:pPr>
            <a:r>
              <a:rPr lang="en-US" sz="2800" dirty="0">
                <a:solidFill>
                  <a:srgbClr val="000000"/>
                </a:solidFill>
                <a:latin typeface="Times New Roman" pitchFamily="34" charset="0"/>
                <a:ea typeface="Times New Roman" pitchFamily="34" charset="-122"/>
                <a:cs typeface="Times New Roman" pitchFamily="34" charset="-120"/>
              </a:rPr>
              <a:t>Prof. Ahmad Aboshaiqah</a:t>
            </a:r>
            <a:endParaRPr lang="en-US" sz="3800" dirty="0"/>
          </a:p>
          <a:p>
            <a:pPr algn="ctr" indent="0" marL="0">
              <a:spcAft>
                <a:spcPts val="400"/>
              </a:spcAft>
              <a:buNone/>
            </a:pPr>
            <a:r>
              <a:rPr lang="en-US" sz="2400" dirty="0">
                <a:solidFill>
                  <a:srgbClr val="404040"/>
                </a:solidFill>
                <a:latin typeface="Times New Roman" pitchFamily="34" charset="0"/>
                <a:ea typeface="Times New Roman" pitchFamily="34" charset="-122"/>
                <a:cs typeface="Times New Roman" pitchFamily="34" charset="-120"/>
              </a:rPr>
              <a:t>(1448H) – (2026G)</a:t>
            </a:r>
            <a:endParaRPr lang="en-US" sz="3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Introduction</a:t>
            </a:r>
            <a:endParaRPr lang="en-US" sz="5400" dirty="0"/>
          </a:p>
        </p:txBody>
      </p:sp>
      <p:sp>
        <p:nvSpPr>
          <p:cNvPr id="3" name="Text 1"/>
          <p:cNvSpPr txBox="1"/>
          <p:nvPr/>
        </p:nvSpPr>
        <p:spPr>
          <a:xfrm>
            <a:off x="1097280" y="2286000"/>
            <a:ext cx="9875520" cy="6949440"/>
          </a:xfrm>
          <a:prstGeom prst="rect">
            <a:avLst/>
          </a:prstGeom>
          <a:noFill/>
          <a:ln/>
        </p:spPr>
        <p:txBody>
          <a:bodyPr wrap="square" rtlCol="0" anchor="t"/>
          <a:lstStyle/>
          <a:p>
            <a:pPr marL="342900" indent="-342900">
              <a:spcAft>
                <a:spcPts val="1800"/>
              </a:spcAft>
              <a:buSzPct val="100000"/>
              <a:buChar char="•"/>
            </a:pPr>
            <a:r>
              <a:rPr lang="en-US" sz="2700" dirty="0">
                <a:solidFill>
                  <a:srgbClr val="000000"/>
                </a:solidFill>
                <a:latin typeface="Times New Roman" pitchFamily="34" charset="0"/>
                <a:ea typeface="Times New Roman" pitchFamily="34" charset="-122"/>
                <a:cs typeface="Times New Roman" pitchFamily="34" charset="-120"/>
              </a:rPr>
              <a:t>Pandemic disasters are emerging as defining challenges to global public health in the 21st century, revealing gaps in health-system preparation and response.</a:t>
            </a:r>
            <a:endParaRPr lang="en-US" sz="2700" dirty="0"/>
          </a:p>
          <a:p>
            <a:pPr marL="342900" indent="-342900">
              <a:spcAft>
                <a:spcPts val="1800"/>
              </a:spcAft>
              <a:buSzPct val="100000"/>
              <a:buChar char="•"/>
            </a:pPr>
            <a:r>
              <a:rPr lang="en-US" sz="2700" dirty="0">
                <a:solidFill>
                  <a:srgbClr val="000000"/>
                </a:solidFill>
                <a:latin typeface="Times New Roman" pitchFamily="34" charset="0"/>
                <a:ea typeface="Times New Roman" pitchFamily="34" charset="-122"/>
                <a:cs typeface="Times New Roman" pitchFamily="34" charset="-120"/>
              </a:rPr>
              <a:t>Nurses, the largest workforce category, shoulder the greatest burden: infection prevention, patient triage, routine and urgent care, and communication with patients and families under intense psychological and physical stress.</a:t>
            </a:r>
            <a:endParaRPr lang="en-US" sz="2700" dirty="0"/>
          </a:p>
          <a:p>
            <a:pPr marL="342900" indent="-342900">
              <a:spcAft>
                <a:spcPts val="1800"/>
              </a:spcAft>
              <a:buSzPct val="100000"/>
              <a:buChar char="•"/>
            </a:pPr>
            <a:r>
              <a:rPr lang="en-US" sz="2700" dirty="0">
                <a:solidFill>
                  <a:srgbClr val="000000"/>
                </a:solidFill>
                <a:latin typeface="Times New Roman" pitchFamily="34" charset="0"/>
                <a:ea typeface="Times New Roman" pitchFamily="34" charset="-122"/>
                <a:cs typeface="Times New Roman" pitchFamily="34" charset="-120"/>
              </a:rPr>
              <a:t>COVID-19 showed that frontline preparedness is uneven, and that assessing the triad of knowledge, perception and practice is important to strengthen nurses’ capacity to manage pandemic disasters.</a:t>
            </a:r>
            <a:endParaRPr lang="en-US" sz="2700" dirty="0"/>
          </a:p>
        </p:txBody>
      </p:sp>
      <p:sp>
        <p:nvSpPr>
          <p:cNvPr id="4" name="triad card"/>
          <p:cNvSpPr/>
          <p:nvPr/>
        </p:nvSpPr>
        <p:spPr>
          <a:xfrm>
            <a:off x="11430000" y="2651760"/>
            <a:ext cx="5852160" cy="6035040"/>
          </a:xfrm>
          <a:prstGeom prst="roundRect">
            <a:avLst>
              <a:gd name="adj" fmla="val 3125"/>
            </a:avLst>
          </a:prstGeom>
          <a:solidFill>
            <a:srgbClr val="D6DDEA"/>
          </a:solidFill>
          <a:ln w="12700">
            <a:solidFill>
              <a:srgbClr val="D6DDEA"/>
            </a:solidFill>
            <a:prstDash val="solid"/>
          </a:ln>
        </p:spPr>
      </p:sp>
      <p:sp>
        <p:nvSpPr>
          <p:cNvPr id="5" name="triad Knowledge"/>
          <p:cNvSpPr/>
          <p:nvPr/>
        </p:nvSpPr>
        <p:spPr>
          <a:xfrm>
            <a:off x="12070080" y="3017520"/>
            <a:ext cx="4572000" cy="731520"/>
          </a:xfrm>
          <a:prstGeom prst="roundRect">
            <a:avLst>
              <a:gd name="adj" fmla="val 18750"/>
            </a:avLst>
          </a:prstGeom>
          <a:solidFill>
            <a:srgbClr val="4F81BD"/>
          </a:solidFill>
          <a:ln w="19050">
            <a:solidFill>
              <a:srgbClr val="FFFFFF"/>
            </a:solidFill>
            <a:prstDash val="solid"/>
          </a:ln>
        </p:spPr>
      </p:sp>
      <p:sp>
        <p:nvSpPr>
          <p:cNvPr id="6" name="Text 4"/>
          <p:cNvSpPr txBox="1"/>
          <p:nvPr/>
        </p:nvSpPr>
        <p:spPr>
          <a:xfrm>
            <a:off x="12070080" y="3017520"/>
            <a:ext cx="4572000" cy="731520"/>
          </a:xfrm>
          <a:prstGeom prst="rect">
            <a:avLst/>
          </a:prstGeom>
          <a:noFill/>
          <a:ln/>
        </p:spPr>
        <p:txBody>
          <a:bodyPr wrap="square"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Knowledge</a:t>
            </a:r>
            <a:endParaRPr lang="en-US" sz="2800" dirty="0"/>
          </a:p>
        </p:txBody>
      </p:sp>
      <p:sp>
        <p:nvSpPr>
          <p:cNvPr id="7" name="triad Perception"/>
          <p:cNvSpPr/>
          <p:nvPr/>
        </p:nvSpPr>
        <p:spPr>
          <a:xfrm>
            <a:off x="12070080" y="3931920"/>
            <a:ext cx="4572000" cy="731520"/>
          </a:xfrm>
          <a:prstGeom prst="roundRect">
            <a:avLst>
              <a:gd name="adj" fmla="val 18750"/>
            </a:avLst>
          </a:prstGeom>
          <a:solidFill>
            <a:srgbClr val="4F81BD"/>
          </a:solidFill>
          <a:ln w="19050">
            <a:solidFill>
              <a:srgbClr val="FFFFFF"/>
            </a:solidFill>
            <a:prstDash val="solid"/>
          </a:ln>
        </p:spPr>
      </p:sp>
      <p:sp>
        <p:nvSpPr>
          <p:cNvPr id="8" name="Text 6"/>
          <p:cNvSpPr txBox="1"/>
          <p:nvPr/>
        </p:nvSpPr>
        <p:spPr>
          <a:xfrm>
            <a:off x="12070080" y="3931920"/>
            <a:ext cx="4572000" cy="731520"/>
          </a:xfrm>
          <a:prstGeom prst="rect">
            <a:avLst/>
          </a:prstGeom>
          <a:noFill/>
          <a:ln/>
        </p:spPr>
        <p:txBody>
          <a:bodyPr wrap="square"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Perception</a:t>
            </a:r>
            <a:endParaRPr lang="en-US" sz="2800" dirty="0"/>
          </a:p>
        </p:txBody>
      </p:sp>
      <p:sp>
        <p:nvSpPr>
          <p:cNvPr id="9" name="triad Practice"/>
          <p:cNvSpPr/>
          <p:nvPr/>
        </p:nvSpPr>
        <p:spPr>
          <a:xfrm>
            <a:off x="12070080" y="4846320"/>
            <a:ext cx="4572000" cy="731520"/>
          </a:xfrm>
          <a:prstGeom prst="roundRect">
            <a:avLst>
              <a:gd name="adj" fmla="val 18750"/>
            </a:avLst>
          </a:prstGeom>
          <a:solidFill>
            <a:srgbClr val="4F81BD"/>
          </a:solidFill>
          <a:ln w="19050">
            <a:solidFill>
              <a:srgbClr val="FFFFFF"/>
            </a:solidFill>
            <a:prstDash val="solid"/>
          </a:ln>
        </p:spPr>
      </p:sp>
      <p:sp>
        <p:nvSpPr>
          <p:cNvPr id="10" name="Text 8"/>
          <p:cNvSpPr txBox="1"/>
          <p:nvPr/>
        </p:nvSpPr>
        <p:spPr>
          <a:xfrm>
            <a:off x="12070080" y="4846320"/>
            <a:ext cx="4572000" cy="731520"/>
          </a:xfrm>
          <a:prstGeom prst="rect">
            <a:avLst/>
          </a:prstGeom>
          <a:noFill/>
          <a:ln/>
        </p:spPr>
        <p:txBody>
          <a:bodyPr wrap="square"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Practice</a:t>
            </a:r>
            <a:endParaRPr lang="en-US" sz="2800" dirty="0"/>
          </a:p>
        </p:txBody>
      </p:sp>
      <p:sp>
        <p:nvSpPr>
          <p:cNvPr id="11" name="Text 9"/>
          <p:cNvSpPr txBox="1"/>
          <p:nvPr/>
        </p:nvSpPr>
        <p:spPr>
          <a:xfrm>
            <a:off x="11795760" y="5852160"/>
            <a:ext cx="5120640" cy="2651760"/>
          </a:xfrm>
          <a:prstGeom prst="rect">
            <a:avLst/>
          </a:prstGeom>
          <a:noFill/>
          <a:ln/>
        </p:spPr>
        <p:txBody>
          <a:bodyPr wrap="square" rtlCol="0" anchor="ctr"/>
          <a:lstStyle/>
          <a:p>
            <a:pPr algn="ctr" indent="0" marL="0">
              <a:buNone/>
            </a:pPr>
            <a:r>
              <a:rPr lang="en-US" sz="2400" i="1" dirty="0">
                <a:solidFill>
                  <a:srgbClr val="000000"/>
                </a:solidFill>
                <a:latin typeface="Times New Roman" pitchFamily="34" charset="0"/>
                <a:ea typeface="Times New Roman" pitchFamily="34" charset="-122"/>
                <a:cs typeface="Times New Roman" pitchFamily="34" charset="-120"/>
              </a:rPr>
              <a:t>An interrelated structure shaping nurses’ response to pandemic disasters; these dimensions do not always coincide.</a:t>
            </a:r>
            <a:endParaRPr lang="en-US" sz="24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Introduction – Saudi and Taif Context</a:t>
            </a:r>
            <a:endParaRPr lang="en-US" sz="5400" dirty="0"/>
          </a:p>
        </p:txBody>
      </p:sp>
      <p:sp>
        <p:nvSpPr>
          <p:cNvPr id="3" name="stat 2,196"/>
          <p:cNvSpPr/>
          <p:nvPr/>
        </p:nvSpPr>
        <p:spPr>
          <a:xfrm>
            <a:off x="1097280" y="2331720"/>
            <a:ext cx="3749040" cy="3931920"/>
          </a:xfrm>
          <a:prstGeom prst="roundRect">
            <a:avLst>
              <a:gd name="adj" fmla="val 4878"/>
            </a:avLst>
          </a:prstGeom>
          <a:solidFill>
            <a:srgbClr val="1A3760"/>
          </a:solidFill>
          <a:ln w="12700">
            <a:solidFill>
              <a:srgbClr val="1A3760"/>
            </a:solidFill>
            <a:prstDash val="solid"/>
          </a:ln>
        </p:spPr>
      </p:sp>
      <p:sp>
        <p:nvSpPr>
          <p:cNvPr id="4" name="Text 2"/>
          <p:cNvSpPr txBox="1"/>
          <p:nvPr/>
        </p:nvSpPr>
        <p:spPr>
          <a:xfrm>
            <a:off x="1280160" y="2423160"/>
            <a:ext cx="3383280" cy="3749040"/>
          </a:xfrm>
          <a:prstGeom prst="rect">
            <a:avLst/>
          </a:prstGeom>
          <a:noFill/>
          <a:ln/>
        </p:spPr>
        <p:txBody>
          <a:bodyPr wrap="square" rtlCol="0" anchor="ctr"/>
          <a:lstStyle/>
          <a:p>
            <a:pPr algn="ctr" indent="0" marL="0">
              <a:buNone/>
            </a:pPr>
            <a:r>
              <a:rPr lang="en-US" sz="6000" b="1" dirty="0">
                <a:solidFill>
                  <a:srgbClr val="FFFFFF"/>
                </a:solidFill>
                <a:latin typeface="Times New Roman" pitchFamily="34" charset="0"/>
                <a:ea typeface="Times New Roman" pitchFamily="34" charset="-122"/>
                <a:cs typeface="Times New Roman" pitchFamily="34" charset="-120"/>
              </a:rPr>
              <a:t>2,196</a:t>
            </a:r>
            <a:endParaRPr lang="en-US" sz="60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of 2,605 global MERS cases (to Aug 2023) occurred in Saudi Arabia</a:t>
            </a:r>
            <a:endParaRPr lang="en-US" sz="6000" dirty="0"/>
          </a:p>
        </p:txBody>
      </p:sp>
      <p:sp>
        <p:nvSpPr>
          <p:cNvPr id="5" name="stat 243,336"/>
          <p:cNvSpPr/>
          <p:nvPr/>
        </p:nvSpPr>
        <p:spPr>
          <a:xfrm>
            <a:off x="5120640" y="2331720"/>
            <a:ext cx="3749040" cy="3931920"/>
          </a:xfrm>
          <a:prstGeom prst="roundRect">
            <a:avLst>
              <a:gd name="adj" fmla="val 4878"/>
            </a:avLst>
          </a:prstGeom>
          <a:solidFill>
            <a:srgbClr val="1A3760"/>
          </a:solidFill>
          <a:ln w="12700">
            <a:solidFill>
              <a:srgbClr val="1A3760"/>
            </a:solidFill>
            <a:prstDash val="solid"/>
          </a:ln>
        </p:spPr>
      </p:sp>
      <p:sp>
        <p:nvSpPr>
          <p:cNvPr id="6" name="Text 4"/>
          <p:cNvSpPr txBox="1"/>
          <p:nvPr/>
        </p:nvSpPr>
        <p:spPr>
          <a:xfrm>
            <a:off x="5303520" y="2423160"/>
            <a:ext cx="3383280" cy="3749040"/>
          </a:xfrm>
          <a:prstGeom prst="rect">
            <a:avLst/>
          </a:prstGeom>
          <a:noFill/>
          <a:ln/>
        </p:spPr>
        <p:txBody>
          <a:bodyPr wrap="square" rtlCol="0" anchor="ctr"/>
          <a:lstStyle/>
          <a:p>
            <a:pPr algn="ctr" indent="0" marL="0">
              <a:buNone/>
            </a:pPr>
            <a:r>
              <a:rPr lang="en-US" sz="6000" b="1" dirty="0">
                <a:solidFill>
                  <a:srgbClr val="FFFFFF"/>
                </a:solidFill>
                <a:latin typeface="Times New Roman" pitchFamily="34" charset="0"/>
                <a:ea typeface="Times New Roman" pitchFamily="34" charset="-122"/>
                <a:cs typeface="Times New Roman" pitchFamily="34" charset="-120"/>
              </a:rPr>
              <a:t>243,336</a:t>
            </a:r>
            <a:endParaRPr lang="en-US" sz="60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nurses across all Saudi health sectors in 2024</a:t>
            </a:r>
            <a:endParaRPr lang="en-US" sz="6000" dirty="0"/>
          </a:p>
        </p:txBody>
      </p:sp>
      <p:sp>
        <p:nvSpPr>
          <p:cNvPr id="7" name="stat 16"/>
          <p:cNvSpPr/>
          <p:nvPr/>
        </p:nvSpPr>
        <p:spPr>
          <a:xfrm>
            <a:off x="9144000" y="2331720"/>
            <a:ext cx="3749040" cy="3931920"/>
          </a:xfrm>
          <a:prstGeom prst="roundRect">
            <a:avLst>
              <a:gd name="adj" fmla="val 4878"/>
            </a:avLst>
          </a:prstGeom>
          <a:solidFill>
            <a:srgbClr val="1A3760"/>
          </a:solidFill>
          <a:ln w="12700">
            <a:solidFill>
              <a:srgbClr val="1A3760"/>
            </a:solidFill>
            <a:prstDash val="solid"/>
          </a:ln>
        </p:spPr>
      </p:sp>
      <p:sp>
        <p:nvSpPr>
          <p:cNvPr id="8" name="Text 6"/>
          <p:cNvSpPr txBox="1"/>
          <p:nvPr/>
        </p:nvSpPr>
        <p:spPr>
          <a:xfrm>
            <a:off x="9326880" y="2423160"/>
            <a:ext cx="3383280" cy="3749040"/>
          </a:xfrm>
          <a:prstGeom prst="rect">
            <a:avLst/>
          </a:prstGeom>
          <a:noFill/>
          <a:ln/>
        </p:spPr>
        <p:txBody>
          <a:bodyPr wrap="square" rtlCol="0" anchor="ctr"/>
          <a:lstStyle/>
          <a:p>
            <a:pPr algn="ctr" indent="0" marL="0">
              <a:buNone/>
            </a:pPr>
            <a:r>
              <a:rPr lang="en-US" sz="6000" b="1" dirty="0">
                <a:solidFill>
                  <a:srgbClr val="FFFFFF"/>
                </a:solidFill>
                <a:latin typeface="Times New Roman" pitchFamily="34" charset="0"/>
                <a:ea typeface="Times New Roman" pitchFamily="34" charset="-122"/>
                <a:cs typeface="Times New Roman" pitchFamily="34" charset="-120"/>
              </a:rPr>
              <a:t>16</a:t>
            </a:r>
            <a:endParaRPr lang="en-US" sz="60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MOH hospitals in the Taif branch, with 2,640 beds</a:t>
            </a:r>
            <a:endParaRPr lang="en-US" sz="6000" dirty="0"/>
          </a:p>
        </p:txBody>
      </p:sp>
      <p:sp>
        <p:nvSpPr>
          <p:cNvPr id="9" name="stat 4,638"/>
          <p:cNvSpPr/>
          <p:nvPr/>
        </p:nvSpPr>
        <p:spPr>
          <a:xfrm>
            <a:off x="13167360" y="2331720"/>
            <a:ext cx="3749040" cy="3931920"/>
          </a:xfrm>
          <a:prstGeom prst="roundRect">
            <a:avLst>
              <a:gd name="adj" fmla="val 4878"/>
            </a:avLst>
          </a:prstGeom>
          <a:solidFill>
            <a:srgbClr val="1A3760"/>
          </a:solidFill>
          <a:ln w="12700">
            <a:solidFill>
              <a:srgbClr val="1A3760"/>
            </a:solidFill>
            <a:prstDash val="solid"/>
          </a:ln>
        </p:spPr>
      </p:sp>
      <p:sp>
        <p:nvSpPr>
          <p:cNvPr id="10" name="Text 8"/>
          <p:cNvSpPr txBox="1"/>
          <p:nvPr/>
        </p:nvSpPr>
        <p:spPr>
          <a:xfrm>
            <a:off x="13350240" y="2423160"/>
            <a:ext cx="3383280" cy="3749040"/>
          </a:xfrm>
          <a:prstGeom prst="rect">
            <a:avLst/>
          </a:prstGeom>
          <a:noFill/>
          <a:ln/>
        </p:spPr>
        <p:txBody>
          <a:bodyPr wrap="square" rtlCol="0" anchor="ctr"/>
          <a:lstStyle/>
          <a:p>
            <a:pPr algn="ctr" indent="0" marL="0">
              <a:buNone/>
            </a:pPr>
            <a:r>
              <a:rPr lang="en-US" sz="6000" b="1" dirty="0">
                <a:solidFill>
                  <a:srgbClr val="FFFFFF"/>
                </a:solidFill>
                <a:latin typeface="Times New Roman" pitchFamily="34" charset="0"/>
                <a:ea typeface="Times New Roman" pitchFamily="34" charset="-122"/>
                <a:cs typeface="Times New Roman" pitchFamily="34" charset="-120"/>
              </a:rPr>
              <a:t>4,638</a:t>
            </a:r>
            <a:endParaRPr lang="en-US" sz="60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nurses and midwives in Taif MOH facilities (176 per 100 beds)</a:t>
            </a:r>
            <a:endParaRPr lang="en-US" sz="6000" dirty="0"/>
          </a:p>
        </p:txBody>
      </p:sp>
      <p:sp>
        <p:nvSpPr>
          <p:cNvPr id="11" name="Text 9"/>
          <p:cNvSpPr txBox="1"/>
          <p:nvPr/>
        </p:nvSpPr>
        <p:spPr>
          <a:xfrm>
            <a:off x="1097280" y="6355080"/>
            <a:ext cx="15910560" cy="411480"/>
          </a:xfrm>
          <a:prstGeom prst="rect">
            <a:avLst/>
          </a:prstGeom>
          <a:noFill/>
          <a:ln/>
        </p:spPr>
        <p:txBody>
          <a:bodyPr wrap="square" lIns="0" tIns="0" rIns="0" bIns="0" rtlCol="0" anchor="t"/>
          <a:lstStyle/>
          <a:p>
            <a:pPr indent="0" marL="0">
              <a:buNone/>
            </a:pPr>
            <a:r>
              <a:rPr lang="en-US" sz="1600" i="1" dirty="0">
                <a:solidFill>
                  <a:srgbClr val="595959"/>
                </a:solidFill>
                <a:latin typeface="Times New Roman" pitchFamily="34" charset="0"/>
                <a:ea typeface="Times New Roman" pitchFamily="34" charset="-122"/>
                <a:cs typeface="Times New Roman" pitchFamily="34" charset="-120"/>
              </a:rPr>
              <a:t>Sources: WHO (2023a); Saudi MOH Statistical Yearbook 2024 (MOH, 2025)</a:t>
            </a:r>
            <a:endParaRPr lang="en-US" sz="1600" dirty="0"/>
          </a:p>
        </p:txBody>
      </p:sp>
      <p:sp>
        <p:nvSpPr>
          <p:cNvPr id="12" name="banner"/>
          <p:cNvSpPr/>
          <p:nvPr/>
        </p:nvSpPr>
        <p:spPr>
          <a:xfrm>
            <a:off x="1097280" y="6995160"/>
            <a:ext cx="15910560" cy="2148840"/>
          </a:xfrm>
          <a:prstGeom prst="rect">
            <a:avLst/>
          </a:prstGeom>
          <a:solidFill>
            <a:srgbClr val="EEF1F7"/>
          </a:solidFill>
          <a:ln w="25400">
            <a:solidFill>
              <a:srgbClr val="1A3760"/>
            </a:solidFill>
            <a:prstDash val="solid"/>
          </a:ln>
        </p:spPr>
      </p:sp>
      <p:sp>
        <p:nvSpPr>
          <p:cNvPr id="13" name="Text 11"/>
          <p:cNvSpPr txBox="1"/>
          <p:nvPr/>
        </p:nvSpPr>
        <p:spPr>
          <a:xfrm>
            <a:off x="1280160" y="6995160"/>
            <a:ext cx="15544800" cy="2148840"/>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Saudi Arabia has strengthened national emergency planning and surveillance, but these efforts succeed only through frontline nurses’ knowledge, confidence and consistent practice. Previous Taif evidence (Brinjee et al., 2021) addressed emergency nurses’ training needs only, not knowledge, perception and practice across governmental hospitals.</a:t>
            </a:r>
            <a:endParaRPr lang="en-US" sz="24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Key Variables</a:t>
            </a:r>
            <a:endParaRPr lang="en-US" sz="5400" dirty="0"/>
          </a:p>
        </p:txBody>
      </p:sp>
      <p:sp>
        <p:nvSpPr>
          <p:cNvPr id="3" name="card Self-Perceived Knowledge"/>
          <p:cNvSpPr/>
          <p:nvPr/>
        </p:nvSpPr>
        <p:spPr>
          <a:xfrm>
            <a:off x="5029200" y="2395728"/>
            <a:ext cx="11978640" cy="1335024"/>
          </a:xfrm>
          <a:prstGeom prst="roundRect">
            <a:avLst>
              <a:gd name="adj" fmla="val 10274"/>
            </a:avLst>
          </a:prstGeom>
          <a:solidFill>
            <a:srgbClr val="D6DDEA"/>
          </a:solidFill>
          <a:ln w="12700">
            <a:solidFill>
              <a:srgbClr val="D6DDEA"/>
            </a:solidFill>
            <a:prstDash val="solid"/>
          </a:ln>
        </p:spPr>
      </p:sp>
      <p:sp>
        <p:nvSpPr>
          <p:cNvPr id="4" name="label Self-Perceived Knowledge"/>
          <p:cNvSpPr/>
          <p:nvPr/>
        </p:nvSpPr>
        <p:spPr>
          <a:xfrm>
            <a:off x="1097280" y="2286000"/>
            <a:ext cx="4206240" cy="1554480"/>
          </a:xfrm>
          <a:prstGeom prst="roundRect">
            <a:avLst>
              <a:gd name="adj" fmla="val 11765"/>
            </a:avLst>
          </a:prstGeom>
          <a:solidFill>
            <a:srgbClr val="4F81BD"/>
          </a:solidFill>
          <a:ln w="19050">
            <a:solidFill>
              <a:srgbClr val="FFFFFF"/>
            </a:solidFill>
            <a:prstDash val="solid"/>
          </a:ln>
        </p:spPr>
      </p:sp>
      <p:sp>
        <p:nvSpPr>
          <p:cNvPr id="5" name="Text 3"/>
          <p:cNvSpPr txBox="1"/>
          <p:nvPr/>
        </p:nvSpPr>
        <p:spPr>
          <a:xfrm>
            <a:off x="1097280" y="2286000"/>
            <a:ext cx="4206240" cy="15544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Self-Perceived Knowledge</a:t>
            </a:r>
            <a:endParaRPr lang="en-US" sz="2800" dirty="0"/>
          </a:p>
        </p:txBody>
      </p:sp>
      <p:sp>
        <p:nvSpPr>
          <p:cNvPr id="6" name="Text 4"/>
          <p:cNvSpPr txBox="1"/>
          <p:nvPr/>
        </p:nvSpPr>
        <p:spPr>
          <a:xfrm>
            <a:off x="5486400" y="2395728"/>
            <a:ext cx="11384280" cy="1335024"/>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Nurses’ self-assessed familiarity, understanding and confidence regarding disaster principles, hospital plans, triage, emergency communication and nursing roles.</a:t>
            </a:r>
            <a:endParaRPr lang="en-US" sz="2300" dirty="0"/>
          </a:p>
        </p:txBody>
      </p:sp>
      <p:sp>
        <p:nvSpPr>
          <p:cNvPr id="7" name="card Perceptions"/>
          <p:cNvSpPr/>
          <p:nvPr/>
        </p:nvSpPr>
        <p:spPr>
          <a:xfrm>
            <a:off x="5029200" y="4133088"/>
            <a:ext cx="11978640" cy="1335024"/>
          </a:xfrm>
          <a:prstGeom prst="roundRect">
            <a:avLst>
              <a:gd name="adj" fmla="val 10274"/>
            </a:avLst>
          </a:prstGeom>
          <a:solidFill>
            <a:srgbClr val="D6DDEA"/>
          </a:solidFill>
          <a:ln w="12700">
            <a:solidFill>
              <a:srgbClr val="D6DDEA"/>
            </a:solidFill>
            <a:prstDash val="solid"/>
          </a:ln>
        </p:spPr>
      </p:sp>
      <p:sp>
        <p:nvSpPr>
          <p:cNvPr id="8" name="label Perceptions"/>
          <p:cNvSpPr/>
          <p:nvPr/>
        </p:nvSpPr>
        <p:spPr>
          <a:xfrm>
            <a:off x="1097280" y="4023360"/>
            <a:ext cx="4206240" cy="1554480"/>
          </a:xfrm>
          <a:prstGeom prst="roundRect">
            <a:avLst>
              <a:gd name="adj" fmla="val 11765"/>
            </a:avLst>
          </a:prstGeom>
          <a:solidFill>
            <a:srgbClr val="4F81BD"/>
          </a:solidFill>
          <a:ln w="19050">
            <a:solidFill>
              <a:srgbClr val="FFFFFF"/>
            </a:solidFill>
            <a:prstDash val="solid"/>
          </a:ln>
        </p:spPr>
      </p:sp>
      <p:sp>
        <p:nvSpPr>
          <p:cNvPr id="9" name="Text 7"/>
          <p:cNvSpPr txBox="1"/>
          <p:nvPr/>
        </p:nvSpPr>
        <p:spPr>
          <a:xfrm>
            <a:off x="1097280" y="4023360"/>
            <a:ext cx="4206240" cy="15544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Perceptions</a:t>
            </a:r>
            <a:endParaRPr lang="en-US" sz="2800" dirty="0"/>
          </a:p>
        </p:txBody>
      </p:sp>
      <p:sp>
        <p:nvSpPr>
          <p:cNvPr id="10" name="Text 8"/>
          <p:cNvSpPr txBox="1"/>
          <p:nvPr/>
        </p:nvSpPr>
        <p:spPr>
          <a:xfrm>
            <a:off x="5486400" y="4133088"/>
            <a:ext cx="11384280" cy="1335024"/>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Nurses’ beliefs, attitudes, confidence, professional responsibility, perceived organizational support and readiness to respond during pandemic disasters.</a:t>
            </a:r>
            <a:endParaRPr lang="en-US" sz="2300" dirty="0"/>
          </a:p>
        </p:txBody>
      </p:sp>
      <p:sp>
        <p:nvSpPr>
          <p:cNvPr id="11" name="card Self-Reported Practice"/>
          <p:cNvSpPr/>
          <p:nvPr/>
        </p:nvSpPr>
        <p:spPr>
          <a:xfrm>
            <a:off x="5029200" y="5870448"/>
            <a:ext cx="11978640" cy="1335024"/>
          </a:xfrm>
          <a:prstGeom prst="roundRect">
            <a:avLst>
              <a:gd name="adj" fmla="val 10274"/>
            </a:avLst>
          </a:prstGeom>
          <a:solidFill>
            <a:srgbClr val="D6DDEA"/>
          </a:solidFill>
          <a:ln w="12700">
            <a:solidFill>
              <a:srgbClr val="D6DDEA"/>
            </a:solidFill>
            <a:prstDash val="solid"/>
          </a:ln>
        </p:spPr>
      </p:sp>
      <p:sp>
        <p:nvSpPr>
          <p:cNvPr id="12" name="label Self-Reported Practice"/>
          <p:cNvSpPr/>
          <p:nvPr/>
        </p:nvSpPr>
        <p:spPr>
          <a:xfrm>
            <a:off x="1097280" y="5760720"/>
            <a:ext cx="4206240" cy="1554480"/>
          </a:xfrm>
          <a:prstGeom prst="roundRect">
            <a:avLst>
              <a:gd name="adj" fmla="val 11765"/>
            </a:avLst>
          </a:prstGeom>
          <a:solidFill>
            <a:srgbClr val="4F81BD"/>
          </a:solidFill>
          <a:ln w="19050">
            <a:solidFill>
              <a:srgbClr val="FFFFFF"/>
            </a:solidFill>
            <a:prstDash val="solid"/>
          </a:ln>
        </p:spPr>
      </p:sp>
      <p:sp>
        <p:nvSpPr>
          <p:cNvPr id="13" name="Text 11"/>
          <p:cNvSpPr txBox="1"/>
          <p:nvPr/>
        </p:nvSpPr>
        <p:spPr>
          <a:xfrm>
            <a:off x="1097280" y="5760720"/>
            <a:ext cx="4206240" cy="15544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Self-Reported Practice</a:t>
            </a:r>
            <a:endParaRPr lang="en-US" sz="2800" dirty="0"/>
          </a:p>
        </p:txBody>
      </p:sp>
      <p:sp>
        <p:nvSpPr>
          <p:cNvPr id="14" name="Text 12"/>
          <p:cNvSpPr txBox="1"/>
          <p:nvPr/>
        </p:nvSpPr>
        <p:spPr>
          <a:xfrm>
            <a:off x="5486400" y="5870448"/>
            <a:ext cx="11384280" cy="1335024"/>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Reported engagement in drills, emergency equipment use, evacuation, documentation, infection control, PPE availability, protocol review and applying lessons learned.</a:t>
            </a:r>
            <a:endParaRPr lang="en-US" sz="2300" dirty="0"/>
          </a:p>
        </p:txBody>
      </p:sp>
      <p:sp>
        <p:nvSpPr>
          <p:cNvPr id="15" name="card Demographic Characteristics"/>
          <p:cNvSpPr/>
          <p:nvPr/>
        </p:nvSpPr>
        <p:spPr>
          <a:xfrm>
            <a:off x="5029200" y="7607808"/>
            <a:ext cx="11978640" cy="1335024"/>
          </a:xfrm>
          <a:prstGeom prst="roundRect">
            <a:avLst>
              <a:gd name="adj" fmla="val 10274"/>
            </a:avLst>
          </a:prstGeom>
          <a:solidFill>
            <a:srgbClr val="D6DDEA"/>
          </a:solidFill>
          <a:ln w="12700">
            <a:solidFill>
              <a:srgbClr val="D6DDEA"/>
            </a:solidFill>
            <a:prstDash val="solid"/>
          </a:ln>
        </p:spPr>
      </p:sp>
      <p:sp>
        <p:nvSpPr>
          <p:cNvPr id="16" name="label Demographic Characteristics"/>
          <p:cNvSpPr/>
          <p:nvPr/>
        </p:nvSpPr>
        <p:spPr>
          <a:xfrm>
            <a:off x="1097280" y="7498080"/>
            <a:ext cx="4206240" cy="1554480"/>
          </a:xfrm>
          <a:prstGeom prst="roundRect">
            <a:avLst>
              <a:gd name="adj" fmla="val 11765"/>
            </a:avLst>
          </a:prstGeom>
          <a:solidFill>
            <a:srgbClr val="4F81BD"/>
          </a:solidFill>
          <a:ln w="19050">
            <a:solidFill>
              <a:srgbClr val="FFFFFF"/>
            </a:solidFill>
            <a:prstDash val="solid"/>
          </a:ln>
        </p:spPr>
      </p:sp>
      <p:sp>
        <p:nvSpPr>
          <p:cNvPr id="17" name="Text 15"/>
          <p:cNvSpPr txBox="1"/>
          <p:nvPr/>
        </p:nvSpPr>
        <p:spPr>
          <a:xfrm>
            <a:off x="1097280" y="7498080"/>
            <a:ext cx="4206240" cy="15544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Demographic Characteristics</a:t>
            </a:r>
            <a:endParaRPr lang="en-US" sz="2800" dirty="0"/>
          </a:p>
        </p:txBody>
      </p:sp>
      <p:sp>
        <p:nvSpPr>
          <p:cNvPr id="18" name="Text 16"/>
          <p:cNvSpPr txBox="1"/>
          <p:nvPr/>
        </p:nvSpPr>
        <p:spPr>
          <a:xfrm>
            <a:off x="5486400" y="7607808"/>
            <a:ext cx="11384280" cy="1335024"/>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Age, gender, marital status, educational level, years of nursing experience and practice area.</a:t>
            </a:r>
            <a:endParaRPr lang="en-US" sz="23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Problem Statement</a:t>
            </a:r>
            <a:endParaRPr lang="en-US" sz="5400" dirty="0"/>
          </a:p>
        </p:txBody>
      </p:sp>
      <p:sp>
        <p:nvSpPr>
          <p:cNvPr id="3" name="Text 1"/>
          <p:cNvSpPr txBox="1"/>
          <p:nvPr/>
        </p:nvSpPr>
        <p:spPr>
          <a:xfrm>
            <a:off x="1097280" y="2377440"/>
            <a:ext cx="15910560" cy="3291840"/>
          </a:xfrm>
          <a:prstGeom prst="rect">
            <a:avLst/>
          </a:prstGeom>
          <a:noFill/>
          <a:ln/>
        </p:spPr>
        <p:txBody>
          <a:bodyPr wrap="square" rtlCol="0" anchor="t"/>
          <a:lstStyle/>
          <a:p>
            <a:pPr marL="342900" indent="-342900">
              <a:spcAft>
                <a:spcPts val="2200"/>
              </a:spcAft>
              <a:buSzPct val="100000"/>
              <a:buChar char="•"/>
            </a:pPr>
            <a:r>
              <a:rPr lang="en-US" sz="3000" dirty="0">
                <a:solidFill>
                  <a:srgbClr val="000000"/>
                </a:solidFill>
                <a:latin typeface="Times New Roman" pitchFamily="34" charset="0"/>
                <a:ea typeface="Times New Roman" pitchFamily="34" charset="-122"/>
                <a:cs typeface="Times New Roman" pitchFamily="34" charset="-120"/>
              </a:rPr>
              <a:t>Despite nurses’ central contribution to pandemic preparedness and response, previous Saudi studies revealed persistent gaps in nurses’ disaster knowledge, training and practical preparedness.</a:t>
            </a:r>
            <a:endParaRPr lang="en-US" sz="3000" dirty="0"/>
          </a:p>
          <a:p>
            <a:pPr marL="342900" indent="-342900">
              <a:spcAft>
                <a:spcPts val="2200"/>
              </a:spcAft>
              <a:buSzPct val="100000"/>
              <a:buChar char="•"/>
            </a:pPr>
            <a:r>
              <a:rPr lang="en-US" sz="3000" dirty="0">
                <a:solidFill>
                  <a:srgbClr val="000000"/>
                </a:solidFill>
                <a:latin typeface="Times New Roman" pitchFamily="34" charset="0"/>
                <a:ea typeface="Times New Roman" pitchFamily="34" charset="-122"/>
                <a:cs typeface="Times New Roman" pitchFamily="34" charset="-120"/>
              </a:rPr>
              <a:t>However, few data exist on nurses’ knowledge, perception and practice regarding pandemic disasters in governmental hospitals in the Taif Region.</a:t>
            </a:r>
            <a:endParaRPr lang="en-US" sz="3000" dirty="0"/>
          </a:p>
        </p:txBody>
      </p:sp>
      <p:sp>
        <p:nvSpPr>
          <p:cNvPr id="4" name="banner"/>
          <p:cNvSpPr/>
          <p:nvPr/>
        </p:nvSpPr>
        <p:spPr>
          <a:xfrm>
            <a:off x="1097280" y="6035040"/>
            <a:ext cx="15910560" cy="2377440"/>
          </a:xfrm>
          <a:prstGeom prst="rect">
            <a:avLst/>
          </a:prstGeom>
          <a:solidFill>
            <a:srgbClr val="EEF1F7"/>
          </a:solidFill>
          <a:ln w="25400">
            <a:solidFill>
              <a:srgbClr val="1A3760"/>
            </a:solidFill>
            <a:prstDash val="solid"/>
          </a:ln>
        </p:spPr>
      </p:sp>
      <p:sp>
        <p:nvSpPr>
          <p:cNvPr id="5" name="Text 3"/>
          <p:cNvSpPr txBox="1"/>
          <p:nvPr/>
        </p:nvSpPr>
        <p:spPr>
          <a:xfrm>
            <a:off x="1280160" y="6035040"/>
            <a:ext cx="15544800" cy="2377440"/>
          </a:xfrm>
          <a:prstGeom prst="rect">
            <a:avLst/>
          </a:prstGeom>
          <a:noFill/>
          <a:ln/>
        </p:spPr>
        <p:txBody>
          <a:bodyPr wrap="square" lIns="50800" tIns="50800" rIns="50800" bIns="50800" rtlCol="0" anchor="ctr"/>
          <a:lstStyle/>
          <a:p>
            <a:pPr indent="0" marL="0">
              <a:buNone/>
            </a:pPr>
            <a:r>
              <a:rPr lang="en-US" sz="2700" dirty="0">
                <a:solidFill>
                  <a:srgbClr val="000000"/>
                </a:solidFill>
                <a:latin typeface="Times New Roman" pitchFamily="34" charset="0"/>
                <a:ea typeface="Times New Roman" pitchFamily="34" charset="-122"/>
                <a:cs typeface="Times New Roman" pitchFamily="34" charset="-120"/>
              </a:rPr>
              <a:t>Without context-specific evidence, healthcare leaders cannot identify preparedness gaps or develop targeted education, simulations and institutional interventions to strengthen nurses’ response to future pandemics.</a:t>
            </a:r>
            <a:endParaRPr lang="en-US" sz="27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Significance of the Study</a:t>
            </a:r>
            <a:endParaRPr lang="en-US" sz="5400" dirty="0"/>
          </a:p>
        </p:txBody>
      </p:sp>
      <p:sp>
        <p:nvSpPr>
          <p:cNvPr id="3" name="sig 1"/>
          <p:cNvSpPr/>
          <p:nvPr/>
        </p:nvSpPr>
        <p:spPr>
          <a:xfrm>
            <a:off x="1097280" y="2286000"/>
            <a:ext cx="7818120" cy="3291840"/>
          </a:xfrm>
          <a:prstGeom prst="roundRect">
            <a:avLst>
              <a:gd name="adj" fmla="val 5556"/>
            </a:avLst>
          </a:prstGeom>
          <a:solidFill>
            <a:srgbClr val="D6DDEA"/>
          </a:solidFill>
          <a:ln w="12700">
            <a:solidFill>
              <a:srgbClr val="D6DDEA"/>
            </a:solidFill>
            <a:prstDash val="solid"/>
          </a:ln>
        </p:spPr>
      </p:sp>
      <p:sp>
        <p:nvSpPr>
          <p:cNvPr id="4" name="num 01"/>
          <p:cNvSpPr/>
          <p:nvPr/>
        </p:nvSpPr>
        <p:spPr>
          <a:xfrm>
            <a:off x="1371600" y="2560320"/>
            <a:ext cx="777240" cy="777240"/>
          </a:xfrm>
          <a:prstGeom prst="ellipse">
            <a:avLst/>
          </a:prstGeom>
          <a:solidFill>
            <a:srgbClr val="1A3760"/>
          </a:solidFill>
          <a:ln w="12700">
            <a:solidFill>
              <a:srgbClr val="1A3760"/>
            </a:solidFill>
            <a:prstDash val="solid"/>
          </a:ln>
        </p:spPr>
      </p:sp>
      <p:sp>
        <p:nvSpPr>
          <p:cNvPr id="5" name="Text 3"/>
          <p:cNvSpPr txBox="1"/>
          <p:nvPr/>
        </p:nvSpPr>
        <p:spPr>
          <a:xfrm>
            <a:off x="1371600" y="256032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01</a:t>
            </a:r>
            <a:endParaRPr lang="en-US" sz="2200" dirty="0"/>
          </a:p>
        </p:txBody>
      </p:sp>
      <p:sp>
        <p:nvSpPr>
          <p:cNvPr id="6" name="Text 4"/>
          <p:cNvSpPr txBox="1"/>
          <p:nvPr/>
        </p:nvSpPr>
        <p:spPr>
          <a:xfrm>
            <a:off x="2331720" y="2651760"/>
            <a:ext cx="6400800" cy="594360"/>
          </a:xfrm>
          <a:prstGeom prst="rect">
            <a:avLst/>
          </a:prstGeom>
          <a:noFill/>
          <a:ln/>
        </p:spPr>
        <p:txBody>
          <a:bodyPr wrap="square" lIns="0" tIns="0" rIns="0" bIns="0" rtlCol="0" anchor="ctr"/>
          <a:lstStyle/>
          <a:p>
            <a:pPr indent="0" marL="0">
              <a:buNone/>
            </a:pPr>
            <a:r>
              <a:rPr lang="en-US" sz="3000" b="1" dirty="0">
                <a:solidFill>
                  <a:srgbClr val="1A3760"/>
                </a:solidFill>
                <a:latin typeface="Times New Roman" pitchFamily="34" charset="0"/>
                <a:ea typeface="Times New Roman" pitchFamily="34" charset="-122"/>
                <a:cs typeface="Times New Roman" pitchFamily="34" charset="-120"/>
              </a:rPr>
              <a:t>Local Evidence</a:t>
            </a:r>
            <a:endParaRPr lang="en-US" sz="3000" dirty="0"/>
          </a:p>
        </p:txBody>
      </p:sp>
      <p:sp>
        <p:nvSpPr>
          <p:cNvPr id="7" name="Text 5"/>
          <p:cNvSpPr txBox="1"/>
          <p:nvPr/>
        </p:nvSpPr>
        <p:spPr>
          <a:xfrm>
            <a:off x="1371600" y="3474720"/>
            <a:ext cx="7269480" cy="1965960"/>
          </a:xfrm>
          <a:prstGeom prst="rect">
            <a:avLst/>
          </a:prstGeom>
          <a:noFill/>
          <a:ln/>
        </p:spPr>
        <p:txBody>
          <a:bodyPr wrap="square" rtlCol="0" anchor="t"/>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Little evidence exists on whether nurses in Taif governmental hospitals have adequate knowledge, positive perceptions and appropriate practices.</a:t>
            </a:r>
            <a:endParaRPr lang="en-US" sz="2400" dirty="0"/>
          </a:p>
        </p:txBody>
      </p:sp>
      <p:sp>
        <p:nvSpPr>
          <p:cNvPr id="8" name="sig 2"/>
          <p:cNvSpPr/>
          <p:nvPr/>
        </p:nvSpPr>
        <p:spPr>
          <a:xfrm>
            <a:off x="9189720" y="2286000"/>
            <a:ext cx="7818120" cy="3291840"/>
          </a:xfrm>
          <a:prstGeom prst="roundRect">
            <a:avLst>
              <a:gd name="adj" fmla="val 5556"/>
            </a:avLst>
          </a:prstGeom>
          <a:solidFill>
            <a:srgbClr val="D6DDEA"/>
          </a:solidFill>
          <a:ln w="12700">
            <a:solidFill>
              <a:srgbClr val="D6DDEA"/>
            </a:solidFill>
            <a:prstDash val="solid"/>
          </a:ln>
        </p:spPr>
      </p:sp>
      <p:sp>
        <p:nvSpPr>
          <p:cNvPr id="9" name="num 02"/>
          <p:cNvSpPr/>
          <p:nvPr/>
        </p:nvSpPr>
        <p:spPr>
          <a:xfrm>
            <a:off x="9464040" y="2560320"/>
            <a:ext cx="777240" cy="777240"/>
          </a:xfrm>
          <a:prstGeom prst="ellipse">
            <a:avLst/>
          </a:prstGeom>
          <a:solidFill>
            <a:srgbClr val="1A3760"/>
          </a:solidFill>
          <a:ln w="12700">
            <a:solidFill>
              <a:srgbClr val="1A3760"/>
            </a:solidFill>
            <a:prstDash val="solid"/>
          </a:ln>
        </p:spPr>
      </p:sp>
      <p:sp>
        <p:nvSpPr>
          <p:cNvPr id="10" name="Text 8"/>
          <p:cNvSpPr txBox="1"/>
          <p:nvPr/>
        </p:nvSpPr>
        <p:spPr>
          <a:xfrm>
            <a:off x="9464040" y="256032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02</a:t>
            </a:r>
            <a:endParaRPr lang="en-US" sz="2200" dirty="0"/>
          </a:p>
        </p:txBody>
      </p:sp>
      <p:sp>
        <p:nvSpPr>
          <p:cNvPr id="11" name="Text 9"/>
          <p:cNvSpPr txBox="1"/>
          <p:nvPr/>
        </p:nvSpPr>
        <p:spPr>
          <a:xfrm>
            <a:off x="10424160" y="2651760"/>
            <a:ext cx="6400800" cy="594360"/>
          </a:xfrm>
          <a:prstGeom prst="rect">
            <a:avLst/>
          </a:prstGeom>
          <a:noFill/>
          <a:ln/>
        </p:spPr>
        <p:txBody>
          <a:bodyPr wrap="square" lIns="0" tIns="0" rIns="0" bIns="0" rtlCol="0" anchor="ctr"/>
          <a:lstStyle/>
          <a:p>
            <a:pPr indent="0" marL="0">
              <a:buNone/>
            </a:pPr>
            <a:r>
              <a:rPr lang="en-US" sz="3000" b="1" dirty="0">
                <a:solidFill>
                  <a:srgbClr val="1A3760"/>
                </a:solidFill>
                <a:latin typeface="Times New Roman" pitchFamily="34" charset="0"/>
                <a:ea typeface="Times New Roman" pitchFamily="34" charset="-122"/>
                <a:cs typeface="Times New Roman" pitchFamily="34" charset="-120"/>
              </a:rPr>
              <a:t>Staff-Nurse Focus</a:t>
            </a:r>
            <a:endParaRPr lang="en-US" sz="3000" dirty="0"/>
          </a:p>
        </p:txBody>
      </p:sp>
      <p:sp>
        <p:nvSpPr>
          <p:cNvPr id="12" name="Text 10"/>
          <p:cNvSpPr txBox="1"/>
          <p:nvPr/>
        </p:nvSpPr>
        <p:spPr>
          <a:xfrm>
            <a:off x="9464040" y="3474720"/>
            <a:ext cx="7269480" cy="1965960"/>
          </a:xfrm>
          <a:prstGeom prst="rect">
            <a:avLst/>
          </a:prstGeom>
          <a:noFill/>
          <a:ln/>
        </p:spPr>
        <p:txBody>
          <a:bodyPr wrap="square" rtlCol="0" anchor="t"/>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Previous research focused on overall disaster preparedness, emergency nurses, or healthcare professionals as a whole.</a:t>
            </a:r>
            <a:endParaRPr lang="en-US" sz="2400" dirty="0"/>
          </a:p>
        </p:txBody>
      </p:sp>
      <p:sp>
        <p:nvSpPr>
          <p:cNvPr id="13" name="sig 3"/>
          <p:cNvSpPr/>
          <p:nvPr/>
        </p:nvSpPr>
        <p:spPr>
          <a:xfrm>
            <a:off x="1097280" y="5852160"/>
            <a:ext cx="7818120" cy="3291840"/>
          </a:xfrm>
          <a:prstGeom prst="roundRect">
            <a:avLst>
              <a:gd name="adj" fmla="val 5556"/>
            </a:avLst>
          </a:prstGeom>
          <a:solidFill>
            <a:srgbClr val="D6DDEA"/>
          </a:solidFill>
          <a:ln w="12700">
            <a:solidFill>
              <a:srgbClr val="D6DDEA"/>
            </a:solidFill>
            <a:prstDash val="solid"/>
          </a:ln>
        </p:spPr>
      </p:sp>
      <p:sp>
        <p:nvSpPr>
          <p:cNvPr id="14" name="num 03"/>
          <p:cNvSpPr/>
          <p:nvPr/>
        </p:nvSpPr>
        <p:spPr>
          <a:xfrm>
            <a:off x="1371600" y="6126480"/>
            <a:ext cx="777240" cy="777240"/>
          </a:xfrm>
          <a:prstGeom prst="ellipse">
            <a:avLst/>
          </a:prstGeom>
          <a:solidFill>
            <a:srgbClr val="1A3760"/>
          </a:solidFill>
          <a:ln w="12700">
            <a:solidFill>
              <a:srgbClr val="1A3760"/>
            </a:solidFill>
            <a:prstDash val="solid"/>
          </a:ln>
        </p:spPr>
      </p:sp>
      <p:sp>
        <p:nvSpPr>
          <p:cNvPr id="15" name="Text 13"/>
          <p:cNvSpPr txBox="1"/>
          <p:nvPr/>
        </p:nvSpPr>
        <p:spPr>
          <a:xfrm>
            <a:off x="1371600" y="612648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03</a:t>
            </a:r>
            <a:endParaRPr lang="en-US" sz="2200" dirty="0"/>
          </a:p>
        </p:txBody>
      </p:sp>
      <p:sp>
        <p:nvSpPr>
          <p:cNvPr id="16" name="Text 14"/>
          <p:cNvSpPr txBox="1"/>
          <p:nvPr/>
        </p:nvSpPr>
        <p:spPr>
          <a:xfrm>
            <a:off x="2331720" y="6217920"/>
            <a:ext cx="6400800" cy="594360"/>
          </a:xfrm>
          <a:prstGeom prst="rect">
            <a:avLst/>
          </a:prstGeom>
          <a:noFill/>
          <a:ln/>
        </p:spPr>
        <p:txBody>
          <a:bodyPr wrap="square" lIns="0" tIns="0" rIns="0" bIns="0" rtlCol="0" anchor="ctr"/>
          <a:lstStyle/>
          <a:p>
            <a:pPr indent="0" marL="0">
              <a:buNone/>
            </a:pPr>
            <a:r>
              <a:rPr lang="en-US" sz="3000" b="1" dirty="0">
                <a:solidFill>
                  <a:srgbClr val="1A3760"/>
                </a:solidFill>
                <a:latin typeface="Times New Roman" pitchFamily="34" charset="0"/>
                <a:ea typeface="Times New Roman" pitchFamily="34" charset="-122"/>
                <a:cs typeface="Times New Roman" pitchFamily="34" charset="-120"/>
              </a:rPr>
              <a:t>Three Domains Together</a:t>
            </a:r>
            <a:endParaRPr lang="en-US" sz="3000" dirty="0"/>
          </a:p>
        </p:txBody>
      </p:sp>
      <p:sp>
        <p:nvSpPr>
          <p:cNvPr id="17" name="Text 15"/>
          <p:cNvSpPr txBox="1"/>
          <p:nvPr/>
        </p:nvSpPr>
        <p:spPr>
          <a:xfrm>
            <a:off x="1371600" y="7040880"/>
            <a:ext cx="7269480" cy="1965960"/>
          </a:xfrm>
          <a:prstGeom prst="rect">
            <a:avLst/>
          </a:prstGeom>
          <a:noFill/>
          <a:ln/>
        </p:spPr>
        <p:txBody>
          <a:bodyPr wrap="square" rtlCol="0" anchor="t"/>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If one dimension is weak, others may be limited; knowledge may not reach practice without confidence, training, resources and support.</a:t>
            </a:r>
            <a:endParaRPr lang="en-US" sz="2400" dirty="0"/>
          </a:p>
        </p:txBody>
      </p:sp>
      <p:sp>
        <p:nvSpPr>
          <p:cNvPr id="18" name="sig 4"/>
          <p:cNvSpPr/>
          <p:nvPr/>
        </p:nvSpPr>
        <p:spPr>
          <a:xfrm>
            <a:off x="9189720" y="5852160"/>
            <a:ext cx="7818120" cy="3291840"/>
          </a:xfrm>
          <a:prstGeom prst="roundRect">
            <a:avLst>
              <a:gd name="adj" fmla="val 5556"/>
            </a:avLst>
          </a:prstGeom>
          <a:solidFill>
            <a:srgbClr val="D6DDEA"/>
          </a:solidFill>
          <a:ln w="12700">
            <a:solidFill>
              <a:srgbClr val="D6DDEA"/>
            </a:solidFill>
            <a:prstDash val="solid"/>
          </a:ln>
        </p:spPr>
      </p:sp>
      <p:sp>
        <p:nvSpPr>
          <p:cNvPr id="19" name="num 04"/>
          <p:cNvSpPr/>
          <p:nvPr/>
        </p:nvSpPr>
        <p:spPr>
          <a:xfrm>
            <a:off x="9464040" y="6126480"/>
            <a:ext cx="777240" cy="777240"/>
          </a:xfrm>
          <a:prstGeom prst="ellipse">
            <a:avLst/>
          </a:prstGeom>
          <a:solidFill>
            <a:srgbClr val="1A3760"/>
          </a:solidFill>
          <a:ln w="12700">
            <a:solidFill>
              <a:srgbClr val="1A3760"/>
            </a:solidFill>
            <a:prstDash val="solid"/>
          </a:ln>
        </p:spPr>
      </p:sp>
      <p:sp>
        <p:nvSpPr>
          <p:cNvPr id="20" name="Text 18"/>
          <p:cNvSpPr txBox="1"/>
          <p:nvPr/>
        </p:nvSpPr>
        <p:spPr>
          <a:xfrm>
            <a:off x="9464040" y="612648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04</a:t>
            </a:r>
            <a:endParaRPr lang="en-US" sz="2200" dirty="0"/>
          </a:p>
        </p:txBody>
      </p:sp>
      <p:sp>
        <p:nvSpPr>
          <p:cNvPr id="21" name="Text 19"/>
          <p:cNvSpPr txBox="1"/>
          <p:nvPr/>
        </p:nvSpPr>
        <p:spPr>
          <a:xfrm>
            <a:off x="10424160" y="6217920"/>
            <a:ext cx="6400800" cy="594360"/>
          </a:xfrm>
          <a:prstGeom prst="rect">
            <a:avLst/>
          </a:prstGeom>
          <a:noFill/>
          <a:ln/>
        </p:spPr>
        <p:txBody>
          <a:bodyPr wrap="square" lIns="0" tIns="0" rIns="0" bIns="0" rtlCol="0" anchor="ctr"/>
          <a:lstStyle/>
          <a:p>
            <a:pPr indent="0" marL="0">
              <a:buNone/>
            </a:pPr>
            <a:r>
              <a:rPr lang="en-US" sz="3000" b="1" dirty="0">
                <a:solidFill>
                  <a:srgbClr val="1A3760"/>
                </a:solidFill>
                <a:latin typeface="Times New Roman" pitchFamily="34" charset="0"/>
                <a:ea typeface="Times New Roman" pitchFamily="34" charset="-122"/>
                <a:cs typeface="Times New Roman" pitchFamily="34" charset="-120"/>
              </a:rPr>
              <a:t>Practical Value</a:t>
            </a:r>
            <a:endParaRPr lang="en-US" sz="3000" dirty="0"/>
          </a:p>
        </p:txBody>
      </p:sp>
      <p:sp>
        <p:nvSpPr>
          <p:cNvPr id="22" name="Text 20"/>
          <p:cNvSpPr txBox="1"/>
          <p:nvPr/>
        </p:nvSpPr>
        <p:spPr>
          <a:xfrm>
            <a:off x="9464040" y="7040880"/>
            <a:ext cx="7269480" cy="1965960"/>
          </a:xfrm>
          <a:prstGeom prst="rect">
            <a:avLst/>
          </a:prstGeom>
          <a:noFill/>
          <a:ln/>
        </p:spPr>
        <p:txBody>
          <a:bodyPr wrap="square" rtlCol="0" anchor="t"/>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Highlights education and simulation-training needs and informs hospital leaders and policy makers designing preparedness programs.</a:t>
            </a:r>
            <a:endParaRPr lang="en-US" sz="24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Aim and Objectives</a:t>
            </a:r>
            <a:endParaRPr lang="en-US" sz="5400" dirty="0"/>
          </a:p>
        </p:txBody>
      </p:sp>
      <p:sp>
        <p:nvSpPr>
          <p:cNvPr id="3" name="outer frame"/>
          <p:cNvSpPr/>
          <p:nvPr/>
        </p:nvSpPr>
        <p:spPr>
          <a:xfrm>
            <a:off x="1097280" y="2286000"/>
            <a:ext cx="15910560" cy="6949440"/>
          </a:xfrm>
          <a:prstGeom prst="rect">
            <a:avLst/>
          </a:prstGeom>
          <a:solidFill>
            <a:srgbClr val="FFFFFF"/>
          </a:solidFill>
          <a:ln w="12700">
            <a:solidFill>
              <a:srgbClr val="333333"/>
            </a:solidFill>
            <a:prstDash val="solid"/>
          </a:ln>
        </p:spPr>
      </p:sp>
      <p:sp>
        <p:nvSpPr>
          <p:cNvPr id="4" name="purpose frame"/>
          <p:cNvSpPr/>
          <p:nvPr/>
        </p:nvSpPr>
        <p:spPr>
          <a:xfrm>
            <a:off x="1463040" y="2651760"/>
            <a:ext cx="4023360" cy="6217920"/>
          </a:xfrm>
          <a:prstGeom prst="rect">
            <a:avLst/>
          </a:prstGeom>
          <a:solidFill>
            <a:srgbClr val="FFFFFF"/>
          </a:solidFill>
          <a:ln w="12700">
            <a:solidFill>
              <a:srgbClr val="333333"/>
            </a:solidFill>
            <a:prstDash val="solid"/>
          </a:ln>
        </p:spPr>
      </p:sp>
      <p:sp>
        <p:nvSpPr>
          <p:cNvPr id="5" name="Text 3"/>
          <p:cNvSpPr txBox="1"/>
          <p:nvPr/>
        </p:nvSpPr>
        <p:spPr>
          <a:xfrm>
            <a:off x="1554480" y="2651760"/>
            <a:ext cx="3840480" cy="6217920"/>
          </a:xfrm>
          <a:prstGeom prst="rect">
            <a:avLst/>
          </a:prstGeom>
          <a:noFill/>
          <a:ln/>
        </p:spPr>
        <p:txBody>
          <a:bodyPr wrap="square" rtlCol="0" anchor="ctr"/>
          <a:lstStyle/>
          <a:p>
            <a:pPr algn="ctr" indent="0" marL="0">
              <a:buNone/>
            </a:pPr>
            <a:r>
              <a:rPr lang="en-US" sz="4000" b="1" dirty="0">
                <a:solidFill>
                  <a:srgbClr val="000000"/>
                </a:solidFill>
                <a:latin typeface="Times New Roman" pitchFamily="34" charset="0"/>
                <a:ea typeface="Times New Roman" pitchFamily="34" charset="-122"/>
                <a:cs typeface="Times New Roman" pitchFamily="34" charset="-120"/>
              </a:rPr>
              <a:t>Purpose Statement</a:t>
            </a:r>
            <a:endParaRPr lang="en-US" sz="4000" dirty="0"/>
          </a:p>
        </p:txBody>
      </p:sp>
      <p:sp>
        <p:nvSpPr>
          <p:cNvPr id="6" name="Text 4"/>
          <p:cNvSpPr txBox="1"/>
          <p:nvPr/>
        </p:nvSpPr>
        <p:spPr>
          <a:xfrm>
            <a:off x="5943600" y="2651760"/>
            <a:ext cx="10698480" cy="6217920"/>
          </a:xfrm>
          <a:prstGeom prst="rect">
            <a:avLst/>
          </a:prstGeom>
          <a:noFill/>
          <a:ln/>
        </p:spPr>
        <p:txBody>
          <a:bodyPr wrap="square" rtlCol="0" anchor="ctr"/>
          <a:lstStyle/>
          <a:p>
            <a:pPr indent="0" marL="0">
              <a:spcAft>
                <a:spcPts val="800"/>
              </a:spcAft>
              <a:buNone/>
            </a:pPr>
            <a:r>
              <a:rPr lang="en-US" sz="3000" b="1" dirty="0">
                <a:solidFill>
                  <a:srgbClr val="1A3760"/>
                </a:solidFill>
                <a:latin typeface="Times New Roman" pitchFamily="34" charset="0"/>
                <a:ea typeface="Times New Roman" pitchFamily="34" charset="-122"/>
                <a:cs typeface="Times New Roman" pitchFamily="34" charset="-120"/>
              </a:rPr>
              <a:t>Aim of the Study</a:t>
            </a:r>
            <a:endParaRPr lang="en-US" sz="3000" dirty="0"/>
          </a:p>
          <a:p>
            <a:pPr indent="0" marL="0">
              <a:spcAft>
                <a:spcPts val="2200"/>
              </a:spcAft>
              <a:buNone/>
            </a:pPr>
            <a:r>
              <a:rPr lang="en-US" sz="2700" dirty="0">
                <a:solidFill>
                  <a:srgbClr val="000000"/>
                </a:solidFill>
                <a:latin typeface="Times New Roman" pitchFamily="34" charset="0"/>
                <a:ea typeface="Times New Roman" pitchFamily="34" charset="-122"/>
                <a:cs typeface="Times New Roman" pitchFamily="34" charset="-120"/>
              </a:rPr>
              <a:t>To assess nurses’ self-perceived knowledge, perceptions and self-reported practices regarding pandemic disasters among nurses working in governmental hospitals in the Taif Region, Saudi Arabia.</a:t>
            </a:r>
            <a:endParaRPr lang="en-US" sz="3000" dirty="0"/>
          </a:p>
          <a:p>
            <a:pPr indent="0" marL="0">
              <a:spcAft>
                <a:spcPts val="800"/>
              </a:spcAft>
              <a:buNone/>
            </a:pPr>
            <a:r>
              <a:rPr lang="en-US" sz="3000" b="1" dirty="0">
                <a:solidFill>
                  <a:srgbClr val="1A3760"/>
                </a:solidFill>
                <a:latin typeface="Times New Roman" pitchFamily="34" charset="0"/>
                <a:ea typeface="Times New Roman" pitchFamily="34" charset="-122"/>
                <a:cs typeface="Times New Roman" pitchFamily="34" charset="-120"/>
              </a:rPr>
              <a:t>Objectives</a:t>
            </a:r>
            <a:endParaRPr lang="en-US" sz="3000" dirty="0"/>
          </a:p>
          <a:p>
            <a:pPr marL="342900" indent="-342900">
              <a:spcAft>
                <a:spcPts val="800"/>
              </a:spcAft>
              <a:buSzPct val="100000"/>
              <a:buChar char="•"/>
            </a:pPr>
            <a:r>
              <a:rPr lang="en-US" sz="2700" dirty="0">
                <a:solidFill>
                  <a:srgbClr val="000000"/>
                </a:solidFill>
                <a:latin typeface="Times New Roman" pitchFamily="34" charset="0"/>
                <a:ea typeface="Times New Roman" pitchFamily="34" charset="-122"/>
                <a:cs typeface="Times New Roman" pitchFamily="34" charset="-120"/>
              </a:rPr>
              <a:t>Determine the level of each of the three domains.</a:t>
            </a:r>
            <a:endParaRPr lang="en-US" sz="3000" dirty="0"/>
          </a:p>
          <a:p>
            <a:pPr marL="342900" indent="-342900">
              <a:spcAft>
                <a:spcPts val="800"/>
              </a:spcAft>
              <a:buSzPct val="100000"/>
              <a:buChar char="•"/>
            </a:pPr>
            <a:r>
              <a:rPr lang="en-US" sz="2700" dirty="0">
                <a:solidFill>
                  <a:srgbClr val="000000"/>
                </a:solidFill>
                <a:latin typeface="Times New Roman" pitchFamily="34" charset="0"/>
                <a:ea typeface="Times New Roman" pitchFamily="34" charset="-122"/>
                <a:cs typeface="Times New Roman" pitchFamily="34" charset="-120"/>
              </a:rPr>
              <a:t>Examine the relationships among the three domains.</a:t>
            </a:r>
            <a:endParaRPr lang="en-US" sz="3000" dirty="0"/>
          </a:p>
          <a:p>
            <a:pPr marL="342900" indent="-342900">
              <a:buSzPct val="100000"/>
              <a:buChar char="•"/>
            </a:pPr>
            <a:r>
              <a:rPr lang="en-US" sz="2700" dirty="0">
                <a:solidFill>
                  <a:srgbClr val="000000"/>
                </a:solidFill>
                <a:latin typeface="Times New Roman" pitchFamily="34" charset="0"/>
                <a:ea typeface="Times New Roman" pitchFamily="34" charset="-122"/>
                <a:cs typeface="Times New Roman" pitchFamily="34" charset="-120"/>
              </a:rPr>
              <a:t>Investigate differences according to gender and educational level.</a:t>
            </a:r>
            <a:endParaRPr lang="en-US" sz="30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Research Questions</a:t>
            </a:r>
            <a:endParaRPr lang="en-US" sz="5400" dirty="0"/>
          </a:p>
        </p:txBody>
      </p:sp>
      <p:sp>
        <p:nvSpPr>
          <p:cNvPr id="3" name="rq 1"/>
          <p:cNvSpPr/>
          <p:nvPr/>
        </p:nvSpPr>
        <p:spPr>
          <a:xfrm>
            <a:off x="1828800" y="2286000"/>
            <a:ext cx="15179040" cy="804672"/>
          </a:xfrm>
          <a:prstGeom prst="roundRect">
            <a:avLst>
              <a:gd name="adj" fmla="val 22727"/>
            </a:avLst>
          </a:prstGeom>
          <a:solidFill>
            <a:srgbClr val="D6DDEA"/>
          </a:solidFill>
          <a:ln w="12700">
            <a:solidFill>
              <a:srgbClr val="D6DDEA"/>
            </a:solidFill>
            <a:prstDash val="solid"/>
          </a:ln>
        </p:spPr>
      </p:sp>
      <p:sp>
        <p:nvSpPr>
          <p:cNvPr id="4" name="num 1"/>
          <p:cNvSpPr/>
          <p:nvPr/>
        </p:nvSpPr>
        <p:spPr>
          <a:xfrm>
            <a:off x="1097280" y="2240280"/>
            <a:ext cx="896112" cy="896112"/>
          </a:xfrm>
          <a:prstGeom prst="ellipse">
            <a:avLst/>
          </a:prstGeom>
          <a:solidFill>
            <a:srgbClr val="1A3760"/>
          </a:solidFill>
          <a:ln w="12700">
            <a:solidFill>
              <a:srgbClr val="1A3760"/>
            </a:solidFill>
            <a:prstDash val="solid"/>
          </a:ln>
        </p:spPr>
      </p:sp>
      <p:sp>
        <p:nvSpPr>
          <p:cNvPr id="5" name="Text 3"/>
          <p:cNvSpPr txBox="1"/>
          <p:nvPr/>
        </p:nvSpPr>
        <p:spPr>
          <a:xfrm>
            <a:off x="1097280" y="2240280"/>
            <a:ext cx="896112" cy="896112"/>
          </a:xfrm>
          <a:prstGeom prst="rect">
            <a:avLst/>
          </a:prstGeom>
          <a:noFill/>
          <a:ln/>
        </p:spPr>
        <p:txBody>
          <a:bodyPr wrap="square" lIns="0" tIns="0" rIns="0" bIns="0"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1</a:t>
            </a:r>
            <a:endParaRPr lang="en-US" sz="2500" dirty="0"/>
          </a:p>
        </p:txBody>
      </p:sp>
      <p:sp>
        <p:nvSpPr>
          <p:cNvPr id="6" name="Text 4"/>
          <p:cNvSpPr txBox="1"/>
          <p:nvPr/>
        </p:nvSpPr>
        <p:spPr>
          <a:xfrm>
            <a:off x="2286000" y="2286000"/>
            <a:ext cx="14538960" cy="804672"/>
          </a:xfrm>
          <a:prstGeom prst="rect">
            <a:avLst/>
          </a:prstGeom>
          <a:noFill/>
          <a:ln/>
        </p:spPr>
        <p:txBody>
          <a:bodyPr wrap="square"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What is the level of nurses’ self-perceived knowledge regarding pandemic disasters in the Taif Region?</a:t>
            </a:r>
            <a:endParaRPr lang="en-US" sz="2400" dirty="0"/>
          </a:p>
        </p:txBody>
      </p:sp>
      <p:sp>
        <p:nvSpPr>
          <p:cNvPr id="7" name="rq 2"/>
          <p:cNvSpPr/>
          <p:nvPr/>
        </p:nvSpPr>
        <p:spPr>
          <a:xfrm>
            <a:off x="1828800" y="3273552"/>
            <a:ext cx="15179040" cy="804672"/>
          </a:xfrm>
          <a:prstGeom prst="roundRect">
            <a:avLst>
              <a:gd name="adj" fmla="val 22727"/>
            </a:avLst>
          </a:prstGeom>
          <a:solidFill>
            <a:srgbClr val="D6DDEA"/>
          </a:solidFill>
          <a:ln w="12700">
            <a:solidFill>
              <a:srgbClr val="D6DDEA"/>
            </a:solidFill>
            <a:prstDash val="solid"/>
          </a:ln>
        </p:spPr>
      </p:sp>
      <p:sp>
        <p:nvSpPr>
          <p:cNvPr id="8" name="num 2"/>
          <p:cNvSpPr/>
          <p:nvPr/>
        </p:nvSpPr>
        <p:spPr>
          <a:xfrm>
            <a:off x="1097280" y="3227832"/>
            <a:ext cx="896112" cy="896112"/>
          </a:xfrm>
          <a:prstGeom prst="ellipse">
            <a:avLst/>
          </a:prstGeom>
          <a:solidFill>
            <a:srgbClr val="1A3760"/>
          </a:solidFill>
          <a:ln w="12700">
            <a:solidFill>
              <a:srgbClr val="1A3760"/>
            </a:solidFill>
            <a:prstDash val="solid"/>
          </a:ln>
        </p:spPr>
      </p:sp>
      <p:sp>
        <p:nvSpPr>
          <p:cNvPr id="9" name="Text 7"/>
          <p:cNvSpPr txBox="1"/>
          <p:nvPr/>
        </p:nvSpPr>
        <p:spPr>
          <a:xfrm>
            <a:off x="1097280" y="3227832"/>
            <a:ext cx="896112" cy="896112"/>
          </a:xfrm>
          <a:prstGeom prst="rect">
            <a:avLst/>
          </a:prstGeom>
          <a:noFill/>
          <a:ln/>
        </p:spPr>
        <p:txBody>
          <a:bodyPr wrap="square" lIns="0" tIns="0" rIns="0" bIns="0"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2</a:t>
            </a:r>
            <a:endParaRPr lang="en-US" sz="2500" dirty="0"/>
          </a:p>
        </p:txBody>
      </p:sp>
      <p:sp>
        <p:nvSpPr>
          <p:cNvPr id="10" name="Text 8"/>
          <p:cNvSpPr txBox="1"/>
          <p:nvPr/>
        </p:nvSpPr>
        <p:spPr>
          <a:xfrm>
            <a:off x="2286000" y="3273552"/>
            <a:ext cx="14538960" cy="804672"/>
          </a:xfrm>
          <a:prstGeom prst="rect">
            <a:avLst/>
          </a:prstGeom>
          <a:noFill/>
          <a:ln/>
        </p:spPr>
        <p:txBody>
          <a:bodyPr wrap="square"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What is the level of nurses’ perceptions regarding pandemic disasters in the Taif Region?</a:t>
            </a:r>
            <a:endParaRPr lang="en-US" sz="2400" dirty="0"/>
          </a:p>
        </p:txBody>
      </p:sp>
      <p:sp>
        <p:nvSpPr>
          <p:cNvPr id="11" name="rq 3"/>
          <p:cNvSpPr/>
          <p:nvPr/>
        </p:nvSpPr>
        <p:spPr>
          <a:xfrm>
            <a:off x="1828800" y="4261104"/>
            <a:ext cx="15179040" cy="804672"/>
          </a:xfrm>
          <a:prstGeom prst="roundRect">
            <a:avLst>
              <a:gd name="adj" fmla="val 22727"/>
            </a:avLst>
          </a:prstGeom>
          <a:solidFill>
            <a:srgbClr val="D6DDEA"/>
          </a:solidFill>
          <a:ln w="12700">
            <a:solidFill>
              <a:srgbClr val="D6DDEA"/>
            </a:solidFill>
            <a:prstDash val="solid"/>
          </a:ln>
        </p:spPr>
      </p:sp>
      <p:sp>
        <p:nvSpPr>
          <p:cNvPr id="12" name="num 3"/>
          <p:cNvSpPr/>
          <p:nvPr/>
        </p:nvSpPr>
        <p:spPr>
          <a:xfrm>
            <a:off x="1097280" y="4215384"/>
            <a:ext cx="896112" cy="896112"/>
          </a:xfrm>
          <a:prstGeom prst="ellipse">
            <a:avLst/>
          </a:prstGeom>
          <a:solidFill>
            <a:srgbClr val="1A3760"/>
          </a:solidFill>
          <a:ln w="12700">
            <a:solidFill>
              <a:srgbClr val="1A3760"/>
            </a:solidFill>
            <a:prstDash val="solid"/>
          </a:ln>
        </p:spPr>
      </p:sp>
      <p:sp>
        <p:nvSpPr>
          <p:cNvPr id="13" name="Text 11"/>
          <p:cNvSpPr txBox="1"/>
          <p:nvPr/>
        </p:nvSpPr>
        <p:spPr>
          <a:xfrm>
            <a:off x="1097280" y="4215384"/>
            <a:ext cx="896112" cy="896112"/>
          </a:xfrm>
          <a:prstGeom prst="rect">
            <a:avLst/>
          </a:prstGeom>
          <a:noFill/>
          <a:ln/>
        </p:spPr>
        <p:txBody>
          <a:bodyPr wrap="square" lIns="0" tIns="0" rIns="0" bIns="0"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3</a:t>
            </a:r>
            <a:endParaRPr lang="en-US" sz="2500" dirty="0"/>
          </a:p>
        </p:txBody>
      </p:sp>
      <p:sp>
        <p:nvSpPr>
          <p:cNvPr id="14" name="Text 12"/>
          <p:cNvSpPr txBox="1"/>
          <p:nvPr/>
        </p:nvSpPr>
        <p:spPr>
          <a:xfrm>
            <a:off x="2286000" y="4261104"/>
            <a:ext cx="14538960" cy="804672"/>
          </a:xfrm>
          <a:prstGeom prst="rect">
            <a:avLst/>
          </a:prstGeom>
          <a:noFill/>
          <a:ln/>
        </p:spPr>
        <p:txBody>
          <a:bodyPr wrap="square"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What is the level of nurses’ self-reported practices regarding pandemic disasters in the Taif Region?</a:t>
            </a:r>
            <a:endParaRPr lang="en-US" sz="2400" dirty="0"/>
          </a:p>
        </p:txBody>
      </p:sp>
      <p:sp>
        <p:nvSpPr>
          <p:cNvPr id="15" name="rq 4"/>
          <p:cNvSpPr/>
          <p:nvPr/>
        </p:nvSpPr>
        <p:spPr>
          <a:xfrm>
            <a:off x="1828800" y="5248656"/>
            <a:ext cx="15179040" cy="804672"/>
          </a:xfrm>
          <a:prstGeom prst="roundRect">
            <a:avLst>
              <a:gd name="adj" fmla="val 22727"/>
            </a:avLst>
          </a:prstGeom>
          <a:solidFill>
            <a:srgbClr val="EEF1F7"/>
          </a:solidFill>
          <a:ln w="12700">
            <a:solidFill>
              <a:srgbClr val="EEF1F7"/>
            </a:solidFill>
            <a:prstDash val="solid"/>
          </a:ln>
        </p:spPr>
      </p:sp>
      <p:sp>
        <p:nvSpPr>
          <p:cNvPr id="16" name="num 4"/>
          <p:cNvSpPr/>
          <p:nvPr/>
        </p:nvSpPr>
        <p:spPr>
          <a:xfrm>
            <a:off x="1097280" y="5202936"/>
            <a:ext cx="896112" cy="896112"/>
          </a:xfrm>
          <a:prstGeom prst="ellipse">
            <a:avLst/>
          </a:prstGeom>
          <a:solidFill>
            <a:srgbClr val="1A3760"/>
          </a:solidFill>
          <a:ln w="12700">
            <a:solidFill>
              <a:srgbClr val="1A3760"/>
            </a:solidFill>
            <a:prstDash val="solid"/>
          </a:ln>
        </p:spPr>
      </p:sp>
      <p:sp>
        <p:nvSpPr>
          <p:cNvPr id="17" name="Text 15"/>
          <p:cNvSpPr txBox="1"/>
          <p:nvPr/>
        </p:nvSpPr>
        <p:spPr>
          <a:xfrm>
            <a:off x="1097280" y="5202936"/>
            <a:ext cx="896112" cy="896112"/>
          </a:xfrm>
          <a:prstGeom prst="rect">
            <a:avLst/>
          </a:prstGeom>
          <a:noFill/>
          <a:ln/>
        </p:spPr>
        <p:txBody>
          <a:bodyPr wrap="square" lIns="0" tIns="0" rIns="0" bIns="0"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4</a:t>
            </a:r>
            <a:endParaRPr lang="en-US" sz="2500" dirty="0"/>
          </a:p>
        </p:txBody>
      </p:sp>
      <p:sp>
        <p:nvSpPr>
          <p:cNvPr id="18" name="Text 16"/>
          <p:cNvSpPr txBox="1"/>
          <p:nvPr/>
        </p:nvSpPr>
        <p:spPr>
          <a:xfrm>
            <a:off x="2286000" y="5248656"/>
            <a:ext cx="14538960" cy="804672"/>
          </a:xfrm>
          <a:prstGeom prst="rect">
            <a:avLst/>
          </a:prstGeom>
          <a:noFill/>
          <a:ln/>
        </p:spPr>
        <p:txBody>
          <a:bodyPr wrap="square"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What relationships exist among nurses’ self-perceived knowledge, perceptions and self-reported practices?</a:t>
            </a:r>
            <a:endParaRPr lang="en-US" sz="2400" dirty="0"/>
          </a:p>
        </p:txBody>
      </p:sp>
      <p:sp>
        <p:nvSpPr>
          <p:cNvPr id="19" name="rq 5"/>
          <p:cNvSpPr/>
          <p:nvPr/>
        </p:nvSpPr>
        <p:spPr>
          <a:xfrm>
            <a:off x="1828800" y="6236208"/>
            <a:ext cx="15179040" cy="804672"/>
          </a:xfrm>
          <a:prstGeom prst="roundRect">
            <a:avLst>
              <a:gd name="adj" fmla="val 22727"/>
            </a:avLst>
          </a:prstGeom>
          <a:solidFill>
            <a:srgbClr val="EEF1F7"/>
          </a:solidFill>
          <a:ln w="12700">
            <a:solidFill>
              <a:srgbClr val="EEF1F7"/>
            </a:solidFill>
            <a:prstDash val="solid"/>
          </a:ln>
        </p:spPr>
      </p:sp>
      <p:sp>
        <p:nvSpPr>
          <p:cNvPr id="20" name="num 5"/>
          <p:cNvSpPr/>
          <p:nvPr/>
        </p:nvSpPr>
        <p:spPr>
          <a:xfrm>
            <a:off x="1097280" y="6190488"/>
            <a:ext cx="896112" cy="896112"/>
          </a:xfrm>
          <a:prstGeom prst="ellipse">
            <a:avLst/>
          </a:prstGeom>
          <a:solidFill>
            <a:srgbClr val="1A3760"/>
          </a:solidFill>
          <a:ln w="12700">
            <a:solidFill>
              <a:srgbClr val="1A3760"/>
            </a:solidFill>
            <a:prstDash val="solid"/>
          </a:ln>
        </p:spPr>
      </p:sp>
      <p:sp>
        <p:nvSpPr>
          <p:cNvPr id="21" name="Text 19"/>
          <p:cNvSpPr txBox="1"/>
          <p:nvPr/>
        </p:nvSpPr>
        <p:spPr>
          <a:xfrm>
            <a:off x="1097280" y="6190488"/>
            <a:ext cx="896112" cy="896112"/>
          </a:xfrm>
          <a:prstGeom prst="rect">
            <a:avLst/>
          </a:prstGeom>
          <a:noFill/>
          <a:ln/>
        </p:spPr>
        <p:txBody>
          <a:bodyPr wrap="square" lIns="0" tIns="0" rIns="0" bIns="0"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5</a:t>
            </a:r>
            <a:endParaRPr lang="en-US" sz="2500" dirty="0"/>
          </a:p>
        </p:txBody>
      </p:sp>
      <p:sp>
        <p:nvSpPr>
          <p:cNvPr id="22" name="Text 20"/>
          <p:cNvSpPr txBox="1"/>
          <p:nvPr/>
        </p:nvSpPr>
        <p:spPr>
          <a:xfrm>
            <a:off x="2286000" y="6236208"/>
            <a:ext cx="14538960" cy="804672"/>
          </a:xfrm>
          <a:prstGeom prst="rect">
            <a:avLst/>
          </a:prstGeom>
          <a:noFill/>
          <a:ln/>
        </p:spPr>
        <p:txBody>
          <a:bodyPr wrap="square"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To what extent is self-perceived knowledge associated with perceptions and self-reported practices?</a:t>
            </a:r>
            <a:endParaRPr lang="en-US" sz="2400" dirty="0"/>
          </a:p>
        </p:txBody>
      </p:sp>
      <p:sp>
        <p:nvSpPr>
          <p:cNvPr id="23" name="rq 6"/>
          <p:cNvSpPr/>
          <p:nvPr/>
        </p:nvSpPr>
        <p:spPr>
          <a:xfrm>
            <a:off x="1828800" y="7223760"/>
            <a:ext cx="15179040" cy="804672"/>
          </a:xfrm>
          <a:prstGeom prst="roundRect">
            <a:avLst>
              <a:gd name="adj" fmla="val 22727"/>
            </a:avLst>
          </a:prstGeom>
          <a:solidFill>
            <a:srgbClr val="EEF1F7"/>
          </a:solidFill>
          <a:ln w="12700">
            <a:solidFill>
              <a:srgbClr val="EEF1F7"/>
            </a:solidFill>
            <a:prstDash val="solid"/>
          </a:ln>
        </p:spPr>
      </p:sp>
      <p:sp>
        <p:nvSpPr>
          <p:cNvPr id="24" name="num 6"/>
          <p:cNvSpPr/>
          <p:nvPr/>
        </p:nvSpPr>
        <p:spPr>
          <a:xfrm>
            <a:off x="1097280" y="7178040"/>
            <a:ext cx="896112" cy="896112"/>
          </a:xfrm>
          <a:prstGeom prst="ellipse">
            <a:avLst/>
          </a:prstGeom>
          <a:solidFill>
            <a:srgbClr val="1A3760"/>
          </a:solidFill>
          <a:ln w="12700">
            <a:solidFill>
              <a:srgbClr val="1A3760"/>
            </a:solidFill>
            <a:prstDash val="solid"/>
          </a:ln>
        </p:spPr>
      </p:sp>
      <p:sp>
        <p:nvSpPr>
          <p:cNvPr id="25" name="Text 23"/>
          <p:cNvSpPr txBox="1"/>
          <p:nvPr/>
        </p:nvSpPr>
        <p:spPr>
          <a:xfrm>
            <a:off x="1097280" y="7178040"/>
            <a:ext cx="896112" cy="896112"/>
          </a:xfrm>
          <a:prstGeom prst="rect">
            <a:avLst/>
          </a:prstGeom>
          <a:noFill/>
          <a:ln/>
        </p:spPr>
        <p:txBody>
          <a:bodyPr wrap="square" lIns="0" tIns="0" rIns="0" bIns="0"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6</a:t>
            </a:r>
            <a:endParaRPr lang="en-US" sz="2500" dirty="0"/>
          </a:p>
        </p:txBody>
      </p:sp>
      <p:sp>
        <p:nvSpPr>
          <p:cNvPr id="26" name="Text 24"/>
          <p:cNvSpPr txBox="1"/>
          <p:nvPr/>
        </p:nvSpPr>
        <p:spPr>
          <a:xfrm>
            <a:off x="2286000" y="7223760"/>
            <a:ext cx="14538960" cy="804672"/>
          </a:xfrm>
          <a:prstGeom prst="rect">
            <a:avLst/>
          </a:prstGeom>
          <a:noFill/>
          <a:ln/>
        </p:spPr>
        <p:txBody>
          <a:bodyPr wrap="square"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Are there differences in the three domains according to gender?</a:t>
            </a:r>
            <a:endParaRPr lang="en-US" sz="2400" dirty="0"/>
          </a:p>
        </p:txBody>
      </p:sp>
      <p:sp>
        <p:nvSpPr>
          <p:cNvPr id="27" name="rq 7"/>
          <p:cNvSpPr/>
          <p:nvPr/>
        </p:nvSpPr>
        <p:spPr>
          <a:xfrm>
            <a:off x="1828800" y="8211312"/>
            <a:ext cx="15179040" cy="804672"/>
          </a:xfrm>
          <a:prstGeom prst="roundRect">
            <a:avLst>
              <a:gd name="adj" fmla="val 22727"/>
            </a:avLst>
          </a:prstGeom>
          <a:solidFill>
            <a:srgbClr val="EEF1F7"/>
          </a:solidFill>
          <a:ln w="12700">
            <a:solidFill>
              <a:srgbClr val="EEF1F7"/>
            </a:solidFill>
            <a:prstDash val="solid"/>
          </a:ln>
        </p:spPr>
      </p:sp>
      <p:sp>
        <p:nvSpPr>
          <p:cNvPr id="28" name="num 7"/>
          <p:cNvSpPr/>
          <p:nvPr/>
        </p:nvSpPr>
        <p:spPr>
          <a:xfrm>
            <a:off x="1097280" y="8165592"/>
            <a:ext cx="896112" cy="896112"/>
          </a:xfrm>
          <a:prstGeom prst="ellipse">
            <a:avLst/>
          </a:prstGeom>
          <a:solidFill>
            <a:srgbClr val="1A3760"/>
          </a:solidFill>
          <a:ln w="12700">
            <a:solidFill>
              <a:srgbClr val="1A3760"/>
            </a:solidFill>
            <a:prstDash val="solid"/>
          </a:ln>
        </p:spPr>
      </p:sp>
      <p:sp>
        <p:nvSpPr>
          <p:cNvPr id="29" name="Text 27"/>
          <p:cNvSpPr txBox="1"/>
          <p:nvPr/>
        </p:nvSpPr>
        <p:spPr>
          <a:xfrm>
            <a:off x="1097280" y="8165592"/>
            <a:ext cx="896112" cy="896112"/>
          </a:xfrm>
          <a:prstGeom prst="rect">
            <a:avLst/>
          </a:prstGeom>
          <a:noFill/>
          <a:ln/>
        </p:spPr>
        <p:txBody>
          <a:bodyPr wrap="square" lIns="0" tIns="0" rIns="0" bIns="0"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7</a:t>
            </a:r>
            <a:endParaRPr lang="en-US" sz="2500" dirty="0"/>
          </a:p>
        </p:txBody>
      </p:sp>
      <p:sp>
        <p:nvSpPr>
          <p:cNvPr id="30" name="Text 28"/>
          <p:cNvSpPr txBox="1"/>
          <p:nvPr/>
        </p:nvSpPr>
        <p:spPr>
          <a:xfrm>
            <a:off x="2286000" y="8211312"/>
            <a:ext cx="14538960" cy="804672"/>
          </a:xfrm>
          <a:prstGeom prst="rect">
            <a:avLst/>
          </a:prstGeom>
          <a:noFill/>
          <a:ln/>
        </p:spPr>
        <p:txBody>
          <a:bodyPr wrap="square"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Are there differences in the three domains according to educational level?</a:t>
            </a:r>
            <a:endParaRPr lang="en-US" sz="24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Conceptual Framework</a:t>
            </a:r>
            <a:endParaRPr lang="en-US" sz="5400" dirty="0"/>
          </a:p>
        </p:txBody>
      </p:sp>
      <p:sp>
        <p:nvSpPr>
          <p:cNvPr id="3" name="Text 1"/>
          <p:cNvSpPr txBox="1"/>
          <p:nvPr/>
        </p:nvSpPr>
        <p:spPr>
          <a:xfrm>
            <a:off x="1097280" y="2286000"/>
            <a:ext cx="8595360" cy="7040880"/>
          </a:xfrm>
          <a:prstGeom prst="rect">
            <a:avLst/>
          </a:prstGeom>
          <a:noFill/>
          <a:ln/>
        </p:spPr>
        <p:txBody>
          <a:bodyPr wrap="square" rtlCol="0" anchor="t"/>
          <a:lstStyle/>
          <a:p>
            <a:pPr marL="342900" indent="-342900">
              <a:spcAft>
                <a:spcPts val="1400"/>
              </a:spcAft>
              <a:buSzPct val="100000"/>
              <a:buChar char="•"/>
            </a:pPr>
            <a:r>
              <a:rPr lang="en-US" sz="2400" dirty="0">
                <a:solidFill>
                  <a:srgbClr val="000000"/>
                </a:solidFill>
                <a:latin typeface="Times New Roman" pitchFamily="34" charset="0"/>
                <a:ea typeface="Times New Roman" pitchFamily="34" charset="-122"/>
                <a:cs typeface="Times New Roman" pitchFamily="34" charset="-120"/>
              </a:rPr>
              <a:t>Based on the Knowledge–Attitude/Perception–Practice (KAP) model, widely used in nursing and public-health research.</a:t>
            </a:r>
            <a:endParaRPr lang="en-US" sz="2400" dirty="0"/>
          </a:p>
          <a:p>
            <a:pPr marL="342900" indent="-342900">
              <a:spcAft>
                <a:spcPts val="1400"/>
              </a:spcAft>
              <a:buSzPct val="100000"/>
              <a:buChar char="•"/>
            </a:pPr>
            <a:r>
              <a:rPr lang="en-US" sz="2400" dirty="0">
                <a:solidFill>
                  <a:srgbClr val="000000"/>
                </a:solidFill>
                <a:latin typeface="Times New Roman" pitchFamily="34" charset="0"/>
                <a:ea typeface="Times New Roman" pitchFamily="34" charset="-122"/>
                <a:cs typeface="Times New Roman" pitchFamily="34" charset="-120"/>
              </a:rPr>
              <a:t>Knowledge is interpreted as self-perceived knowledge: respondents rate their own familiarity, understanding and confidence rather than completing a scored test.</a:t>
            </a:r>
            <a:endParaRPr lang="en-US" sz="2400" dirty="0"/>
          </a:p>
          <a:p>
            <a:pPr marL="342900" indent="-342900">
              <a:spcAft>
                <a:spcPts val="1400"/>
              </a:spcAft>
              <a:buSzPct val="100000"/>
              <a:buChar char="•"/>
            </a:pPr>
            <a:r>
              <a:rPr lang="en-US" sz="2400" dirty="0">
                <a:solidFill>
                  <a:srgbClr val="000000"/>
                </a:solidFill>
                <a:latin typeface="Times New Roman" pitchFamily="34" charset="0"/>
                <a:ea typeface="Times New Roman" pitchFamily="34" charset="-122"/>
                <a:cs typeface="Times New Roman" pitchFamily="34" charset="-120"/>
              </a:rPr>
              <a:t>Perceptions represent attitudes, confidence, perceived support, motivation and readiness; self-reported practice reflects reported preparedness behaviors.</a:t>
            </a:r>
            <a:endParaRPr lang="en-US" sz="2400" dirty="0"/>
          </a:p>
          <a:p>
            <a:pPr marL="342900" indent="-342900">
              <a:spcAft>
                <a:spcPts val="1400"/>
              </a:spcAft>
              <a:buSzPct val="100000"/>
              <a:buChar char="•"/>
            </a:pPr>
            <a:r>
              <a:rPr lang="en-US" sz="2400" dirty="0">
                <a:solidFill>
                  <a:srgbClr val="000000"/>
                </a:solidFill>
                <a:latin typeface="Times New Roman" pitchFamily="34" charset="0"/>
                <a:ea typeface="Times New Roman" pitchFamily="34" charset="-122"/>
                <a:cs typeface="Times New Roman" pitchFamily="34" charset="-120"/>
              </a:rPr>
              <a:t>The framework guided assessment of levels, relationships and demographic differences. It is not a causal pathway.</a:t>
            </a:r>
            <a:endParaRPr lang="en-US" sz="2400" dirty="0"/>
          </a:p>
        </p:txBody>
      </p:sp>
      <p:sp>
        <p:nvSpPr>
          <p:cNvPr id="4" name="link Self-Perceived Knowledge"/>
          <p:cNvSpPr/>
          <p:nvPr/>
        </p:nvSpPr>
        <p:spPr>
          <a:xfrm>
            <a:off x="13624560" y="2880360"/>
            <a:ext cx="914" cy="2743200"/>
          </a:xfrm>
          <a:prstGeom prst="line">
            <a:avLst/>
          </a:prstGeom>
          <a:noFill/>
          <a:ln w="31750">
            <a:solidFill>
              <a:srgbClr val="1A3760"/>
            </a:solidFill>
            <a:prstDash val="solid"/>
          </a:ln>
        </p:spPr>
      </p:sp>
      <p:sp>
        <p:nvSpPr>
          <p:cNvPr id="5" name="link Perception"/>
          <p:cNvSpPr/>
          <p:nvPr/>
        </p:nvSpPr>
        <p:spPr>
          <a:xfrm flipH="1">
            <a:off x="11704320" y="5623560"/>
            <a:ext cx="1920240" cy="1965960"/>
          </a:xfrm>
          <a:prstGeom prst="line">
            <a:avLst/>
          </a:prstGeom>
          <a:noFill/>
          <a:ln w="31750">
            <a:solidFill>
              <a:srgbClr val="1A3760"/>
            </a:solidFill>
            <a:prstDash val="solid"/>
          </a:ln>
        </p:spPr>
      </p:sp>
      <p:sp>
        <p:nvSpPr>
          <p:cNvPr id="6" name="link Self-Reported Practice"/>
          <p:cNvSpPr/>
          <p:nvPr/>
        </p:nvSpPr>
        <p:spPr>
          <a:xfrm>
            <a:off x="13624560" y="5623560"/>
            <a:ext cx="1828800" cy="1965960"/>
          </a:xfrm>
          <a:prstGeom prst="line">
            <a:avLst/>
          </a:prstGeom>
          <a:noFill/>
          <a:ln w="31750">
            <a:solidFill>
              <a:srgbClr val="1A3760"/>
            </a:solidFill>
            <a:prstDash val="solid"/>
          </a:ln>
        </p:spPr>
      </p:sp>
      <p:sp>
        <p:nvSpPr>
          <p:cNvPr id="7" name="preparedness"/>
          <p:cNvSpPr/>
          <p:nvPr/>
        </p:nvSpPr>
        <p:spPr>
          <a:xfrm>
            <a:off x="12024360" y="4572000"/>
            <a:ext cx="3200400" cy="2103120"/>
          </a:xfrm>
          <a:prstGeom prst="ellipse">
            <a:avLst/>
          </a:prstGeom>
          <a:solidFill>
            <a:srgbClr val="1A3760"/>
          </a:solidFill>
          <a:ln w="12700">
            <a:solidFill>
              <a:srgbClr val="1A3760"/>
            </a:solidFill>
            <a:prstDash val="solid"/>
          </a:ln>
        </p:spPr>
      </p:sp>
      <p:sp>
        <p:nvSpPr>
          <p:cNvPr id="8" name="Text 6"/>
          <p:cNvSpPr txBox="1"/>
          <p:nvPr/>
        </p:nvSpPr>
        <p:spPr>
          <a:xfrm>
            <a:off x="12161520" y="4709160"/>
            <a:ext cx="2926080" cy="1828800"/>
          </a:xfrm>
          <a:prstGeom prst="rect">
            <a:avLst/>
          </a:prstGeom>
          <a:noFill/>
          <a:ln/>
        </p:spPr>
        <p:txBody>
          <a:bodyPr wrap="square"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Pandemic-Disaster Preparedness</a:t>
            </a:r>
            <a:endParaRPr lang="en-US" sz="2200" dirty="0"/>
          </a:p>
        </p:txBody>
      </p:sp>
      <p:sp>
        <p:nvSpPr>
          <p:cNvPr id="9" name="box Self-Perceived Knowledge"/>
          <p:cNvSpPr/>
          <p:nvPr/>
        </p:nvSpPr>
        <p:spPr>
          <a:xfrm>
            <a:off x="11887200" y="2331720"/>
            <a:ext cx="3474720" cy="1097280"/>
          </a:xfrm>
          <a:prstGeom prst="roundRect">
            <a:avLst>
              <a:gd name="adj" fmla="val 12500"/>
            </a:avLst>
          </a:prstGeom>
          <a:solidFill>
            <a:srgbClr val="4F81BD"/>
          </a:solidFill>
          <a:ln w="19050">
            <a:solidFill>
              <a:srgbClr val="FFFFFF"/>
            </a:solidFill>
            <a:prstDash val="solid"/>
          </a:ln>
        </p:spPr>
      </p:sp>
      <p:sp>
        <p:nvSpPr>
          <p:cNvPr id="10" name="Text 8"/>
          <p:cNvSpPr txBox="1"/>
          <p:nvPr/>
        </p:nvSpPr>
        <p:spPr>
          <a:xfrm>
            <a:off x="11887200" y="2331720"/>
            <a:ext cx="3474720" cy="1097280"/>
          </a:xfrm>
          <a:prstGeom prst="rect">
            <a:avLst/>
          </a:prstGeom>
          <a:noFill/>
          <a:ln/>
        </p:spPr>
        <p:txBody>
          <a:bodyPr wrap="square"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Self-Perceived Knowledge</a:t>
            </a:r>
            <a:endParaRPr lang="en-US" sz="2200" dirty="0"/>
          </a:p>
        </p:txBody>
      </p:sp>
      <p:sp>
        <p:nvSpPr>
          <p:cNvPr id="11" name="box Perception"/>
          <p:cNvSpPr/>
          <p:nvPr/>
        </p:nvSpPr>
        <p:spPr>
          <a:xfrm>
            <a:off x="9966960" y="7040880"/>
            <a:ext cx="3474720" cy="1097280"/>
          </a:xfrm>
          <a:prstGeom prst="roundRect">
            <a:avLst>
              <a:gd name="adj" fmla="val 12500"/>
            </a:avLst>
          </a:prstGeom>
          <a:solidFill>
            <a:srgbClr val="4F81BD"/>
          </a:solidFill>
          <a:ln w="19050">
            <a:solidFill>
              <a:srgbClr val="FFFFFF"/>
            </a:solidFill>
            <a:prstDash val="solid"/>
          </a:ln>
        </p:spPr>
      </p:sp>
      <p:sp>
        <p:nvSpPr>
          <p:cNvPr id="12" name="Text 10"/>
          <p:cNvSpPr txBox="1"/>
          <p:nvPr/>
        </p:nvSpPr>
        <p:spPr>
          <a:xfrm>
            <a:off x="9966960" y="7040880"/>
            <a:ext cx="3474720" cy="1097280"/>
          </a:xfrm>
          <a:prstGeom prst="rect">
            <a:avLst/>
          </a:prstGeom>
          <a:noFill/>
          <a:ln/>
        </p:spPr>
        <p:txBody>
          <a:bodyPr wrap="square"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Perception</a:t>
            </a:r>
            <a:endParaRPr lang="en-US" sz="2200" dirty="0"/>
          </a:p>
        </p:txBody>
      </p:sp>
      <p:sp>
        <p:nvSpPr>
          <p:cNvPr id="13" name="box Self-Reported Practice"/>
          <p:cNvSpPr/>
          <p:nvPr/>
        </p:nvSpPr>
        <p:spPr>
          <a:xfrm>
            <a:off x="13716000" y="7040880"/>
            <a:ext cx="3474720" cy="1097280"/>
          </a:xfrm>
          <a:prstGeom prst="roundRect">
            <a:avLst>
              <a:gd name="adj" fmla="val 12500"/>
            </a:avLst>
          </a:prstGeom>
          <a:solidFill>
            <a:srgbClr val="4F81BD"/>
          </a:solidFill>
          <a:ln w="19050">
            <a:solidFill>
              <a:srgbClr val="FFFFFF"/>
            </a:solidFill>
            <a:prstDash val="solid"/>
          </a:ln>
        </p:spPr>
      </p:sp>
      <p:sp>
        <p:nvSpPr>
          <p:cNvPr id="14" name="Text 12"/>
          <p:cNvSpPr txBox="1"/>
          <p:nvPr/>
        </p:nvSpPr>
        <p:spPr>
          <a:xfrm>
            <a:off x="13716000" y="7040880"/>
            <a:ext cx="3474720" cy="1097280"/>
          </a:xfrm>
          <a:prstGeom prst="rect">
            <a:avLst/>
          </a:prstGeom>
          <a:noFill/>
          <a:ln/>
        </p:spPr>
        <p:txBody>
          <a:bodyPr wrap="square"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Self-Reported Practice</a:t>
            </a:r>
            <a:endParaRPr lang="en-US" sz="2200" dirty="0"/>
          </a:p>
        </p:txBody>
      </p:sp>
      <p:sp>
        <p:nvSpPr>
          <p:cNvPr id="15" name="Text 13"/>
          <p:cNvSpPr txBox="1"/>
          <p:nvPr/>
        </p:nvSpPr>
        <p:spPr>
          <a:xfrm>
            <a:off x="10058400" y="8503920"/>
            <a:ext cx="7315200" cy="457200"/>
          </a:xfrm>
          <a:prstGeom prst="rect">
            <a:avLst/>
          </a:prstGeom>
          <a:noFill/>
          <a:ln/>
        </p:spPr>
        <p:txBody>
          <a:bodyPr wrap="square" rtlCol="0" anchor="t"/>
          <a:lstStyle/>
          <a:p>
            <a:pPr algn="ctr" indent="0" marL="0">
              <a:buNone/>
            </a:pPr>
            <a:r>
              <a:rPr lang="en-US" sz="1600" i="1" dirty="0">
                <a:solidFill>
                  <a:srgbClr val="595959"/>
                </a:solidFill>
                <a:latin typeface="Times New Roman" pitchFamily="34" charset="0"/>
                <a:ea typeface="Times New Roman" pitchFamily="34" charset="-122"/>
                <a:cs typeface="Times New Roman" pitchFamily="34" charset="-120"/>
              </a:rPr>
              <a:t>Figure 1. Framework for the study (adapted from KAP models)</a:t>
            </a:r>
            <a:endParaRPr lang="en-US" sz="16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Literature Review</a:t>
            </a:r>
            <a:endParaRPr lang="en-US" sz="5400" dirty="0"/>
          </a:p>
        </p:txBody>
      </p:sp>
      <p:sp>
        <p:nvSpPr>
          <p:cNvPr id="3" name="Text 1"/>
          <p:cNvSpPr txBox="1"/>
          <p:nvPr/>
        </p:nvSpPr>
        <p:spPr>
          <a:xfrm>
            <a:off x="1097280" y="2148840"/>
            <a:ext cx="15910560" cy="640080"/>
          </a:xfrm>
          <a:prstGeom prst="rect">
            <a:avLst/>
          </a:prstGeom>
          <a:noFill/>
          <a:ln/>
        </p:spPr>
        <p:txBody>
          <a:bodyPr wrap="square" lIns="0" tIns="0" rIns="0" bIns="0" rtlCol="0" anchor="t"/>
          <a:lstStyle/>
          <a:p>
            <a:pPr indent="0" marL="0">
              <a:buNone/>
            </a:pPr>
            <a:r>
              <a:rPr lang="en-US" sz="2500" i="1" dirty="0">
                <a:solidFill>
                  <a:srgbClr val="000000"/>
                </a:solidFill>
                <a:latin typeface="Times New Roman" pitchFamily="34" charset="0"/>
                <a:ea typeface="Times New Roman" pitchFamily="34" charset="-122"/>
                <a:cs typeface="Times New Roman" pitchFamily="34" charset="-120"/>
              </a:rPr>
              <a:t>The review was organized around four themes, Saudi evidence, and the limitations of existing studies:</a:t>
            </a:r>
            <a:endParaRPr lang="en-US" sz="2500" dirty="0"/>
          </a:p>
        </p:txBody>
      </p:sp>
      <p:sp>
        <p:nvSpPr>
          <p:cNvPr id="4" name="card Theme 1"/>
          <p:cNvSpPr/>
          <p:nvPr/>
        </p:nvSpPr>
        <p:spPr>
          <a:xfrm>
            <a:off x="4480560" y="3035808"/>
            <a:ext cx="12527280" cy="749808"/>
          </a:xfrm>
          <a:prstGeom prst="roundRect">
            <a:avLst>
              <a:gd name="adj" fmla="val 18293"/>
            </a:avLst>
          </a:prstGeom>
          <a:solidFill>
            <a:srgbClr val="D6DDEA"/>
          </a:solidFill>
          <a:ln w="12700">
            <a:solidFill>
              <a:srgbClr val="D6DDEA"/>
            </a:solidFill>
            <a:prstDash val="solid"/>
          </a:ln>
        </p:spPr>
      </p:sp>
      <p:sp>
        <p:nvSpPr>
          <p:cNvPr id="5" name="label Theme 1"/>
          <p:cNvSpPr/>
          <p:nvPr/>
        </p:nvSpPr>
        <p:spPr>
          <a:xfrm>
            <a:off x="1097280" y="2926080"/>
            <a:ext cx="3657600" cy="969264"/>
          </a:xfrm>
          <a:prstGeom prst="roundRect">
            <a:avLst>
              <a:gd name="adj" fmla="val 18868"/>
            </a:avLst>
          </a:prstGeom>
          <a:solidFill>
            <a:srgbClr val="4F81BD"/>
          </a:solidFill>
          <a:ln w="19050">
            <a:solidFill>
              <a:srgbClr val="FFFFFF"/>
            </a:solidFill>
            <a:prstDash val="solid"/>
          </a:ln>
        </p:spPr>
      </p:sp>
      <p:sp>
        <p:nvSpPr>
          <p:cNvPr id="6" name="Text 4"/>
          <p:cNvSpPr txBox="1"/>
          <p:nvPr/>
        </p:nvSpPr>
        <p:spPr>
          <a:xfrm>
            <a:off x="1097280" y="2926080"/>
            <a:ext cx="3657600" cy="969264"/>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Theme 1</a:t>
            </a:r>
            <a:endParaRPr lang="en-US" sz="2800" dirty="0"/>
          </a:p>
        </p:txBody>
      </p:sp>
      <p:sp>
        <p:nvSpPr>
          <p:cNvPr id="7" name="Text 5"/>
          <p:cNvSpPr txBox="1"/>
          <p:nvPr/>
        </p:nvSpPr>
        <p:spPr>
          <a:xfrm>
            <a:off x="4937760" y="3035808"/>
            <a:ext cx="11932920" cy="749808"/>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Nurses’ knowledge of pandemic and disaster preparedness</a:t>
            </a:r>
            <a:endParaRPr lang="en-US" sz="2400" dirty="0"/>
          </a:p>
        </p:txBody>
      </p:sp>
      <p:sp>
        <p:nvSpPr>
          <p:cNvPr id="8" name="card Theme 2"/>
          <p:cNvSpPr/>
          <p:nvPr/>
        </p:nvSpPr>
        <p:spPr>
          <a:xfrm>
            <a:off x="4480560" y="4114800"/>
            <a:ext cx="12527280" cy="749808"/>
          </a:xfrm>
          <a:prstGeom prst="roundRect">
            <a:avLst>
              <a:gd name="adj" fmla="val 18293"/>
            </a:avLst>
          </a:prstGeom>
          <a:solidFill>
            <a:srgbClr val="D6DDEA"/>
          </a:solidFill>
          <a:ln w="12700">
            <a:solidFill>
              <a:srgbClr val="D6DDEA"/>
            </a:solidFill>
            <a:prstDash val="solid"/>
          </a:ln>
        </p:spPr>
      </p:sp>
      <p:sp>
        <p:nvSpPr>
          <p:cNvPr id="9" name="label Theme 2"/>
          <p:cNvSpPr/>
          <p:nvPr/>
        </p:nvSpPr>
        <p:spPr>
          <a:xfrm>
            <a:off x="1097280" y="4005072"/>
            <a:ext cx="3657600" cy="969264"/>
          </a:xfrm>
          <a:prstGeom prst="roundRect">
            <a:avLst>
              <a:gd name="adj" fmla="val 18868"/>
            </a:avLst>
          </a:prstGeom>
          <a:solidFill>
            <a:srgbClr val="4F81BD"/>
          </a:solidFill>
          <a:ln w="19050">
            <a:solidFill>
              <a:srgbClr val="FFFFFF"/>
            </a:solidFill>
            <a:prstDash val="solid"/>
          </a:ln>
        </p:spPr>
      </p:sp>
      <p:sp>
        <p:nvSpPr>
          <p:cNvPr id="10" name="Text 8"/>
          <p:cNvSpPr txBox="1"/>
          <p:nvPr/>
        </p:nvSpPr>
        <p:spPr>
          <a:xfrm>
            <a:off x="1097280" y="4005072"/>
            <a:ext cx="3657600" cy="969264"/>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Theme 2</a:t>
            </a:r>
            <a:endParaRPr lang="en-US" sz="2800" dirty="0"/>
          </a:p>
        </p:txBody>
      </p:sp>
      <p:sp>
        <p:nvSpPr>
          <p:cNvPr id="11" name="Text 9"/>
          <p:cNvSpPr txBox="1"/>
          <p:nvPr/>
        </p:nvSpPr>
        <p:spPr>
          <a:xfrm>
            <a:off x="4937760" y="4114800"/>
            <a:ext cx="11932920" cy="749808"/>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Nurses’ perceptions of risk, readiness and professional role</a:t>
            </a:r>
            <a:endParaRPr lang="en-US" sz="2400" dirty="0"/>
          </a:p>
        </p:txBody>
      </p:sp>
      <p:sp>
        <p:nvSpPr>
          <p:cNvPr id="12" name="card Theme 3"/>
          <p:cNvSpPr/>
          <p:nvPr/>
        </p:nvSpPr>
        <p:spPr>
          <a:xfrm>
            <a:off x="4480560" y="5193792"/>
            <a:ext cx="12527280" cy="749808"/>
          </a:xfrm>
          <a:prstGeom prst="roundRect">
            <a:avLst>
              <a:gd name="adj" fmla="val 18293"/>
            </a:avLst>
          </a:prstGeom>
          <a:solidFill>
            <a:srgbClr val="D6DDEA"/>
          </a:solidFill>
          <a:ln w="12700">
            <a:solidFill>
              <a:srgbClr val="D6DDEA"/>
            </a:solidFill>
            <a:prstDash val="solid"/>
          </a:ln>
        </p:spPr>
      </p:sp>
      <p:sp>
        <p:nvSpPr>
          <p:cNvPr id="13" name="label Theme 3"/>
          <p:cNvSpPr/>
          <p:nvPr/>
        </p:nvSpPr>
        <p:spPr>
          <a:xfrm>
            <a:off x="1097280" y="5084064"/>
            <a:ext cx="3657600" cy="969264"/>
          </a:xfrm>
          <a:prstGeom prst="roundRect">
            <a:avLst>
              <a:gd name="adj" fmla="val 18868"/>
            </a:avLst>
          </a:prstGeom>
          <a:solidFill>
            <a:srgbClr val="4F81BD"/>
          </a:solidFill>
          <a:ln w="19050">
            <a:solidFill>
              <a:srgbClr val="FFFFFF"/>
            </a:solidFill>
            <a:prstDash val="solid"/>
          </a:ln>
        </p:spPr>
      </p:sp>
      <p:sp>
        <p:nvSpPr>
          <p:cNvPr id="14" name="Text 12"/>
          <p:cNvSpPr txBox="1"/>
          <p:nvPr/>
        </p:nvSpPr>
        <p:spPr>
          <a:xfrm>
            <a:off x="1097280" y="5084064"/>
            <a:ext cx="3657600" cy="969264"/>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Theme 3</a:t>
            </a:r>
            <a:endParaRPr lang="en-US" sz="2800" dirty="0"/>
          </a:p>
        </p:txBody>
      </p:sp>
      <p:sp>
        <p:nvSpPr>
          <p:cNvPr id="15" name="Text 13"/>
          <p:cNvSpPr txBox="1"/>
          <p:nvPr/>
        </p:nvSpPr>
        <p:spPr>
          <a:xfrm>
            <a:off x="4937760" y="5193792"/>
            <a:ext cx="11932920" cy="749808"/>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Nurses’ practices in pandemic disaster response</a:t>
            </a:r>
            <a:endParaRPr lang="en-US" sz="2400" dirty="0"/>
          </a:p>
        </p:txBody>
      </p:sp>
      <p:sp>
        <p:nvSpPr>
          <p:cNvPr id="16" name="card Theme 4"/>
          <p:cNvSpPr/>
          <p:nvPr/>
        </p:nvSpPr>
        <p:spPr>
          <a:xfrm>
            <a:off x="4480560" y="6272784"/>
            <a:ext cx="12527280" cy="749808"/>
          </a:xfrm>
          <a:prstGeom prst="roundRect">
            <a:avLst>
              <a:gd name="adj" fmla="val 18293"/>
            </a:avLst>
          </a:prstGeom>
          <a:solidFill>
            <a:srgbClr val="D6DDEA"/>
          </a:solidFill>
          <a:ln w="12700">
            <a:solidFill>
              <a:srgbClr val="D6DDEA"/>
            </a:solidFill>
            <a:prstDash val="solid"/>
          </a:ln>
        </p:spPr>
      </p:sp>
      <p:sp>
        <p:nvSpPr>
          <p:cNvPr id="17" name="label Theme 4"/>
          <p:cNvSpPr/>
          <p:nvPr/>
        </p:nvSpPr>
        <p:spPr>
          <a:xfrm>
            <a:off x="1097280" y="6163056"/>
            <a:ext cx="3657600" cy="969264"/>
          </a:xfrm>
          <a:prstGeom prst="roundRect">
            <a:avLst>
              <a:gd name="adj" fmla="val 18868"/>
            </a:avLst>
          </a:prstGeom>
          <a:solidFill>
            <a:srgbClr val="4F81BD"/>
          </a:solidFill>
          <a:ln w="19050">
            <a:solidFill>
              <a:srgbClr val="FFFFFF"/>
            </a:solidFill>
            <a:prstDash val="solid"/>
          </a:ln>
        </p:spPr>
      </p:sp>
      <p:sp>
        <p:nvSpPr>
          <p:cNvPr id="18" name="Text 16"/>
          <p:cNvSpPr txBox="1"/>
          <p:nvPr/>
        </p:nvSpPr>
        <p:spPr>
          <a:xfrm>
            <a:off x="1097280" y="6163056"/>
            <a:ext cx="3657600" cy="969264"/>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Theme 4</a:t>
            </a:r>
            <a:endParaRPr lang="en-US" sz="2800" dirty="0"/>
          </a:p>
        </p:txBody>
      </p:sp>
      <p:sp>
        <p:nvSpPr>
          <p:cNvPr id="19" name="Text 17"/>
          <p:cNvSpPr txBox="1"/>
          <p:nvPr/>
        </p:nvSpPr>
        <p:spPr>
          <a:xfrm>
            <a:off x="4937760" y="6272784"/>
            <a:ext cx="11932920" cy="749808"/>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Factors predicting knowledge, perception, practice and preparedness</a:t>
            </a:r>
            <a:endParaRPr lang="en-US" sz="2400" dirty="0"/>
          </a:p>
        </p:txBody>
      </p:sp>
      <p:sp>
        <p:nvSpPr>
          <p:cNvPr id="20" name="card Saudi Evidence"/>
          <p:cNvSpPr/>
          <p:nvPr/>
        </p:nvSpPr>
        <p:spPr>
          <a:xfrm>
            <a:off x="4480560" y="7351776"/>
            <a:ext cx="12527280" cy="749808"/>
          </a:xfrm>
          <a:prstGeom prst="roundRect">
            <a:avLst>
              <a:gd name="adj" fmla="val 18293"/>
            </a:avLst>
          </a:prstGeom>
          <a:solidFill>
            <a:srgbClr val="D6DDEA"/>
          </a:solidFill>
          <a:ln w="12700">
            <a:solidFill>
              <a:srgbClr val="D6DDEA"/>
            </a:solidFill>
            <a:prstDash val="solid"/>
          </a:ln>
        </p:spPr>
      </p:sp>
      <p:sp>
        <p:nvSpPr>
          <p:cNvPr id="21" name="label Saudi Evidence"/>
          <p:cNvSpPr/>
          <p:nvPr/>
        </p:nvSpPr>
        <p:spPr>
          <a:xfrm>
            <a:off x="1097280" y="7242048"/>
            <a:ext cx="3657600" cy="969264"/>
          </a:xfrm>
          <a:prstGeom prst="roundRect">
            <a:avLst>
              <a:gd name="adj" fmla="val 18868"/>
            </a:avLst>
          </a:prstGeom>
          <a:solidFill>
            <a:srgbClr val="4F81BD"/>
          </a:solidFill>
          <a:ln w="19050">
            <a:solidFill>
              <a:srgbClr val="FFFFFF"/>
            </a:solidFill>
            <a:prstDash val="solid"/>
          </a:ln>
        </p:spPr>
      </p:sp>
      <p:sp>
        <p:nvSpPr>
          <p:cNvPr id="22" name="Text 20"/>
          <p:cNvSpPr txBox="1"/>
          <p:nvPr/>
        </p:nvSpPr>
        <p:spPr>
          <a:xfrm>
            <a:off x="1097280" y="7242048"/>
            <a:ext cx="3657600" cy="969264"/>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Saudi Evidence</a:t>
            </a:r>
            <a:endParaRPr lang="en-US" sz="2800" dirty="0"/>
          </a:p>
        </p:txBody>
      </p:sp>
      <p:sp>
        <p:nvSpPr>
          <p:cNvPr id="23" name="Text 21"/>
          <p:cNvSpPr txBox="1"/>
          <p:nvPr/>
        </p:nvSpPr>
        <p:spPr>
          <a:xfrm>
            <a:off x="4937760" y="7351776"/>
            <a:ext cx="11932920" cy="749808"/>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Saudi Arabian evidence and regional relevance</a:t>
            </a:r>
            <a:endParaRPr lang="en-US" sz="2400" dirty="0"/>
          </a:p>
        </p:txBody>
      </p:sp>
      <p:sp>
        <p:nvSpPr>
          <p:cNvPr id="24" name="card Limitations"/>
          <p:cNvSpPr/>
          <p:nvPr/>
        </p:nvSpPr>
        <p:spPr>
          <a:xfrm>
            <a:off x="4480560" y="8430768"/>
            <a:ext cx="12527280" cy="749808"/>
          </a:xfrm>
          <a:prstGeom prst="roundRect">
            <a:avLst>
              <a:gd name="adj" fmla="val 18293"/>
            </a:avLst>
          </a:prstGeom>
          <a:solidFill>
            <a:srgbClr val="D6DDEA"/>
          </a:solidFill>
          <a:ln w="12700">
            <a:solidFill>
              <a:srgbClr val="D6DDEA"/>
            </a:solidFill>
            <a:prstDash val="solid"/>
          </a:ln>
        </p:spPr>
      </p:sp>
      <p:sp>
        <p:nvSpPr>
          <p:cNvPr id="25" name="label Limitations"/>
          <p:cNvSpPr/>
          <p:nvPr/>
        </p:nvSpPr>
        <p:spPr>
          <a:xfrm>
            <a:off x="1097280" y="8321040"/>
            <a:ext cx="3657600" cy="969264"/>
          </a:xfrm>
          <a:prstGeom prst="roundRect">
            <a:avLst>
              <a:gd name="adj" fmla="val 18868"/>
            </a:avLst>
          </a:prstGeom>
          <a:solidFill>
            <a:srgbClr val="4F81BD"/>
          </a:solidFill>
          <a:ln w="19050">
            <a:solidFill>
              <a:srgbClr val="FFFFFF"/>
            </a:solidFill>
            <a:prstDash val="solid"/>
          </a:ln>
        </p:spPr>
      </p:sp>
      <p:sp>
        <p:nvSpPr>
          <p:cNvPr id="26" name="Text 24"/>
          <p:cNvSpPr txBox="1"/>
          <p:nvPr/>
        </p:nvSpPr>
        <p:spPr>
          <a:xfrm>
            <a:off x="1097280" y="8321040"/>
            <a:ext cx="3657600" cy="969264"/>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Limitations</a:t>
            </a:r>
            <a:endParaRPr lang="en-US" sz="2800" dirty="0"/>
          </a:p>
        </p:txBody>
      </p:sp>
      <p:sp>
        <p:nvSpPr>
          <p:cNvPr id="27" name="Text 25"/>
          <p:cNvSpPr txBox="1"/>
          <p:nvPr/>
        </p:nvSpPr>
        <p:spPr>
          <a:xfrm>
            <a:off x="4937760" y="8430768"/>
            <a:ext cx="11932920" cy="749808"/>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Methodological and conceptual limitations of existing evidence</a:t>
            </a:r>
            <a:endParaRPr lang="en-US" sz="24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Literature Review</a:t>
            </a:r>
            <a:endParaRPr lang="en-US" sz="5400" dirty="0"/>
          </a:p>
        </p:txBody>
      </p:sp>
      <p:sp>
        <p:nvSpPr>
          <p:cNvPr id="3" name="card Said &amp; Chiang (2020)"/>
          <p:cNvSpPr/>
          <p:nvPr/>
        </p:nvSpPr>
        <p:spPr>
          <a:xfrm>
            <a:off x="5394960" y="2395728"/>
            <a:ext cx="11612880" cy="1335024"/>
          </a:xfrm>
          <a:prstGeom prst="roundRect">
            <a:avLst>
              <a:gd name="adj" fmla="val 10274"/>
            </a:avLst>
          </a:prstGeom>
          <a:solidFill>
            <a:srgbClr val="D6DDEA"/>
          </a:solidFill>
          <a:ln w="12700">
            <a:solidFill>
              <a:srgbClr val="D6DDEA"/>
            </a:solidFill>
            <a:prstDash val="solid"/>
          </a:ln>
        </p:spPr>
      </p:sp>
      <p:sp>
        <p:nvSpPr>
          <p:cNvPr id="4" name="label Said &amp; Chiang (2020)"/>
          <p:cNvSpPr/>
          <p:nvPr/>
        </p:nvSpPr>
        <p:spPr>
          <a:xfrm>
            <a:off x="1097280" y="2286000"/>
            <a:ext cx="4572000" cy="1554480"/>
          </a:xfrm>
          <a:prstGeom prst="roundRect">
            <a:avLst>
              <a:gd name="adj" fmla="val 11765"/>
            </a:avLst>
          </a:prstGeom>
          <a:solidFill>
            <a:srgbClr val="4F81BD"/>
          </a:solidFill>
          <a:ln w="19050">
            <a:solidFill>
              <a:srgbClr val="FFFFFF"/>
            </a:solidFill>
            <a:prstDash val="solid"/>
          </a:ln>
        </p:spPr>
      </p:sp>
      <p:sp>
        <p:nvSpPr>
          <p:cNvPr id="5" name="Text 3"/>
          <p:cNvSpPr txBox="1"/>
          <p:nvPr/>
        </p:nvSpPr>
        <p:spPr>
          <a:xfrm>
            <a:off x="1097280" y="2286000"/>
            <a:ext cx="4572000" cy="15544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Said &amp; Chiang (2020)</a:t>
            </a:r>
            <a:endParaRPr lang="en-US" sz="2800" dirty="0"/>
          </a:p>
        </p:txBody>
      </p:sp>
      <p:sp>
        <p:nvSpPr>
          <p:cNvPr id="6" name="Text 4"/>
          <p:cNvSpPr txBox="1"/>
          <p:nvPr/>
        </p:nvSpPr>
        <p:spPr>
          <a:xfrm>
            <a:off x="5852160" y="2395728"/>
            <a:ext cx="11018520" cy="133502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Systematic review of 12 studies (1,443 nurses): inadequate disaster knowledge and skills, and weak psychological preparedness.</a:t>
            </a:r>
            <a:endParaRPr lang="en-US" sz="2400" dirty="0"/>
          </a:p>
        </p:txBody>
      </p:sp>
      <p:sp>
        <p:nvSpPr>
          <p:cNvPr id="7" name="card Tas &amp; Cakir (2022)"/>
          <p:cNvSpPr/>
          <p:nvPr/>
        </p:nvSpPr>
        <p:spPr>
          <a:xfrm>
            <a:off x="5394960" y="4133088"/>
            <a:ext cx="11612880" cy="1335024"/>
          </a:xfrm>
          <a:prstGeom prst="roundRect">
            <a:avLst>
              <a:gd name="adj" fmla="val 10274"/>
            </a:avLst>
          </a:prstGeom>
          <a:solidFill>
            <a:srgbClr val="D6DDEA"/>
          </a:solidFill>
          <a:ln w="12700">
            <a:solidFill>
              <a:srgbClr val="D6DDEA"/>
            </a:solidFill>
            <a:prstDash val="solid"/>
          </a:ln>
        </p:spPr>
      </p:sp>
      <p:sp>
        <p:nvSpPr>
          <p:cNvPr id="8" name="label Tas &amp; Cakir (2022)"/>
          <p:cNvSpPr/>
          <p:nvPr/>
        </p:nvSpPr>
        <p:spPr>
          <a:xfrm>
            <a:off x="1097280" y="4023360"/>
            <a:ext cx="4572000" cy="1554480"/>
          </a:xfrm>
          <a:prstGeom prst="roundRect">
            <a:avLst>
              <a:gd name="adj" fmla="val 11765"/>
            </a:avLst>
          </a:prstGeom>
          <a:solidFill>
            <a:srgbClr val="4F81BD"/>
          </a:solidFill>
          <a:ln w="19050">
            <a:solidFill>
              <a:srgbClr val="FFFFFF"/>
            </a:solidFill>
            <a:prstDash val="solid"/>
          </a:ln>
        </p:spPr>
      </p:sp>
      <p:sp>
        <p:nvSpPr>
          <p:cNvPr id="9" name="Text 7"/>
          <p:cNvSpPr txBox="1"/>
          <p:nvPr/>
        </p:nvSpPr>
        <p:spPr>
          <a:xfrm>
            <a:off x="1097280" y="4023360"/>
            <a:ext cx="4572000" cy="15544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Tas &amp; Cakir (2022)</a:t>
            </a:r>
            <a:endParaRPr lang="en-US" sz="2800" dirty="0"/>
          </a:p>
        </p:txBody>
      </p:sp>
      <p:sp>
        <p:nvSpPr>
          <p:cNvPr id="10" name="Text 8"/>
          <p:cNvSpPr txBox="1"/>
          <p:nvPr/>
        </p:nvSpPr>
        <p:spPr>
          <a:xfrm>
            <a:off x="5852160" y="4133088"/>
            <a:ext cx="11018520" cy="133502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Review of 17 studies: nurses inadequately prepared; disaster education and experience consistently linked to better outcomes.</a:t>
            </a:r>
            <a:endParaRPr lang="en-US" sz="2400" dirty="0"/>
          </a:p>
        </p:txBody>
      </p:sp>
      <p:sp>
        <p:nvSpPr>
          <p:cNvPr id="11" name="card Songwathana &amp; Timalsina (2021)"/>
          <p:cNvSpPr/>
          <p:nvPr/>
        </p:nvSpPr>
        <p:spPr>
          <a:xfrm>
            <a:off x="5394960" y="5870448"/>
            <a:ext cx="11612880" cy="1335024"/>
          </a:xfrm>
          <a:prstGeom prst="roundRect">
            <a:avLst>
              <a:gd name="adj" fmla="val 10274"/>
            </a:avLst>
          </a:prstGeom>
          <a:solidFill>
            <a:srgbClr val="D6DDEA"/>
          </a:solidFill>
          <a:ln w="12700">
            <a:solidFill>
              <a:srgbClr val="D6DDEA"/>
            </a:solidFill>
            <a:prstDash val="solid"/>
          </a:ln>
        </p:spPr>
      </p:sp>
      <p:sp>
        <p:nvSpPr>
          <p:cNvPr id="12" name="label Songwathana &amp; Timalsina (2021)"/>
          <p:cNvSpPr/>
          <p:nvPr/>
        </p:nvSpPr>
        <p:spPr>
          <a:xfrm>
            <a:off x="1097280" y="5760720"/>
            <a:ext cx="4572000" cy="1554480"/>
          </a:xfrm>
          <a:prstGeom prst="roundRect">
            <a:avLst>
              <a:gd name="adj" fmla="val 11765"/>
            </a:avLst>
          </a:prstGeom>
          <a:solidFill>
            <a:srgbClr val="4F81BD"/>
          </a:solidFill>
          <a:ln w="19050">
            <a:solidFill>
              <a:srgbClr val="FFFFFF"/>
            </a:solidFill>
            <a:prstDash val="solid"/>
          </a:ln>
        </p:spPr>
      </p:sp>
      <p:sp>
        <p:nvSpPr>
          <p:cNvPr id="13" name="Text 11"/>
          <p:cNvSpPr txBox="1"/>
          <p:nvPr/>
        </p:nvSpPr>
        <p:spPr>
          <a:xfrm>
            <a:off x="1097280" y="5760720"/>
            <a:ext cx="4572000" cy="15544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Songwathana &amp; Timalsina (2021)</a:t>
            </a:r>
            <a:endParaRPr lang="en-US" sz="2800" dirty="0"/>
          </a:p>
        </p:txBody>
      </p:sp>
      <p:sp>
        <p:nvSpPr>
          <p:cNvPr id="14" name="Text 12"/>
          <p:cNvSpPr txBox="1"/>
          <p:nvPr/>
        </p:nvSpPr>
        <p:spPr>
          <a:xfrm>
            <a:off x="5852160" y="5870448"/>
            <a:ext cx="11018520" cy="133502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Poor-to-fair preparedness in developing countries; gaps in structured education, training drills and disaster participation.</a:t>
            </a:r>
            <a:endParaRPr lang="en-US" sz="2400" dirty="0"/>
          </a:p>
        </p:txBody>
      </p:sp>
      <p:sp>
        <p:nvSpPr>
          <p:cNvPr id="15" name="card Küçük et al. (2023)"/>
          <p:cNvSpPr/>
          <p:nvPr/>
        </p:nvSpPr>
        <p:spPr>
          <a:xfrm>
            <a:off x="5394960" y="7607808"/>
            <a:ext cx="11612880" cy="1335024"/>
          </a:xfrm>
          <a:prstGeom prst="roundRect">
            <a:avLst>
              <a:gd name="adj" fmla="val 10274"/>
            </a:avLst>
          </a:prstGeom>
          <a:solidFill>
            <a:srgbClr val="D6DDEA"/>
          </a:solidFill>
          <a:ln w="12700">
            <a:solidFill>
              <a:srgbClr val="D6DDEA"/>
            </a:solidFill>
            <a:prstDash val="solid"/>
          </a:ln>
        </p:spPr>
      </p:sp>
      <p:sp>
        <p:nvSpPr>
          <p:cNvPr id="16" name="label Küçük et al. (2023)"/>
          <p:cNvSpPr/>
          <p:nvPr/>
        </p:nvSpPr>
        <p:spPr>
          <a:xfrm>
            <a:off x="1097280" y="7498080"/>
            <a:ext cx="4572000" cy="1554480"/>
          </a:xfrm>
          <a:prstGeom prst="roundRect">
            <a:avLst>
              <a:gd name="adj" fmla="val 11765"/>
            </a:avLst>
          </a:prstGeom>
          <a:solidFill>
            <a:srgbClr val="4F81BD"/>
          </a:solidFill>
          <a:ln w="19050">
            <a:solidFill>
              <a:srgbClr val="FFFFFF"/>
            </a:solidFill>
            <a:prstDash val="solid"/>
          </a:ln>
        </p:spPr>
      </p:sp>
      <p:sp>
        <p:nvSpPr>
          <p:cNvPr id="17" name="Text 15"/>
          <p:cNvSpPr txBox="1"/>
          <p:nvPr/>
        </p:nvSpPr>
        <p:spPr>
          <a:xfrm>
            <a:off x="1097280" y="7498080"/>
            <a:ext cx="4572000" cy="15544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Küçük et al. (2023)</a:t>
            </a:r>
            <a:endParaRPr lang="en-US" sz="2800" dirty="0"/>
          </a:p>
        </p:txBody>
      </p:sp>
      <p:sp>
        <p:nvSpPr>
          <p:cNvPr id="18" name="Text 16"/>
          <p:cNvSpPr txBox="1"/>
          <p:nvPr/>
        </p:nvSpPr>
        <p:spPr>
          <a:xfrm>
            <a:off x="5852160" y="7607808"/>
            <a:ext cx="11018520" cy="133502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Despite training and drill participation, nurses perceived only a moderate level of preparedness.</a:t>
            </a:r>
            <a:endParaRPr lang="en-US" sz="24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Literature Review</a:t>
            </a:r>
            <a:endParaRPr lang="en-US" sz="5400" dirty="0"/>
          </a:p>
        </p:txBody>
      </p:sp>
      <p:sp>
        <p:nvSpPr>
          <p:cNvPr id="3" name="card Song et al. (2021)"/>
          <p:cNvSpPr/>
          <p:nvPr/>
        </p:nvSpPr>
        <p:spPr>
          <a:xfrm>
            <a:off x="5394960" y="2395728"/>
            <a:ext cx="11612880" cy="1335024"/>
          </a:xfrm>
          <a:prstGeom prst="roundRect">
            <a:avLst>
              <a:gd name="adj" fmla="val 10274"/>
            </a:avLst>
          </a:prstGeom>
          <a:solidFill>
            <a:srgbClr val="D6DDEA"/>
          </a:solidFill>
          <a:ln w="12700">
            <a:solidFill>
              <a:srgbClr val="D6DDEA"/>
            </a:solidFill>
            <a:prstDash val="solid"/>
          </a:ln>
        </p:spPr>
      </p:sp>
      <p:sp>
        <p:nvSpPr>
          <p:cNvPr id="4" name="label Song et al. (2021)"/>
          <p:cNvSpPr/>
          <p:nvPr/>
        </p:nvSpPr>
        <p:spPr>
          <a:xfrm>
            <a:off x="1097280" y="2286000"/>
            <a:ext cx="4572000" cy="1554480"/>
          </a:xfrm>
          <a:prstGeom prst="roundRect">
            <a:avLst>
              <a:gd name="adj" fmla="val 11765"/>
            </a:avLst>
          </a:prstGeom>
          <a:solidFill>
            <a:srgbClr val="4F81BD"/>
          </a:solidFill>
          <a:ln w="19050">
            <a:solidFill>
              <a:srgbClr val="FFFFFF"/>
            </a:solidFill>
            <a:prstDash val="solid"/>
          </a:ln>
        </p:spPr>
      </p:sp>
      <p:sp>
        <p:nvSpPr>
          <p:cNvPr id="5" name="Text 3"/>
          <p:cNvSpPr txBox="1"/>
          <p:nvPr/>
        </p:nvSpPr>
        <p:spPr>
          <a:xfrm>
            <a:off x="1097280" y="2286000"/>
            <a:ext cx="4572000" cy="15544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Song et al. (2021)</a:t>
            </a:r>
            <a:endParaRPr lang="en-US" sz="2800" dirty="0"/>
          </a:p>
        </p:txBody>
      </p:sp>
      <p:sp>
        <p:nvSpPr>
          <p:cNvPr id="6" name="Text 4"/>
          <p:cNvSpPr txBox="1"/>
          <p:nvPr/>
        </p:nvSpPr>
        <p:spPr>
          <a:xfrm>
            <a:off x="5852160" y="2395728"/>
            <a:ext cx="11018520" cy="133502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Training, emergency drills and prior infectious-disease experience were associated with stronger emergency-response competencies.</a:t>
            </a:r>
            <a:endParaRPr lang="en-US" sz="2400" dirty="0"/>
          </a:p>
        </p:txBody>
      </p:sp>
      <p:sp>
        <p:nvSpPr>
          <p:cNvPr id="7" name="card Chegini et al. (2022)"/>
          <p:cNvSpPr/>
          <p:nvPr/>
        </p:nvSpPr>
        <p:spPr>
          <a:xfrm>
            <a:off x="5394960" y="4133088"/>
            <a:ext cx="11612880" cy="1335024"/>
          </a:xfrm>
          <a:prstGeom prst="roundRect">
            <a:avLst>
              <a:gd name="adj" fmla="val 10274"/>
            </a:avLst>
          </a:prstGeom>
          <a:solidFill>
            <a:srgbClr val="D6DDEA"/>
          </a:solidFill>
          <a:ln w="12700">
            <a:solidFill>
              <a:srgbClr val="D6DDEA"/>
            </a:solidFill>
            <a:prstDash val="solid"/>
          </a:ln>
        </p:spPr>
      </p:sp>
      <p:sp>
        <p:nvSpPr>
          <p:cNvPr id="8" name="label Chegini et al. (2022)"/>
          <p:cNvSpPr/>
          <p:nvPr/>
        </p:nvSpPr>
        <p:spPr>
          <a:xfrm>
            <a:off x="1097280" y="4023360"/>
            <a:ext cx="4572000" cy="1554480"/>
          </a:xfrm>
          <a:prstGeom prst="roundRect">
            <a:avLst>
              <a:gd name="adj" fmla="val 11765"/>
            </a:avLst>
          </a:prstGeom>
          <a:solidFill>
            <a:srgbClr val="4F81BD"/>
          </a:solidFill>
          <a:ln w="19050">
            <a:solidFill>
              <a:srgbClr val="FFFFFF"/>
            </a:solidFill>
            <a:prstDash val="solid"/>
          </a:ln>
        </p:spPr>
      </p:sp>
      <p:sp>
        <p:nvSpPr>
          <p:cNvPr id="9" name="Text 7"/>
          <p:cNvSpPr txBox="1"/>
          <p:nvPr/>
        </p:nvSpPr>
        <p:spPr>
          <a:xfrm>
            <a:off x="1097280" y="4023360"/>
            <a:ext cx="4572000" cy="15544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Chegini et al. (2022)</a:t>
            </a:r>
            <a:endParaRPr lang="en-US" sz="2800" dirty="0"/>
          </a:p>
        </p:txBody>
      </p:sp>
      <p:sp>
        <p:nvSpPr>
          <p:cNvPr id="10" name="Text 8"/>
          <p:cNvSpPr txBox="1"/>
          <p:nvPr/>
        </p:nvSpPr>
        <p:spPr>
          <a:xfrm>
            <a:off x="5852160" y="4133088"/>
            <a:ext cx="11018520" cy="133502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Training, advanced education and drill exposure were linked to higher preparedness; communication lagged behind technical competence.</a:t>
            </a:r>
            <a:endParaRPr lang="en-US" sz="2400" dirty="0"/>
          </a:p>
        </p:txBody>
      </p:sp>
      <p:sp>
        <p:nvSpPr>
          <p:cNvPr id="11" name="card AlOtaibi et al. (2024); Hung et al. (2021)"/>
          <p:cNvSpPr/>
          <p:nvPr/>
        </p:nvSpPr>
        <p:spPr>
          <a:xfrm>
            <a:off x="5394960" y="5870448"/>
            <a:ext cx="11612880" cy="1335024"/>
          </a:xfrm>
          <a:prstGeom prst="roundRect">
            <a:avLst>
              <a:gd name="adj" fmla="val 10274"/>
            </a:avLst>
          </a:prstGeom>
          <a:solidFill>
            <a:srgbClr val="D6DDEA"/>
          </a:solidFill>
          <a:ln w="12700">
            <a:solidFill>
              <a:srgbClr val="D6DDEA"/>
            </a:solidFill>
            <a:prstDash val="solid"/>
          </a:ln>
        </p:spPr>
      </p:sp>
      <p:sp>
        <p:nvSpPr>
          <p:cNvPr id="12" name="label AlOtaibi et al. (2024); Hung et al. (2021)"/>
          <p:cNvSpPr/>
          <p:nvPr/>
        </p:nvSpPr>
        <p:spPr>
          <a:xfrm>
            <a:off x="1097280" y="5760720"/>
            <a:ext cx="4572000" cy="1554480"/>
          </a:xfrm>
          <a:prstGeom prst="roundRect">
            <a:avLst>
              <a:gd name="adj" fmla="val 11765"/>
            </a:avLst>
          </a:prstGeom>
          <a:solidFill>
            <a:srgbClr val="4F81BD"/>
          </a:solidFill>
          <a:ln w="19050">
            <a:solidFill>
              <a:srgbClr val="FFFFFF"/>
            </a:solidFill>
            <a:prstDash val="solid"/>
          </a:ln>
        </p:spPr>
      </p:sp>
      <p:sp>
        <p:nvSpPr>
          <p:cNvPr id="13" name="Text 11"/>
          <p:cNvSpPr txBox="1"/>
          <p:nvPr/>
        </p:nvSpPr>
        <p:spPr>
          <a:xfrm>
            <a:off x="1097280" y="5760720"/>
            <a:ext cx="4572000" cy="15544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AlOtaibi et al. (2024); Hung et al. (2021)</a:t>
            </a:r>
            <a:endParaRPr lang="en-US" sz="2800" dirty="0"/>
          </a:p>
        </p:txBody>
      </p:sp>
      <p:sp>
        <p:nvSpPr>
          <p:cNvPr id="14" name="Text 12"/>
          <p:cNvSpPr txBox="1"/>
          <p:nvPr/>
        </p:nvSpPr>
        <p:spPr>
          <a:xfrm>
            <a:off x="5852160" y="5870448"/>
            <a:ext cx="11018520" cy="133502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A short online course produced non-significant change, while an intensive mixed-format course improved knowledge and perceived ability.</a:t>
            </a:r>
            <a:endParaRPr lang="en-US" sz="2400" dirty="0"/>
          </a:p>
        </p:txBody>
      </p:sp>
      <p:sp>
        <p:nvSpPr>
          <p:cNvPr id="15" name="card Saudi Evidence"/>
          <p:cNvSpPr/>
          <p:nvPr/>
        </p:nvSpPr>
        <p:spPr>
          <a:xfrm>
            <a:off x="5394960" y="7607808"/>
            <a:ext cx="11612880" cy="1335024"/>
          </a:xfrm>
          <a:prstGeom prst="roundRect">
            <a:avLst>
              <a:gd name="adj" fmla="val 10274"/>
            </a:avLst>
          </a:prstGeom>
          <a:solidFill>
            <a:srgbClr val="D6DDEA"/>
          </a:solidFill>
          <a:ln w="12700">
            <a:solidFill>
              <a:srgbClr val="D6DDEA"/>
            </a:solidFill>
            <a:prstDash val="solid"/>
          </a:ln>
        </p:spPr>
      </p:sp>
      <p:sp>
        <p:nvSpPr>
          <p:cNvPr id="16" name="label Saudi Evidence"/>
          <p:cNvSpPr/>
          <p:nvPr/>
        </p:nvSpPr>
        <p:spPr>
          <a:xfrm>
            <a:off x="1097280" y="7498080"/>
            <a:ext cx="4572000" cy="1554480"/>
          </a:xfrm>
          <a:prstGeom prst="roundRect">
            <a:avLst>
              <a:gd name="adj" fmla="val 11765"/>
            </a:avLst>
          </a:prstGeom>
          <a:solidFill>
            <a:srgbClr val="4F81BD"/>
          </a:solidFill>
          <a:ln w="19050">
            <a:solidFill>
              <a:srgbClr val="FFFFFF"/>
            </a:solidFill>
            <a:prstDash val="solid"/>
          </a:ln>
        </p:spPr>
      </p:sp>
      <p:sp>
        <p:nvSpPr>
          <p:cNvPr id="17" name="Text 15"/>
          <p:cNvSpPr txBox="1"/>
          <p:nvPr/>
        </p:nvSpPr>
        <p:spPr>
          <a:xfrm>
            <a:off x="1097280" y="7498080"/>
            <a:ext cx="4572000" cy="15544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Saudi Evidence</a:t>
            </a:r>
            <a:endParaRPr lang="en-US" sz="2800" dirty="0"/>
          </a:p>
        </p:txBody>
      </p:sp>
      <p:sp>
        <p:nvSpPr>
          <p:cNvPr id="18" name="Text 16"/>
          <p:cNvSpPr txBox="1"/>
          <p:nvPr/>
        </p:nvSpPr>
        <p:spPr>
          <a:xfrm>
            <a:off x="5852160" y="7607808"/>
            <a:ext cx="11018520" cy="133502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Studies from Riyadh, Jeddah and Dammam used varying populations, concepts and instruments, giving no comprehensive regional picture.</a:t>
            </a:r>
            <a:endParaRPr lang="en-US" sz="24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Gap in Knowledge</a:t>
            </a:r>
            <a:endParaRPr lang="en-US" sz="5400" dirty="0"/>
          </a:p>
        </p:txBody>
      </p:sp>
      <p:sp>
        <p:nvSpPr>
          <p:cNvPr id="3" name="Text 1"/>
          <p:cNvSpPr txBox="1"/>
          <p:nvPr/>
        </p:nvSpPr>
        <p:spPr>
          <a:xfrm>
            <a:off x="1097280" y="2331720"/>
            <a:ext cx="15910560" cy="3383280"/>
          </a:xfrm>
          <a:prstGeom prst="rect">
            <a:avLst/>
          </a:prstGeom>
          <a:noFill/>
          <a:ln/>
        </p:spPr>
        <p:txBody>
          <a:bodyPr wrap="square" rtlCol="0" anchor="t"/>
          <a:lstStyle/>
          <a:p>
            <a:pPr marL="342900" indent="-342900">
              <a:spcAft>
                <a:spcPts val="2200"/>
              </a:spcAft>
              <a:buSzPct val="100000"/>
              <a:buChar char="•"/>
            </a:pPr>
            <a:r>
              <a:rPr lang="en-US" sz="2900" dirty="0">
                <a:solidFill>
                  <a:srgbClr val="000000"/>
                </a:solidFill>
                <a:latin typeface="Times New Roman" pitchFamily="34" charset="0"/>
                <a:ea typeface="Times New Roman" pitchFamily="34" charset="-122"/>
                <a:cs typeface="Times New Roman" pitchFamily="34" charset="-120"/>
              </a:rPr>
              <a:t>Saudi evidence is fragmented, and the only Taif study examined emergency nurses’ disaster-education needs rather than pandemic-specific knowledge, perception and practice among staff nurses.</a:t>
            </a:r>
            <a:endParaRPr lang="en-US" sz="2900" dirty="0"/>
          </a:p>
          <a:p>
            <a:pPr marL="342900" indent="-342900">
              <a:spcAft>
                <a:spcPts val="2200"/>
              </a:spcAft>
              <a:buSzPct val="100000"/>
              <a:buChar char="•"/>
            </a:pPr>
            <a:r>
              <a:rPr lang="en-US" sz="2900" dirty="0">
                <a:solidFill>
                  <a:srgbClr val="000000"/>
                </a:solidFill>
                <a:latin typeface="Times New Roman" pitchFamily="34" charset="0"/>
                <a:ea typeface="Times New Roman" pitchFamily="34" charset="-122"/>
                <a:cs typeface="Times New Roman" pitchFamily="34" charset="-120"/>
              </a:rPr>
              <a:t>Assessing a single domain cannot show where gaps lie: knowledge alone misses confidence, perception alone misses competence, and practice alone cannot explain inconsistent behavior.</a:t>
            </a:r>
            <a:endParaRPr lang="en-US" sz="2900" dirty="0"/>
          </a:p>
        </p:txBody>
      </p:sp>
      <p:sp>
        <p:nvSpPr>
          <p:cNvPr id="4" name="banner"/>
          <p:cNvSpPr/>
          <p:nvPr/>
        </p:nvSpPr>
        <p:spPr>
          <a:xfrm>
            <a:off x="1097280" y="6035040"/>
            <a:ext cx="15910560" cy="2377440"/>
          </a:xfrm>
          <a:prstGeom prst="rect">
            <a:avLst/>
          </a:prstGeom>
          <a:solidFill>
            <a:srgbClr val="EEF1F7"/>
          </a:solidFill>
          <a:ln w="25400">
            <a:solidFill>
              <a:srgbClr val="1A3760"/>
            </a:solidFill>
            <a:prstDash val="solid"/>
          </a:ln>
        </p:spPr>
      </p:sp>
      <p:sp>
        <p:nvSpPr>
          <p:cNvPr id="5" name="Text 3"/>
          <p:cNvSpPr txBox="1"/>
          <p:nvPr/>
        </p:nvSpPr>
        <p:spPr>
          <a:xfrm>
            <a:off x="1280160" y="6035040"/>
            <a:ext cx="15544800" cy="2377440"/>
          </a:xfrm>
          <a:prstGeom prst="rect">
            <a:avLst/>
          </a:prstGeom>
          <a:noFill/>
          <a:ln/>
        </p:spPr>
        <p:txBody>
          <a:bodyPr wrap="square" lIns="50800" tIns="50800" rIns="50800" bIns="50800" rtlCol="0" anchor="ctr"/>
          <a:lstStyle/>
          <a:p>
            <a:pPr indent="0" marL="0">
              <a:buNone/>
            </a:pPr>
            <a:r>
              <a:rPr lang="en-US" sz="2600" dirty="0">
                <a:solidFill>
                  <a:srgbClr val="000000"/>
                </a:solidFill>
                <a:latin typeface="Times New Roman" pitchFamily="34" charset="0"/>
                <a:ea typeface="Times New Roman" pitchFamily="34" charset="-122"/>
                <a:cs typeface="Times New Roman" pitchFamily="34" charset="-120"/>
              </a:rPr>
              <a:t>No published study has examined all three domains of pandemic-disaster preparedness together among nurses in governmental hospitals in the Taif Region. This study provides baseline data for education, simulation training and hospital emergency planning.</a:t>
            </a:r>
            <a:endParaRPr lang="en-US" sz="26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Methodology</a:t>
            </a:r>
            <a:endParaRPr lang="en-US" sz="5400" dirty="0"/>
          </a:p>
        </p:txBody>
      </p:sp>
      <p:sp>
        <p:nvSpPr>
          <p:cNvPr id="3" name="method 1"/>
          <p:cNvSpPr/>
          <p:nvPr/>
        </p:nvSpPr>
        <p:spPr>
          <a:xfrm>
            <a:off x="1097280" y="2606040"/>
            <a:ext cx="7818120" cy="2971800"/>
          </a:xfrm>
          <a:prstGeom prst="roundRect">
            <a:avLst>
              <a:gd name="adj" fmla="val 6154"/>
            </a:avLst>
          </a:prstGeom>
          <a:solidFill>
            <a:srgbClr val="D6DDEA"/>
          </a:solidFill>
          <a:ln w="12700">
            <a:solidFill>
              <a:srgbClr val="D6DDEA"/>
            </a:solidFill>
            <a:prstDash val="solid"/>
          </a:ln>
        </p:spPr>
      </p:sp>
      <p:sp>
        <p:nvSpPr>
          <p:cNvPr id="4" name="num 01"/>
          <p:cNvSpPr/>
          <p:nvPr/>
        </p:nvSpPr>
        <p:spPr>
          <a:xfrm>
            <a:off x="1417320" y="2194560"/>
            <a:ext cx="868680" cy="868680"/>
          </a:xfrm>
          <a:prstGeom prst="ellipse">
            <a:avLst/>
          </a:prstGeom>
          <a:solidFill>
            <a:srgbClr val="FFFFFF"/>
          </a:solidFill>
          <a:ln w="38100">
            <a:solidFill>
              <a:srgbClr val="F2B800"/>
            </a:solidFill>
            <a:prstDash val="solid"/>
          </a:ln>
        </p:spPr>
      </p:sp>
      <p:sp>
        <p:nvSpPr>
          <p:cNvPr id="5" name="Text 3"/>
          <p:cNvSpPr txBox="1"/>
          <p:nvPr/>
        </p:nvSpPr>
        <p:spPr>
          <a:xfrm>
            <a:off x="1417320" y="2194560"/>
            <a:ext cx="868680" cy="868680"/>
          </a:xfrm>
          <a:prstGeom prst="rect">
            <a:avLst/>
          </a:prstGeom>
          <a:noFill/>
          <a:ln/>
        </p:spPr>
        <p:txBody>
          <a:bodyPr wrap="square" lIns="0" tIns="0" rIns="0" bIns="0" rtlCol="0" anchor="ctr"/>
          <a:lstStyle/>
          <a:p>
            <a:pPr algn="ctr" indent="0" marL="0">
              <a:buNone/>
            </a:pPr>
            <a:r>
              <a:rPr lang="en-US" sz="2500" b="1" dirty="0">
                <a:solidFill>
                  <a:srgbClr val="000000"/>
                </a:solidFill>
                <a:latin typeface="Times New Roman" pitchFamily="34" charset="0"/>
                <a:ea typeface="Times New Roman" pitchFamily="34" charset="-122"/>
                <a:cs typeface="Times New Roman" pitchFamily="34" charset="-120"/>
              </a:rPr>
              <a:t>01</a:t>
            </a:r>
            <a:endParaRPr lang="en-US" sz="2500" dirty="0"/>
          </a:p>
        </p:txBody>
      </p:sp>
      <p:sp>
        <p:nvSpPr>
          <p:cNvPr id="6" name="Text 4"/>
          <p:cNvSpPr txBox="1"/>
          <p:nvPr/>
        </p:nvSpPr>
        <p:spPr>
          <a:xfrm>
            <a:off x="2468880" y="2651760"/>
            <a:ext cx="6217920" cy="594360"/>
          </a:xfrm>
          <a:prstGeom prst="rect">
            <a:avLst/>
          </a:prstGeom>
          <a:noFill/>
          <a:ln/>
        </p:spPr>
        <p:txBody>
          <a:bodyPr wrap="square" lIns="0" tIns="0" rIns="0" bIns="0" rtlCol="0" anchor="ctr"/>
          <a:lstStyle/>
          <a:p>
            <a:pPr indent="0" marL="0">
              <a:buNone/>
            </a:pPr>
            <a:r>
              <a:rPr lang="en-US" sz="3000" b="1" dirty="0">
                <a:solidFill>
                  <a:srgbClr val="1A3760"/>
                </a:solidFill>
                <a:latin typeface="Times New Roman" pitchFamily="34" charset="0"/>
                <a:ea typeface="Times New Roman" pitchFamily="34" charset="-122"/>
                <a:cs typeface="Times New Roman" pitchFamily="34" charset="-120"/>
              </a:rPr>
              <a:t>Design</a:t>
            </a:r>
            <a:endParaRPr lang="en-US" sz="3000" dirty="0"/>
          </a:p>
        </p:txBody>
      </p:sp>
      <p:sp>
        <p:nvSpPr>
          <p:cNvPr id="7" name="Text 5"/>
          <p:cNvSpPr txBox="1"/>
          <p:nvPr/>
        </p:nvSpPr>
        <p:spPr>
          <a:xfrm>
            <a:off x="1463040" y="3383280"/>
            <a:ext cx="7132320" cy="2103120"/>
          </a:xfrm>
          <a:prstGeom prst="rect">
            <a:avLst/>
          </a:prstGeom>
          <a:noFill/>
          <a:ln/>
        </p:spPr>
        <p:txBody>
          <a:bodyPr wrap="square" rtlCol="0" anchor="t"/>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Quantitative, descriptive cross-sectional design capturing nurses’ preparedness at one point in time.</a:t>
            </a:r>
            <a:endParaRPr lang="en-US" sz="2400" dirty="0"/>
          </a:p>
        </p:txBody>
      </p:sp>
      <p:sp>
        <p:nvSpPr>
          <p:cNvPr id="8" name="method 2"/>
          <p:cNvSpPr/>
          <p:nvPr/>
        </p:nvSpPr>
        <p:spPr>
          <a:xfrm>
            <a:off x="9189720" y="2606040"/>
            <a:ext cx="7818120" cy="2971800"/>
          </a:xfrm>
          <a:prstGeom prst="roundRect">
            <a:avLst>
              <a:gd name="adj" fmla="val 6154"/>
            </a:avLst>
          </a:prstGeom>
          <a:solidFill>
            <a:srgbClr val="D6DDEA"/>
          </a:solidFill>
          <a:ln w="12700">
            <a:solidFill>
              <a:srgbClr val="D6DDEA"/>
            </a:solidFill>
            <a:prstDash val="solid"/>
          </a:ln>
        </p:spPr>
      </p:sp>
      <p:sp>
        <p:nvSpPr>
          <p:cNvPr id="9" name="num 02"/>
          <p:cNvSpPr/>
          <p:nvPr/>
        </p:nvSpPr>
        <p:spPr>
          <a:xfrm>
            <a:off x="9509760" y="2194560"/>
            <a:ext cx="868680" cy="868680"/>
          </a:xfrm>
          <a:prstGeom prst="ellipse">
            <a:avLst/>
          </a:prstGeom>
          <a:solidFill>
            <a:srgbClr val="FFFFFF"/>
          </a:solidFill>
          <a:ln w="38100">
            <a:solidFill>
              <a:srgbClr val="F2B800"/>
            </a:solidFill>
            <a:prstDash val="solid"/>
          </a:ln>
        </p:spPr>
      </p:sp>
      <p:sp>
        <p:nvSpPr>
          <p:cNvPr id="10" name="Text 8"/>
          <p:cNvSpPr txBox="1"/>
          <p:nvPr/>
        </p:nvSpPr>
        <p:spPr>
          <a:xfrm>
            <a:off x="9509760" y="2194560"/>
            <a:ext cx="868680" cy="868680"/>
          </a:xfrm>
          <a:prstGeom prst="rect">
            <a:avLst/>
          </a:prstGeom>
          <a:noFill/>
          <a:ln/>
        </p:spPr>
        <p:txBody>
          <a:bodyPr wrap="square" lIns="0" tIns="0" rIns="0" bIns="0" rtlCol="0" anchor="ctr"/>
          <a:lstStyle/>
          <a:p>
            <a:pPr algn="ctr" indent="0" marL="0">
              <a:buNone/>
            </a:pPr>
            <a:r>
              <a:rPr lang="en-US" sz="2500" b="1" dirty="0">
                <a:solidFill>
                  <a:srgbClr val="000000"/>
                </a:solidFill>
                <a:latin typeface="Times New Roman" pitchFamily="34" charset="0"/>
                <a:ea typeface="Times New Roman" pitchFamily="34" charset="-122"/>
                <a:cs typeface="Times New Roman" pitchFamily="34" charset="-120"/>
              </a:rPr>
              <a:t>02</a:t>
            </a:r>
            <a:endParaRPr lang="en-US" sz="2500" dirty="0"/>
          </a:p>
        </p:txBody>
      </p:sp>
      <p:sp>
        <p:nvSpPr>
          <p:cNvPr id="11" name="Text 9"/>
          <p:cNvSpPr txBox="1"/>
          <p:nvPr/>
        </p:nvSpPr>
        <p:spPr>
          <a:xfrm>
            <a:off x="10561320" y="2651760"/>
            <a:ext cx="6217920" cy="594360"/>
          </a:xfrm>
          <a:prstGeom prst="rect">
            <a:avLst/>
          </a:prstGeom>
          <a:noFill/>
          <a:ln/>
        </p:spPr>
        <p:txBody>
          <a:bodyPr wrap="square" lIns="0" tIns="0" rIns="0" bIns="0" rtlCol="0" anchor="ctr"/>
          <a:lstStyle/>
          <a:p>
            <a:pPr indent="0" marL="0">
              <a:buNone/>
            </a:pPr>
            <a:r>
              <a:rPr lang="en-US" sz="3000" b="1" dirty="0">
                <a:solidFill>
                  <a:srgbClr val="1A3760"/>
                </a:solidFill>
                <a:latin typeface="Times New Roman" pitchFamily="34" charset="0"/>
                <a:ea typeface="Times New Roman" pitchFamily="34" charset="-122"/>
                <a:cs typeface="Times New Roman" pitchFamily="34" charset="-120"/>
              </a:rPr>
              <a:t>Setting &amp; Participants</a:t>
            </a:r>
            <a:endParaRPr lang="en-US" sz="3000" dirty="0"/>
          </a:p>
        </p:txBody>
      </p:sp>
      <p:sp>
        <p:nvSpPr>
          <p:cNvPr id="12" name="Text 10"/>
          <p:cNvSpPr txBox="1"/>
          <p:nvPr/>
        </p:nvSpPr>
        <p:spPr>
          <a:xfrm>
            <a:off x="9555480" y="3383280"/>
            <a:ext cx="7132320" cy="2103120"/>
          </a:xfrm>
          <a:prstGeom prst="rect">
            <a:avLst/>
          </a:prstGeom>
          <a:noFill/>
          <a:ln/>
        </p:spPr>
        <p:txBody>
          <a:bodyPr wrap="square" rtlCol="0" anchor="t"/>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Staff nurses in governmental hospitals in the Taif Region, Saudi Arabia, involved in patient care, infection control and pandemic response.</a:t>
            </a:r>
            <a:endParaRPr lang="en-US" sz="2400" dirty="0"/>
          </a:p>
        </p:txBody>
      </p:sp>
      <p:sp>
        <p:nvSpPr>
          <p:cNvPr id="13" name="method 3"/>
          <p:cNvSpPr/>
          <p:nvPr/>
        </p:nvSpPr>
        <p:spPr>
          <a:xfrm>
            <a:off x="1097280" y="6217920"/>
            <a:ext cx="7818120" cy="2971800"/>
          </a:xfrm>
          <a:prstGeom prst="roundRect">
            <a:avLst>
              <a:gd name="adj" fmla="val 6154"/>
            </a:avLst>
          </a:prstGeom>
          <a:solidFill>
            <a:srgbClr val="D6DDEA"/>
          </a:solidFill>
          <a:ln w="12700">
            <a:solidFill>
              <a:srgbClr val="D6DDEA"/>
            </a:solidFill>
            <a:prstDash val="solid"/>
          </a:ln>
        </p:spPr>
      </p:sp>
      <p:sp>
        <p:nvSpPr>
          <p:cNvPr id="14" name="num 03"/>
          <p:cNvSpPr/>
          <p:nvPr/>
        </p:nvSpPr>
        <p:spPr>
          <a:xfrm>
            <a:off x="1417320" y="5806440"/>
            <a:ext cx="868680" cy="868680"/>
          </a:xfrm>
          <a:prstGeom prst="ellipse">
            <a:avLst/>
          </a:prstGeom>
          <a:solidFill>
            <a:srgbClr val="FFFFFF"/>
          </a:solidFill>
          <a:ln w="38100">
            <a:solidFill>
              <a:srgbClr val="F2B800"/>
            </a:solidFill>
            <a:prstDash val="solid"/>
          </a:ln>
        </p:spPr>
      </p:sp>
      <p:sp>
        <p:nvSpPr>
          <p:cNvPr id="15" name="Text 13"/>
          <p:cNvSpPr txBox="1"/>
          <p:nvPr/>
        </p:nvSpPr>
        <p:spPr>
          <a:xfrm>
            <a:off x="1417320" y="5806440"/>
            <a:ext cx="868680" cy="868680"/>
          </a:xfrm>
          <a:prstGeom prst="rect">
            <a:avLst/>
          </a:prstGeom>
          <a:noFill/>
          <a:ln/>
        </p:spPr>
        <p:txBody>
          <a:bodyPr wrap="square" lIns="0" tIns="0" rIns="0" bIns="0" rtlCol="0" anchor="ctr"/>
          <a:lstStyle/>
          <a:p>
            <a:pPr algn="ctr" indent="0" marL="0">
              <a:buNone/>
            </a:pPr>
            <a:r>
              <a:rPr lang="en-US" sz="2500" b="1" dirty="0">
                <a:solidFill>
                  <a:srgbClr val="000000"/>
                </a:solidFill>
                <a:latin typeface="Times New Roman" pitchFamily="34" charset="0"/>
                <a:ea typeface="Times New Roman" pitchFamily="34" charset="-122"/>
                <a:cs typeface="Times New Roman" pitchFamily="34" charset="-120"/>
              </a:rPr>
              <a:t>03</a:t>
            </a:r>
            <a:endParaRPr lang="en-US" sz="2500" dirty="0"/>
          </a:p>
        </p:txBody>
      </p:sp>
      <p:sp>
        <p:nvSpPr>
          <p:cNvPr id="16" name="Text 14"/>
          <p:cNvSpPr txBox="1"/>
          <p:nvPr/>
        </p:nvSpPr>
        <p:spPr>
          <a:xfrm>
            <a:off x="2468880" y="6263640"/>
            <a:ext cx="6217920" cy="594360"/>
          </a:xfrm>
          <a:prstGeom prst="rect">
            <a:avLst/>
          </a:prstGeom>
          <a:noFill/>
          <a:ln/>
        </p:spPr>
        <p:txBody>
          <a:bodyPr wrap="square" lIns="0" tIns="0" rIns="0" bIns="0" rtlCol="0" anchor="ctr"/>
          <a:lstStyle/>
          <a:p>
            <a:pPr indent="0" marL="0">
              <a:buNone/>
            </a:pPr>
            <a:r>
              <a:rPr lang="en-US" sz="3000" b="1" dirty="0">
                <a:solidFill>
                  <a:srgbClr val="1A3760"/>
                </a:solidFill>
                <a:latin typeface="Times New Roman" pitchFamily="34" charset="0"/>
                <a:ea typeface="Times New Roman" pitchFamily="34" charset="-122"/>
                <a:cs typeface="Times New Roman" pitchFamily="34" charset="-120"/>
              </a:rPr>
              <a:t>Sample Size</a:t>
            </a:r>
            <a:endParaRPr lang="en-US" sz="3000" dirty="0"/>
          </a:p>
        </p:txBody>
      </p:sp>
      <p:sp>
        <p:nvSpPr>
          <p:cNvPr id="17" name="Text 15"/>
          <p:cNvSpPr txBox="1"/>
          <p:nvPr/>
        </p:nvSpPr>
        <p:spPr>
          <a:xfrm>
            <a:off x="1463040" y="6995160"/>
            <a:ext cx="7132320" cy="2103120"/>
          </a:xfrm>
          <a:prstGeom prst="rect">
            <a:avLst/>
          </a:prstGeom>
          <a:noFill/>
          <a:ln/>
        </p:spPr>
        <p:txBody>
          <a:bodyPr wrap="square" rtlCol="0" anchor="t"/>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G*Power 3.1 (α = .05, power = .80, f = 0.25) required at least 159; 300 nurses were recruited, plus 30 for the pilot.</a:t>
            </a:r>
            <a:endParaRPr lang="en-US" sz="2400" dirty="0"/>
          </a:p>
        </p:txBody>
      </p:sp>
      <p:sp>
        <p:nvSpPr>
          <p:cNvPr id="18" name="method 4"/>
          <p:cNvSpPr/>
          <p:nvPr/>
        </p:nvSpPr>
        <p:spPr>
          <a:xfrm>
            <a:off x="9189720" y="6217920"/>
            <a:ext cx="7818120" cy="2971800"/>
          </a:xfrm>
          <a:prstGeom prst="roundRect">
            <a:avLst>
              <a:gd name="adj" fmla="val 6154"/>
            </a:avLst>
          </a:prstGeom>
          <a:solidFill>
            <a:srgbClr val="D6DDEA"/>
          </a:solidFill>
          <a:ln w="12700">
            <a:solidFill>
              <a:srgbClr val="D6DDEA"/>
            </a:solidFill>
            <a:prstDash val="solid"/>
          </a:ln>
        </p:spPr>
      </p:sp>
      <p:sp>
        <p:nvSpPr>
          <p:cNvPr id="19" name="num 04"/>
          <p:cNvSpPr/>
          <p:nvPr/>
        </p:nvSpPr>
        <p:spPr>
          <a:xfrm>
            <a:off x="9509760" y="5806440"/>
            <a:ext cx="868680" cy="868680"/>
          </a:xfrm>
          <a:prstGeom prst="ellipse">
            <a:avLst/>
          </a:prstGeom>
          <a:solidFill>
            <a:srgbClr val="FFFFFF"/>
          </a:solidFill>
          <a:ln w="38100">
            <a:solidFill>
              <a:srgbClr val="F2B800"/>
            </a:solidFill>
            <a:prstDash val="solid"/>
          </a:ln>
        </p:spPr>
      </p:sp>
      <p:sp>
        <p:nvSpPr>
          <p:cNvPr id="20" name="Text 18"/>
          <p:cNvSpPr txBox="1"/>
          <p:nvPr/>
        </p:nvSpPr>
        <p:spPr>
          <a:xfrm>
            <a:off x="9509760" y="5806440"/>
            <a:ext cx="868680" cy="868680"/>
          </a:xfrm>
          <a:prstGeom prst="rect">
            <a:avLst/>
          </a:prstGeom>
          <a:noFill/>
          <a:ln/>
        </p:spPr>
        <p:txBody>
          <a:bodyPr wrap="square" lIns="0" tIns="0" rIns="0" bIns="0" rtlCol="0" anchor="ctr"/>
          <a:lstStyle/>
          <a:p>
            <a:pPr algn="ctr" indent="0" marL="0">
              <a:buNone/>
            </a:pPr>
            <a:r>
              <a:rPr lang="en-US" sz="2500" b="1" dirty="0">
                <a:solidFill>
                  <a:srgbClr val="000000"/>
                </a:solidFill>
                <a:latin typeface="Times New Roman" pitchFamily="34" charset="0"/>
                <a:ea typeface="Times New Roman" pitchFamily="34" charset="-122"/>
                <a:cs typeface="Times New Roman" pitchFamily="34" charset="-120"/>
              </a:rPr>
              <a:t>04</a:t>
            </a:r>
            <a:endParaRPr lang="en-US" sz="2500" dirty="0"/>
          </a:p>
        </p:txBody>
      </p:sp>
      <p:sp>
        <p:nvSpPr>
          <p:cNvPr id="21" name="Text 19"/>
          <p:cNvSpPr txBox="1"/>
          <p:nvPr/>
        </p:nvSpPr>
        <p:spPr>
          <a:xfrm>
            <a:off x="10561320" y="6263640"/>
            <a:ext cx="6217920" cy="594360"/>
          </a:xfrm>
          <a:prstGeom prst="rect">
            <a:avLst/>
          </a:prstGeom>
          <a:noFill/>
          <a:ln/>
        </p:spPr>
        <p:txBody>
          <a:bodyPr wrap="square" lIns="0" tIns="0" rIns="0" bIns="0" rtlCol="0" anchor="ctr"/>
          <a:lstStyle/>
          <a:p>
            <a:pPr indent="0" marL="0">
              <a:buNone/>
            </a:pPr>
            <a:r>
              <a:rPr lang="en-US" sz="3000" b="1" dirty="0">
                <a:solidFill>
                  <a:srgbClr val="1A3760"/>
                </a:solidFill>
                <a:latin typeface="Times New Roman" pitchFamily="34" charset="0"/>
                <a:ea typeface="Times New Roman" pitchFamily="34" charset="-122"/>
                <a:cs typeface="Times New Roman" pitchFamily="34" charset="-120"/>
              </a:rPr>
              <a:t>Sampling</a:t>
            </a:r>
            <a:endParaRPr lang="en-US" sz="3000" dirty="0"/>
          </a:p>
        </p:txBody>
      </p:sp>
      <p:sp>
        <p:nvSpPr>
          <p:cNvPr id="22" name="Text 20"/>
          <p:cNvSpPr txBox="1"/>
          <p:nvPr/>
        </p:nvSpPr>
        <p:spPr>
          <a:xfrm>
            <a:off x="9555480" y="6995160"/>
            <a:ext cx="7132320" cy="2103120"/>
          </a:xfrm>
          <a:prstGeom prst="rect">
            <a:avLst/>
          </a:prstGeom>
          <a:noFill/>
          <a:ln/>
        </p:spPr>
        <p:txBody>
          <a:bodyPr wrap="square" rtlCol="0" anchor="t"/>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Purposive non-probability sampling, as a full sampling frame of eligible nurses was not available.</a:t>
            </a:r>
            <a:endParaRPr lang="en-US" sz="24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Methodology</a:t>
            </a:r>
            <a:endParaRPr lang="en-US" sz="5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1097280" y="2331720"/>
          <a:ext cx="9692640" cy="914400"/>
        </p:xfrm>
        <a:graphic>
          <a:graphicData uri="http://schemas.openxmlformats.org/drawingml/2006/table">
            <a:tbl>
              <a:tblPr/>
              <a:tblGrid>
                <a:gridCol w="3291840"/>
                <a:gridCol w="6400800"/>
              </a:tblGrid>
              <a:tr h="713232">
                <a:tc rowSpan="3">
                  <a:txBody>
                    <a:bodyPr/>
                    <a:lstStyle/>
                    <a:p>
                      <a:pPr indent="0" marL="0">
                        <a:buNone/>
                      </a:pPr>
                      <a:r>
                        <a:rPr lang="en-US" sz="2800" b="1" dirty="0">
                          <a:solidFill>
                            <a:srgbClr val="000000"/>
                          </a:solidFill>
                          <a:latin typeface="Times New Roman" pitchFamily="34" charset="0"/>
                          <a:ea typeface="Times New Roman" pitchFamily="34" charset="-122"/>
                          <a:cs typeface="Times New Roman" pitchFamily="34" charset="-120"/>
                        </a:rPr>
                        <a:t>Inclusion Criteria</a:t>
                      </a:r>
                      <a:endParaRPr lang="en-US" sz="28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tcPr>
                </a:tc>
                <a:tc>
                  <a:txBody>
                    <a:bodyP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Nurses who majored in nursing</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tcPr>
                </a:tc>
              </a:tr>
              <a:tr h="713232">
                <a:tc vMerge="1">
                  <a:tcPr/>
                </a:tc>
                <a:tc>
                  <a:txBody>
                    <a:bodyP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Minimum six months’ experience in hospitals in the Taif Region</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tcPr>
                </a:tc>
              </a:tr>
              <a:tr h="713232">
                <a:tc vMerge="1">
                  <a:tcPr/>
                </a:tc>
                <a:tc>
                  <a:txBody>
                    <a:bodyP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Provided informed consent</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tcPr>
                </a:tc>
              </a:tr>
              <a:tr h="713232">
                <a:tc rowSpan="3">
                  <a:txBody>
                    <a:bodyPr/>
                    <a:lstStyle/>
                    <a:p>
                      <a:pPr indent="0" marL="0">
                        <a:buNone/>
                      </a:pPr>
                      <a:r>
                        <a:rPr lang="en-US" sz="2800" b="1" dirty="0">
                          <a:solidFill>
                            <a:srgbClr val="000000"/>
                          </a:solidFill>
                          <a:latin typeface="Times New Roman" pitchFamily="34" charset="0"/>
                          <a:ea typeface="Times New Roman" pitchFamily="34" charset="-122"/>
                          <a:cs typeface="Times New Roman" pitchFamily="34" charset="-120"/>
                        </a:rPr>
                        <a:t>Exclusion Criteria</a:t>
                      </a:r>
                      <a:endParaRPr lang="en-US" sz="28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tcPr>
                </a:tc>
                <a:tc>
                  <a:txBody>
                    <a:bodyP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Student nurses and interns</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tcPr>
                </a:tc>
              </a:tr>
              <a:tr h="713232">
                <a:tc vMerge="1">
                  <a:tcPr/>
                </a:tc>
                <a:tc>
                  <a:txBody>
                    <a:bodyP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Administrative staff</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tcPr>
                </a:tc>
              </a:tr>
              <a:tr h="713232">
                <a:tc vMerge="1">
                  <a:tcPr/>
                </a:tc>
                <a:tc>
                  <a:txBody>
                    <a:bodyP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Nurses on long-term leave or who declined consent</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tcPr>
                </a:tc>
              </a:tr>
            </a:tbl>
          </a:graphicData>
        </a:graphic>
      </p:graphicFrame>
      <p:sp>
        <p:nvSpPr>
          <p:cNvPr id="4" name="Text 1"/>
          <p:cNvSpPr txBox="1"/>
          <p:nvPr/>
        </p:nvSpPr>
        <p:spPr>
          <a:xfrm>
            <a:off x="11521440" y="2240280"/>
            <a:ext cx="5669280" cy="594360"/>
          </a:xfrm>
          <a:prstGeom prst="rect">
            <a:avLst/>
          </a:prstGeom>
          <a:noFill/>
          <a:ln/>
        </p:spPr>
        <p:txBody>
          <a:bodyPr wrap="square" lIns="0" tIns="0" rIns="0" bIns="0" rtlCol="0" anchor="ctr"/>
          <a:lstStyle/>
          <a:p>
            <a:pPr indent="0" marL="0">
              <a:buNone/>
            </a:pPr>
            <a:r>
              <a:rPr lang="en-US" sz="3000" b="1" dirty="0">
                <a:solidFill>
                  <a:srgbClr val="1A3760"/>
                </a:solidFill>
                <a:latin typeface="Times New Roman" pitchFamily="34" charset="0"/>
                <a:ea typeface="Times New Roman" pitchFamily="34" charset="-122"/>
                <a:cs typeface="Times New Roman" pitchFamily="34" charset="-120"/>
              </a:rPr>
              <a:t>Sample Distribution</a:t>
            </a:r>
            <a:endParaRPr lang="en-US" sz="30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11521440" y="2971800"/>
          <a:ext cx="5669280" cy="914400"/>
        </p:xfrm>
        <a:graphic>
          <a:graphicData uri="http://schemas.openxmlformats.org/drawingml/2006/table">
            <a:tbl>
              <a:tblPr/>
              <a:tblGrid>
                <a:gridCol w="3931920"/>
                <a:gridCol w="1737360"/>
              </a:tblGrid>
              <a:tr h="685800">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Study phase</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Nurses</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r>
              <a:tr h="685800">
                <a:tc>
                  <a:txBody>
                    <a:bodyP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Main study (G*Power)</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b="1" dirty="0">
                          <a:solidFill>
                            <a:srgbClr val="000000"/>
                          </a:solidFill>
                          <a:latin typeface="Times New Roman" pitchFamily="34" charset="0"/>
                          <a:ea typeface="Times New Roman" pitchFamily="34" charset="-122"/>
                          <a:cs typeface="Times New Roman" pitchFamily="34" charset="-120"/>
                        </a:rPr>
                        <a:t>300</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r>
              <a:tr h="685800">
                <a:tc>
                  <a:txBody>
                    <a:bodyP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Pilot study (10%)</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b="1" dirty="0">
                          <a:solidFill>
                            <a:srgbClr val="000000"/>
                          </a:solidFill>
                          <a:latin typeface="Times New Roman" pitchFamily="34" charset="0"/>
                          <a:ea typeface="Times New Roman" pitchFamily="34" charset="-122"/>
                          <a:cs typeface="Times New Roman" pitchFamily="34" charset="-120"/>
                        </a:rPr>
                        <a:t>30</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r>
              <a:tr h="685800">
                <a:tc>
                  <a:txBody>
                    <a:bodyPr/>
                    <a:lstStyle/>
                    <a:p>
                      <a:pPr indent="0" marL="0">
                        <a:buNone/>
                      </a:pPr>
                      <a:r>
                        <a:rPr lang="en-US" sz="2200" b="1" dirty="0">
                          <a:solidFill>
                            <a:srgbClr val="000000"/>
                          </a:solidFill>
                          <a:latin typeface="Times New Roman" pitchFamily="34" charset="0"/>
                          <a:ea typeface="Times New Roman" pitchFamily="34" charset="-122"/>
                          <a:cs typeface="Times New Roman" pitchFamily="34" charset="-120"/>
                        </a:rPr>
                        <a:t>Total recruited</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b="1" dirty="0">
                          <a:solidFill>
                            <a:srgbClr val="000000"/>
                          </a:solidFill>
                          <a:latin typeface="Times New Roman" pitchFamily="34" charset="0"/>
                          <a:ea typeface="Times New Roman" pitchFamily="34" charset="-122"/>
                          <a:cs typeface="Times New Roman" pitchFamily="34" charset="-120"/>
                        </a:rPr>
                        <a:t>330</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r>
            </a:tbl>
          </a:graphicData>
        </a:graphic>
      </p:graphicFrame>
      <p:sp>
        <p:nvSpPr>
          <p:cNvPr id="6" name="Text 2"/>
          <p:cNvSpPr txBox="1"/>
          <p:nvPr/>
        </p:nvSpPr>
        <p:spPr>
          <a:xfrm>
            <a:off x="11521440" y="5943600"/>
            <a:ext cx="5669280" cy="1280160"/>
          </a:xfrm>
          <a:prstGeom prst="rect">
            <a:avLst/>
          </a:prstGeom>
          <a:noFill/>
          <a:ln/>
        </p:spPr>
        <p:txBody>
          <a:bodyPr wrap="square" rtlCol="0" anchor="t"/>
          <a:lstStyle/>
          <a:p>
            <a:pPr indent="0" marL="0">
              <a:buNone/>
            </a:pPr>
            <a:r>
              <a:rPr lang="en-US" sz="2100" i="1" dirty="0">
                <a:solidFill>
                  <a:srgbClr val="000000"/>
                </a:solidFill>
                <a:latin typeface="Times New Roman" pitchFamily="34" charset="0"/>
                <a:ea typeface="Times New Roman" pitchFamily="34" charset="-122"/>
                <a:cs typeface="Times New Roman" pitchFamily="34" charset="-120"/>
              </a:rPr>
              <a:t>Pilot participants were analyzed separately and excluded from the main-study analysis.</a:t>
            </a:r>
            <a:endParaRPr lang="en-US" sz="21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Measurement Instruments</a:t>
            </a:r>
            <a:endParaRPr lang="en-US" sz="5400" dirty="0"/>
          </a:p>
        </p:txBody>
      </p:sp>
      <p:sp>
        <p:nvSpPr>
          <p:cNvPr id="3" name="Text 1"/>
          <p:cNvSpPr txBox="1"/>
          <p:nvPr/>
        </p:nvSpPr>
        <p:spPr>
          <a:xfrm>
            <a:off x="1097280" y="2286000"/>
            <a:ext cx="9144000" cy="6949440"/>
          </a:xfrm>
          <a:prstGeom prst="rect">
            <a:avLst/>
          </a:prstGeom>
          <a:noFill/>
          <a:ln/>
        </p:spPr>
        <p:txBody>
          <a:bodyPr wrap="square" rtlCol="0" anchor="t"/>
          <a:lstStyle/>
          <a:p>
            <a:pPr indent="0" marL="0">
              <a:buNone/>
            </a:pPr>
            <a:r>
              <a:rPr lang="en-US" sz="2500" b="1" dirty="0">
                <a:solidFill>
                  <a:srgbClr val="1A3760"/>
                </a:solidFill>
                <a:latin typeface="Times New Roman" pitchFamily="34" charset="0"/>
                <a:ea typeface="Times New Roman" pitchFamily="34" charset="-122"/>
                <a:cs typeface="Times New Roman" pitchFamily="34" charset="-120"/>
              </a:rPr>
              <a:t>Part I – Demographic Sheet: </a:t>
            </a:r>
            <a:pPr indent="0" marL="0">
              <a:spcAft>
                <a:spcPts val="1600"/>
              </a:spcAft>
              <a:buNone/>
            </a:pPr>
            <a:r>
              <a:rPr lang="en-US" sz="2500" dirty="0">
                <a:solidFill>
                  <a:srgbClr val="000000"/>
                </a:solidFill>
                <a:latin typeface="Times New Roman" pitchFamily="34" charset="0"/>
                <a:ea typeface="Times New Roman" pitchFamily="34" charset="-122"/>
                <a:cs typeface="Times New Roman" pitchFamily="34" charset="-120"/>
              </a:rPr>
              <a:t>age, gender, marital status, educational level, years of experience and practice area.</a:t>
            </a:r>
            <a:endParaRPr lang="en-US" sz="2500" dirty="0"/>
          </a:p>
          <a:p>
            <a:pPr indent="0" marL="0">
              <a:buNone/>
            </a:pPr>
            <a:r>
              <a:rPr lang="en-US" sz="2500" b="1" dirty="0">
                <a:solidFill>
                  <a:srgbClr val="1A3760"/>
                </a:solidFill>
                <a:latin typeface="Times New Roman" pitchFamily="34" charset="0"/>
                <a:ea typeface="Times New Roman" pitchFamily="34" charset="-122"/>
                <a:cs typeface="Times New Roman" pitchFamily="34" charset="-120"/>
              </a:rPr>
              <a:t>Part II – Self-Report Questionnaire: </a:t>
            </a:r>
            <a:pPr indent="0" marL="0">
              <a:spcAft>
                <a:spcPts val="1600"/>
              </a:spcAft>
              <a:buNone/>
            </a:pPr>
            <a:r>
              <a:rPr lang="en-US" sz="2500" dirty="0">
                <a:solidFill>
                  <a:srgbClr val="000000"/>
                </a:solidFill>
                <a:latin typeface="Times New Roman" pitchFamily="34" charset="0"/>
                <a:ea typeface="Times New Roman" pitchFamily="34" charset="-122"/>
                <a:cs typeface="Times New Roman" pitchFamily="34" charset="-120"/>
              </a:rPr>
              <a:t>43-item questionnaire on nurses’ disaster knowledge, attitudes and practices (Vishba &amp; Shaheen, 2025).</a:t>
            </a:r>
            <a:endParaRPr lang="en-US" sz="2500" dirty="0"/>
          </a:p>
          <a:p>
            <a:pPr marL="342900" indent="-342900">
              <a:spcAft>
                <a:spcPts val="1000"/>
              </a:spcAft>
              <a:buSzPct val="100000"/>
              <a:buChar char="•"/>
            </a:pPr>
            <a:r>
              <a:rPr lang="en-US" sz="2500" dirty="0">
                <a:solidFill>
                  <a:srgbClr val="000000"/>
                </a:solidFill>
                <a:latin typeface="Times New Roman" pitchFamily="34" charset="0"/>
                <a:ea typeface="Times New Roman" pitchFamily="34" charset="-122"/>
                <a:cs typeface="Times New Roman" pitchFamily="34" charset="-120"/>
              </a:rPr>
              <a:t>Rated on a 5-point Likert scale, from 1 (strongly disagree) to 5 (strongly agree).</a:t>
            </a:r>
            <a:endParaRPr lang="en-US" sz="2500" dirty="0"/>
          </a:p>
          <a:p>
            <a:pPr marL="342900" indent="-342900">
              <a:buSzPct val="100000"/>
              <a:buChar char="•"/>
            </a:pPr>
            <a:r>
              <a:rPr lang="en-US" sz="2500" dirty="0">
                <a:solidFill>
                  <a:srgbClr val="000000"/>
                </a:solidFill>
                <a:latin typeface="Times New Roman" pitchFamily="34" charset="0"/>
                <a:ea typeface="Times New Roman" pitchFamily="34" charset="-122"/>
                <a:cs typeface="Times New Roman" pitchFamily="34" charset="-120"/>
              </a:rPr>
              <a:t>Written permission obtained from the corresponding author on October 15, 2025.</a:t>
            </a:r>
            <a:endParaRPr lang="en-US" sz="2500" dirty="0"/>
          </a:p>
        </p:txBody>
      </p:sp>
      <p:sp>
        <p:nvSpPr>
          <p:cNvPr id="4" name="items 0"/>
          <p:cNvSpPr/>
          <p:nvPr/>
        </p:nvSpPr>
        <p:spPr>
          <a:xfrm>
            <a:off x="10972800" y="2286000"/>
            <a:ext cx="6217920" cy="2103120"/>
          </a:xfrm>
          <a:prstGeom prst="roundRect">
            <a:avLst>
              <a:gd name="adj" fmla="val 8696"/>
            </a:avLst>
          </a:prstGeom>
          <a:solidFill>
            <a:srgbClr val="1A3760"/>
          </a:solidFill>
          <a:ln w="12700">
            <a:solidFill>
              <a:srgbClr val="1A3760"/>
            </a:solidFill>
            <a:prstDash val="solid"/>
          </a:ln>
        </p:spPr>
      </p:sp>
      <p:sp>
        <p:nvSpPr>
          <p:cNvPr id="5" name="Text 3"/>
          <p:cNvSpPr txBox="1"/>
          <p:nvPr/>
        </p:nvSpPr>
        <p:spPr>
          <a:xfrm>
            <a:off x="11155680" y="2286000"/>
            <a:ext cx="1828800" cy="2103120"/>
          </a:xfrm>
          <a:prstGeom prst="rect">
            <a:avLst/>
          </a:prstGeom>
          <a:noFill/>
          <a:ln/>
        </p:spPr>
        <p:txBody>
          <a:bodyPr wrap="square" rtlCol="0" anchor="ctr"/>
          <a:lstStyle/>
          <a:p>
            <a:pPr algn="ctr" indent="0" marL="0">
              <a:buNone/>
            </a:pPr>
            <a:r>
              <a:rPr lang="en-US" sz="6600" b="1" dirty="0">
                <a:solidFill>
                  <a:srgbClr val="FFFFFF"/>
                </a:solidFill>
                <a:latin typeface="Times New Roman" pitchFamily="34" charset="0"/>
                <a:ea typeface="Times New Roman" pitchFamily="34" charset="-122"/>
                <a:cs typeface="Times New Roman" pitchFamily="34" charset="-120"/>
              </a:rPr>
              <a:t>15</a:t>
            </a:r>
            <a:endParaRPr lang="en-US" sz="6600" dirty="0"/>
          </a:p>
        </p:txBody>
      </p:sp>
      <p:sp>
        <p:nvSpPr>
          <p:cNvPr id="6" name="Text 4"/>
          <p:cNvSpPr txBox="1"/>
          <p:nvPr/>
        </p:nvSpPr>
        <p:spPr>
          <a:xfrm>
            <a:off x="13075920" y="2286000"/>
            <a:ext cx="3931920" cy="2103120"/>
          </a:xfrm>
          <a:prstGeom prst="rect">
            <a:avLst/>
          </a:prstGeom>
          <a:noFill/>
          <a:ln/>
        </p:spPr>
        <p:txBody>
          <a:bodyPr wrap="square" rtlCol="0" anchor="ctr"/>
          <a:lstStyle/>
          <a:p>
            <a:pPr indent="0" marL="0">
              <a:buNone/>
            </a:pPr>
            <a:r>
              <a:rPr lang="en-US" sz="2500" dirty="0">
                <a:solidFill>
                  <a:srgbClr val="FFFFFF"/>
                </a:solidFill>
                <a:latin typeface="Times New Roman" pitchFamily="34" charset="0"/>
                <a:ea typeface="Times New Roman" pitchFamily="34" charset="-122"/>
                <a:cs typeface="Times New Roman" pitchFamily="34" charset="-120"/>
              </a:rPr>
              <a:t>Self-Perceived Knowledge items</a:t>
            </a:r>
            <a:endParaRPr lang="en-US" sz="2500" dirty="0"/>
          </a:p>
        </p:txBody>
      </p:sp>
      <p:sp>
        <p:nvSpPr>
          <p:cNvPr id="7" name="items 1"/>
          <p:cNvSpPr/>
          <p:nvPr/>
        </p:nvSpPr>
        <p:spPr>
          <a:xfrm>
            <a:off x="10972800" y="4617720"/>
            <a:ext cx="6217920" cy="2103120"/>
          </a:xfrm>
          <a:prstGeom prst="roundRect">
            <a:avLst>
              <a:gd name="adj" fmla="val 8696"/>
            </a:avLst>
          </a:prstGeom>
          <a:solidFill>
            <a:srgbClr val="1A3760"/>
          </a:solidFill>
          <a:ln w="12700">
            <a:solidFill>
              <a:srgbClr val="1A3760"/>
            </a:solidFill>
            <a:prstDash val="solid"/>
          </a:ln>
        </p:spPr>
      </p:sp>
      <p:sp>
        <p:nvSpPr>
          <p:cNvPr id="8" name="Text 6"/>
          <p:cNvSpPr txBox="1"/>
          <p:nvPr/>
        </p:nvSpPr>
        <p:spPr>
          <a:xfrm>
            <a:off x="11155680" y="4617720"/>
            <a:ext cx="1828800" cy="2103120"/>
          </a:xfrm>
          <a:prstGeom prst="rect">
            <a:avLst/>
          </a:prstGeom>
          <a:noFill/>
          <a:ln/>
        </p:spPr>
        <p:txBody>
          <a:bodyPr wrap="square" rtlCol="0" anchor="ctr"/>
          <a:lstStyle/>
          <a:p>
            <a:pPr algn="ctr" indent="0" marL="0">
              <a:buNone/>
            </a:pPr>
            <a:r>
              <a:rPr lang="en-US" sz="6600" b="1" dirty="0">
                <a:solidFill>
                  <a:srgbClr val="FFFFFF"/>
                </a:solidFill>
                <a:latin typeface="Times New Roman" pitchFamily="34" charset="0"/>
                <a:ea typeface="Times New Roman" pitchFamily="34" charset="-122"/>
                <a:cs typeface="Times New Roman" pitchFamily="34" charset="-120"/>
              </a:rPr>
              <a:t>14</a:t>
            </a:r>
            <a:endParaRPr lang="en-US" sz="6600" dirty="0"/>
          </a:p>
        </p:txBody>
      </p:sp>
      <p:sp>
        <p:nvSpPr>
          <p:cNvPr id="9" name="Text 7"/>
          <p:cNvSpPr txBox="1"/>
          <p:nvPr/>
        </p:nvSpPr>
        <p:spPr>
          <a:xfrm>
            <a:off x="13075920" y="4617720"/>
            <a:ext cx="3931920" cy="2103120"/>
          </a:xfrm>
          <a:prstGeom prst="rect">
            <a:avLst/>
          </a:prstGeom>
          <a:noFill/>
          <a:ln/>
        </p:spPr>
        <p:txBody>
          <a:bodyPr wrap="square" rtlCol="0" anchor="ctr"/>
          <a:lstStyle/>
          <a:p>
            <a:pPr indent="0" marL="0">
              <a:buNone/>
            </a:pPr>
            <a:r>
              <a:rPr lang="en-US" sz="2500" dirty="0">
                <a:solidFill>
                  <a:srgbClr val="FFFFFF"/>
                </a:solidFill>
                <a:latin typeface="Times New Roman" pitchFamily="34" charset="0"/>
                <a:ea typeface="Times New Roman" pitchFamily="34" charset="-122"/>
                <a:cs typeface="Times New Roman" pitchFamily="34" charset="-120"/>
              </a:rPr>
              <a:t>Perception (Attitude) items</a:t>
            </a:r>
            <a:endParaRPr lang="en-US" sz="2500" dirty="0"/>
          </a:p>
        </p:txBody>
      </p:sp>
      <p:sp>
        <p:nvSpPr>
          <p:cNvPr id="10" name="items 2"/>
          <p:cNvSpPr/>
          <p:nvPr/>
        </p:nvSpPr>
        <p:spPr>
          <a:xfrm>
            <a:off x="10972800" y="6949440"/>
            <a:ext cx="6217920" cy="2103120"/>
          </a:xfrm>
          <a:prstGeom prst="roundRect">
            <a:avLst>
              <a:gd name="adj" fmla="val 8696"/>
            </a:avLst>
          </a:prstGeom>
          <a:solidFill>
            <a:srgbClr val="1A3760"/>
          </a:solidFill>
          <a:ln w="12700">
            <a:solidFill>
              <a:srgbClr val="1A3760"/>
            </a:solidFill>
            <a:prstDash val="solid"/>
          </a:ln>
        </p:spPr>
      </p:sp>
      <p:sp>
        <p:nvSpPr>
          <p:cNvPr id="11" name="Text 9"/>
          <p:cNvSpPr txBox="1"/>
          <p:nvPr/>
        </p:nvSpPr>
        <p:spPr>
          <a:xfrm>
            <a:off x="11155680" y="6949440"/>
            <a:ext cx="1828800" cy="2103120"/>
          </a:xfrm>
          <a:prstGeom prst="rect">
            <a:avLst/>
          </a:prstGeom>
          <a:noFill/>
          <a:ln/>
        </p:spPr>
        <p:txBody>
          <a:bodyPr wrap="square" rtlCol="0" anchor="ctr"/>
          <a:lstStyle/>
          <a:p>
            <a:pPr algn="ctr" indent="0" marL="0">
              <a:buNone/>
            </a:pPr>
            <a:r>
              <a:rPr lang="en-US" sz="6600" b="1" dirty="0">
                <a:solidFill>
                  <a:srgbClr val="FFFFFF"/>
                </a:solidFill>
                <a:latin typeface="Times New Roman" pitchFamily="34" charset="0"/>
                <a:ea typeface="Times New Roman" pitchFamily="34" charset="-122"/>
                <a:cs typeface="Times New Roman" pitchFamily="34" charset="-120"/>
              </a:rPr>
              <a:t>14</a:t>
            </a:r>
            <a:endParaRPr lang="en-US" sz="6600" dirty="0"/>
          </a:p>
        </p:txBody>
      </p:sp>
      <p:sp>
        <p:nvSpPr>
          <p:cNvPr id="12" name="Text 10"/>
          <p:cNvSpPr txBox="1"/>
          <p:nvPr/>
        </p:nvSpPr>
        <p:spPr>
          <a:xfrm>
            <a:off x="13075920" y="6949440"/>
            <a:ext cx="3931920" cy="2103120"/>
          </a:xfrm>
          <a:prstGeom prst="rect">
            <a:avLst/>
          </a:prstGeom>
          <a:noFill/>
          <a:ln/>
        </p:spPr>
        <p:txBody>
          <a:bodyPr wrap="square" rtlCol="0" anchor="ctr"/>
          <a:lstStyle/>
          <a:p>
            <a:pPr indent="0" marL="0">
              <a:buNone/>
            </a:pPr>
            <a:r>
              <a:rPr lang="en-US" sz="2500" dirty="0">
                <a:solidFill>
                  <a:srgbClr val="FFFFFF"/>
                </a:solidFill>
                <a:latin typeface="Times New Roman" pitchFamily="34" charset="0"/>
                <a:ea typeface="Times New Roman" pitchFamily="34" charset="-122"/>
                <a:cs typeface="Times New Roman" pitchFamily="34" charset="-120"/>
              </a:rPr>
              <a:t>Self-Reported Practice items</a:t>
            </a:r>
            <a:endParaRPr lang="en-US" sz="25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Pilot Study</a:t>
            </a:r>
            <a:endParaRPr lang="en-US" sz="5400" dirty="0"/>
          </a:p>
        </p:txBody>
      </p:sp>
      <p:sp>
        <p:nvSpPr>
          <p:cNvPr id="3" name="Text 1"/>
          <p:cNvSpPr txBox="1"/>
          <p:nvPr/>
        </p:nvSpPr>
        <p:spPr>
          <a:xfrm>
            <a:off x="1097280" y="2286000"/>
            <a:ext cx="7498080" cy="6949440"/>
          </a:xfrm>
          <a:prstGeom prst="rect">
            <a:avLst/>
          </a:prstGeom>
          <a:noFill/>
          <a:ln/>
        </p:spPr>
        <p:txBody>
          <a:bodyPr wrap="square" rtlCol="0" anchor="t"/>
          <a:lstStyle/>
          <a:p>
            <a:pPr marL="342900" indent="-342900">
              <a:spcAft>
                <a:spcPts val="1600"/>
              </a:spcAft>
              <a:buSzPct val="100000"/>
              <a:buChar char="•"/>
            </a:pPr>
            <a:r>
              <a:rPr lang="en-US" sz="2500" dirty="0">
                <a:solidFill>
                  <a:srgbClr val="000000"/>
                </a:solidFill>
                <a:latin typeface="Times New Roman" pitchFamily="34" charset="0"/>
                <a:ea typeface="Times New Roman" pitchFamily="34" charset="-122"/>
                <a:cs typeface="Times New Roman" pitchFamily="34" charset="-120"/>
              </a:rPr>
              <a:t>30 nurses meeting the same eligibility criteria completed the questionnaire; they were excluded from the main sample.</a:t>
            </a:r>
            <a:endParaRPr lang="en-US" sz="2500" dirty="0"/>
          </a:p>
          <a:p>
            <a:pPr marL="342900" indent="-342900">
              <a:spcAft>
                <a:spcPts val="1600"/>
              </a:spcAft>
              <a:buSzPct val="100000"/>
              <a:buChar char="•"/>
            </a:pPr>
            <a:r>
              <a:rPr lang="en-US" sz="2500" dirty="0">
                <a:solidFill>
                  <a:srgbClr val="000000"/>
                </a:solidFill>
                <a:latin typeface="Times New Roman" pitchFamily="34" charset="0"/>
                <a:ea typeface="Times New Roman" pitchFamily="34" charset="-122"/>
                <a:cs typeface="Times New Roman" pitchFamily="34" charset="-120"/>
              </a:rPr>
              <a:t>They rated clarity, relevance, ease of understanding, completion time and overall applicability (1 = poor to 5 = excellent).</a:t>
            </a:r>
            <a:endParaRPr lang="en-US" sz="2500" dirty="0"/>
          </a:p>
          <a:p>
            <a:pPr marL="342900" indent="-342900">
              <a:spcAft>
                <a:spcPts val="1600"/>
              </a:spcAft>
              <a:buSzPct val="100000"/>
              <a:buChar char="•"/>
            </a:pPr>
            <a:r>
              <a:rPr lang="en-US" sz="2500" dirty="0">
                <a:solidFill>
                  <a:srgbClr val="000000"/>
                </a:solidFill>
                <a:latin typeface="Times New Roman" pitchFamily="34" charset="0"/>
                <a:ea typeface="Times New Roman" pitchFamily="34" charset="-122"/>
                <a:cs typeface="Times New Roman" pitchFamily="34" charset="-120"/>
              </a:rPr>
              <a:t>Mean ratings ranged from 4.00 to 4.40, supporting face validity and acceptability.</a:t>
            </a:r>
            <a:endParaRPr lang="en-US" sz="2500" dirty="0"/>
          </a:p>
          <a:p>
            <a:pPr marL="342900" indent="-342900">
              <a:spcAft>
                <a:spcPts val="1600"/>
              </a:spcAft>
              <a:buSzPct val="100000"/>
              <a:buChar char="•"/>
            </a:pPr>
            <a:r>
              <a:rPr lang="en-US" sz="2500" dirty="0">
                <a:solidFill>
                  <a:srgbClr val="000000"/>
                </a:solidFill>
                <a:latin typeface="Times New Roman" pitchFamily="34" charset="0"/>
                <a:ea typeface="Times New Roman" pitchFamily="34" charset="-122"/>
                <a:cs typeface="Times New Roman" pitchFamily="34" charset="-120"/>
              </a:rPr>
              <a:t>Minor wording and formatting changes were made afterwards.</a:t>
            </a:r>
            <a:endParaRPr lang="en-US" sz="2500" dirty="0"/>
          </a:p>
        </p:txBody>
      </p:sp>
      <p:graphicFrame>
        <p:nvGraphicFramePr>
          <p:cNvPr id="4" name="Chart 0" descr=""/>
          <p:cNvGraphicFramePr/>
          <p:nvPr/>
        </p:nvGraphicFramePr>
        <p:xfrm>
          <a:off x="9052560" y="2286000"/>
          <a:ext cx="8138160" cy="6949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Data Collection Procedure</a:t>
            </a:r>
            <a:endParaRPr lang="en-US" sz="5400" dirty="0"/>
          </a:p>
        </p:txBody>
      </p:sp>
      <p:sp>
        <p:nvSpPr>
          <p:cNvPr id="3" name="step 1"/>
          <p:cNvSpPr/>
          <p:nvPr/>
        </p:nvSpPr>
        <p:spPr>
          <a:xfrm>
            <a:off x="1097280" y="3108960"/>
            <a:ext cx="3703320" cy="5120640"/>
          </a:xfrm>
          <a:prstGeom prst="roundRect">
            <a:avLst>
              <a:gd name="adj" fmla="val 4938"/>
            </a:avLst>
          </a:prstGeom>
          <a:solidFill>
            <a:srgbClr val="D6DDEA"/>
          </a:solidFill>
          <a:ln w="12700">
            <a:solidFill>
              <a:srgbClr val="D6DDEA"/>
            </a:solidFill>
            <a:prstDash val="solid"/>
          </a:ln>
        </p:spPr>
      </p:sp>
      <p:sp>
        <p:nvSpPr>
          <p:cNvPr id="4" name="num 1"/>
          <p:cNvSpPr/>
          <p:nvPr/>
        </p:nvSpPr>
        <p:spPr>
          <a:xfrm>
            <a:off x="2423160" y="2423160"/>
            <a:ext cx="1051560" cy="1051560"/>
          </a:xfrm>
          <a:prstGeom prst="ellipse">
            <a:avLst/>
          </a:prstGeom>
          <a:solidFill>
            <a:srgbClr val="1A3760"/>
          </a:solidFill>
          <a:ln w="12700">
            <a:solidFill>
              <a:srgbClr val="1A3760"/>
            </a:solidFill>
            <a:prstDash val="solid"/>
          </a:ln>
        </p:spPr>
      </p:sp>
      <p:sp>
        <p:nvSpPr>
          <p:cNvPr id="5" name="Text 3"/>
          <p:cNvSpPr txBox="1"/>
          <p:nvPr/>
        </p:nvSpPr>
        <p:spPr>
          <a:xfrm>
            <a:off x="2423160" y="2423160"/>
            <a:ext cx="1051560" cy="1051560"/>
          </a:xfrm>
          <a:prstGeom prst="rect">
            <a:avLst/>
          </a:prstGeom>
          <a:noFill/>
          <a:ln/>
        </p:spPr>
        <p:txBody>
          <a:bodyPr wrap="square" lIns="0" tIns="0" rIns="0" bIns="0"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1</a:t>
            </a:r>
            <a:endParaRPr lang="en-US" sz="3000" dirty="0"/>
          </a:p>
        </p:txBody>
      </p:sp>
      <p:sp>
        <p:nvSpPr>
          <p:cNvPr id="6" name="Text 4"/>
          <p:cNvSpPr txBox="1"/>
          <p:nvPr/>
        </p:nvSpPr>
        <p:spPr>
          <a:xfrm>
            <a:off x="1280160" y="3657600"/>
            <a:ext cx="3337560" cy="731520"/>
          </a:xfrm>
          <a:prstGeom prst="rect">
            <a:avLst/>
          </a:prstGeom>
          <a:noFill/>
          <a:ln/>
        </p:spPr>
        <p:txBody>
          <a:bodyPr wrap="square" rtlCol="0" anchor="ctr"/>
          <a:lstStyle/>
          <a:p>
            <a:pPr algn="ctr" indent="0" marL="0">
              <a:buNone/>
            </a:pPr>
            <a:r>
              <a:rPr lang="en-US" sz="2800" b="1" dirty="0">
                <a:solidFill>
                  <a:srgbClr val="1A3760"/>
                </a:solidFill>
                <a:latin typeface="Times New Roman" pitchFamily="34" charset="0"/>
                <a:ea typeface="Times New Roman" pitchFamily="34" charset="-122"/>
                <a:cs typeface="Times New Roman" pitchFamily="34" charset="-120"/>
              </a:rPr>
              <a:t>Approval</a:t>
            </a:r>
            <a:endParaRPr lang="en-US" sz="2800" dirty="0"/>
          </a:p>
        </p:txBody>
      </p:sp>
      <p:sp>
        <p:nvSpPr>
          <p:cNvPr id="7" name="Text 5"/>
          <p:cNvSpPr txBox="1"/>
          <p:nvPr/>
        </p:nvSpPr>
        <p:spPr>
          <a:xfrm>
            <a:off x="1371600" y="4480560"/>
            <a:ext cx="3154680" cy="3566160"/>
          </a:xfrm>
          <a:prstGeom prst="rect">
            <a:avLst/>
          </a:prstGeom>
          <a:noFill/>
          <a:ln/>
        </p:spPr>
        <p:txBody>
          <a:bodyPr wrap="square" rtlCol="0" anchor="t"/>
          <a:lstStyle/>
          <a:p>
            <a:pPr algn="ctr" indent="0" marL="0">
              <a:buNone/>
            </a:pPr>
            <a:r>
              <a:rPr lang="en-US" sz="2400" dirty="0">
                <a:solidFill>
                  <a:srgbClr val="000000"/>
                </a:solidFill>
                <a:latin typeface="Times New Roman" pitchFamily="34" charset="0"/>
                <a:ea typeface="Times New Roman" pitchFamily="34" charset="-122"/>
                <a:cs typeface="Times New Roman" pitchFamily="34" charset="-120"/>
              </a:rPr>
              <a:t>IRB approval and consent of the participating hospitals obtained.</a:t>
            </a:r>
            <a:endParaRPr lang="en-US" sz="2400" dirty="0"/>
          </a:p>
        </p:txBody>
      </p:sp>
      <p:sp>
        <p:nvSpPr>
          <p:cNvPr id="8" name="flow 0"/>
          <p:cNvSpPr/>
          <p:nvPr/>
        </p:nvSpPr>
        <p:spPr>
          <a:xfrm>
            <a:off x="4828032" y="5669280"/>
            <a:ext cx="320040" cy="0"/>
          </a:xfrm>
          <a:prstGeom prst="line">
            <a:avLst/>
          </a:prstGeom>
          <a:noFill/>
          <a:ln w="38100">
            <a:solidFill>
              <a:srgbClr val="1A3760"/>
            </a:solidFill>
            <a:prstDash val="solid"/>
            <a:tailEnd type="triangle"/>
          </a:ln>
        </p:spPr>
      </p:sp>
      <p:sp>
        <p:nvSpPr>
          <p:cNvPr id="9" name="step 2"/>
          <p:cNvSpPr/>
          <p:nvPr/>
        </p:nvSpPr>
        <p:spPr>
          <a:xfrm>
            <a:off x="5166360" y="3108960"/>
            <a:ext cx="3703320" cy="5120640"/>
          </a:xfrm>
          <a:prstGeom prst="roundRect">
            <a:avLst>
              <a:gd name="adj" fmla="val 4938"/>
            </a:avLst>
          </a:prstGeom>
          <a:solidFill>
            <a:srgbClr val="D6DDEA"/>
          </a:solidFill>
          <a:ln w="12700">
            <a:solidFill>
              <a:srgbClr val="D6DDEA"/>
            </a:solidFill>
            <a:prstDash val="solid"/>
          </a:ln>
        </p:spPr>
      </p:sp>
      <p:sp>
        <p:nvSpPr>
          <p:cNvPr id="10" name="num 2"/>
          <p:cNvSpPr/>
          <p:nvPr/>
        </p:nvSpPr>
        <p:spPr>
          <a:xfrm>
            <a:off x="6492240" y="2423160"/>
            <a:ext cx="1051560" cy="1051560"/>
          </a:xfrm>
          <a:prstGeom prst="ellipse">
            <a:avLst/>
          </a:prstGeom>
          <a:solidFill>
            <a:srgbClr val="1A3760"/>
          </a:solidFill>
          <a:ln w="12700">
            <a:solidFill>
              <a:srgbClr val="1A3760"/>
            </a:solidFill>
            <a:prstDash val="solid"/>
          </a:ln>
        </p:spPr>
      </p:sp>
      <p:sp>
        <p:nvSpPr>
          <p:cNvPr id="11" name="Text 9"/>
          <p:cNvSpPr txBox="1"/>
          <p:nvPr/>
        </p:nvSpPr>
        <p:spPr>
          <a:xfrm>
            <a:off x="6492240" y="2423160"/>
            <a:ext cx="1051560" cy="1051560"/>
          </a:xfrm>
          <a:prstGeom prst="rect">
            <a:avLst/>
          </a:prstGeom>
          <a:noFill/>
          <a:ln/>
        </p:spPr>
        <p:txBody>
          <a:bodyPr wrap="square" lIns="0" tIns="0" rIns="0" bIns="0"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2</a:t>
            </a:r>
            <a:endParaRPr lang="en-US" sz="3000" dirty="0"/>
          </a:p>
        </p:txBody>
      </p:sp>
      <p:sp>
        <p:nvSpPr>
          <p:cNvPr id="12" name="Text 10"/>
          <p:cNvSpPr txBox="1"/>
          <p:nvPr/>
        </p:nvSpPr>
        <p:spPr>
          <a:xfrm>
            <a:off x="5349240" y="3657600"/>
            <a:ext cx="3337560" cy="731520"/>
          </a:xfrm>
          <a:prstGeom prst="rect">
            <a:avLst/>
          </a:prstGeom>
          <a:noFill/>
          <a:ln/>
        </p:spPr>
        <p:txBody>
          <a:bodyPr wrap="square" rtlCol="0" anchor="ctr"/>
          <a:lstStyle/>
          <a:p>
            <a:pPr algn="ctr" indent="0" marL="0">
              <a:buNone/>
            </a:pPr>
            <a:r>
              <a:rPr lang="en-US" sz="2800" b="1" dirty="0">
                <a:solidFill>
                  <a:srgbClr val="1A3760"/>
                </a:solidFill>
                <a:latin typeface="Times New Roman" pitchFamily="34" charset="0"/>
                <a:ea typeface="Times New Roman" pitchFamily="34" charset="-122"/>
                <a:cs typeface="Times New Roman" pitchFamily="34" charset="-120"/>
              </a:rPr>
              <a:t>Consent</a:t>
            </a:r>
            <a:endParaRPr lang="en-US" sz="2800" dirty="0"/>
          </a:p>
        </p:txBody>
      </p:sp>
      <p:sp>
        <p:nvSpPr>
          <p:cNvPr id="13" name="Text 11"/>
          <p:cNvSpPr txBox="1"/>
          <p:nvPr/>
        </p:nvSpPr>
        <p:spPr>
          <a:xfrm>
            <a:off x="5440680" y="4480560"/>
            <a:ext cx="3154680" cy="3566160"/>
          </a:xfrm>
          <a:prstGeom prst="rect">
            <a:avLst/>
          </a:prstGeom>
          <a:noFill/>
          <a:ln/>
        </p:spPr>
        <p:txBody>
          <a:bodyPr wrap="square" rtlCol="0" anchor="t"/>
          <a:lstStyle/>
          <a:p>
            <a:pPr algn="ctr" indent="0" marL="0">
              <a:buNone/>
            </a:pPr>
            <a:r>
              <a:rPr lang="en-US" sz="2400" dirty="0">
                <a:solidFill>
                  <a:srgbClr val="000000"/>
                </a:solidFill>
                <a:latin typeface="Times New Roman" pitchFamily="34" charset="0"/>
                <a:ea typeface="Times New Roman" pitchFamily="34" charset="-122"/>
                <a:cs typeface="Times New Roman" pitchFamily="34" charset="-120"/>
              </a:rPr>
              <a:t>Participants received informed-consent forms explaining aims, procedures, risks and benefits.</a:t>
            </a:r>
            <a:endParaRPr lang="en-US" sz="2400" dirty="0"/>
          </a:p>
        </p:txBody>
      </p:sp>
      <p:sp>
        <p:nvSpPr>
          <p:cNvPr id="14" name="flow 1"/>
          <p:cNvSpPr/>
          <p:nvPr/>
        </p:nvSpPr>
        <p:spPr>
          <a:xfrm>
            <a:off x="8897112" y="5669280"/>
            <a:ext cx="320040" cy="0"/>
          </a:xfrm>
          <a:prstGeom prst="line">
            <a:avLst/>
          </a:prstGeom>
          <a:noFill/>
          <a:ln w="38100">
            <a:solidFill>
              <a:srgbClr val="1A3760"/>
            </a:solidFill>
            <a:prstDash val="solid"/>
            <a:tailEnd type="triangle"/>
          </a:ln>
        </p:spPr>
      </p:sp>
      <p:sp>
        <p:nvSpPr>
          <p:cNvPr id="15" name="step 3"/>
          <p:cNvSpPr/>
          <p:nvPr/>
        </p:nvSpPr>
        <p:spPr>
          <a:xfrm>
            <a:off x="9235440" y="3108960"/>
            <a:ext cx="3703320" cy="5120640"/>
          </a:xfrm>
          <a:prstGeom prst="roundRect">
            <a:avLst>
              <a:gd name="adj" fmla="val 4938"/>
            </a:avLst>
          </a:prstGeom>
          <a:solidFill>
            <a:srgbClr val="D6DDEA"/>
          </a:solidFill>
          <a:ln w="12700">
            <a:solidFill>
              <a:srgbClr val="D6DDEA"/>
            </a:solidFill>
            <a:prstDash val="solid"/>
          </a:ln>
        </p:spPr>
      </p:sp>
      <p:sp>
        <p:nvSpPr>
          <p:cNvPr id="16" name="num 3"/>
          <p:cNvSpPr/>
          <p:nvPr/>
        </p:nvSpPr>
        <p:spPr>
          <a:xfrm>
            <a:off x="10561320" y="2423160"/>
            <a:ext cx="1051560" cy="1051560"/>
          </a:xfrm>
          <a:prstGeom prst="ellipse">
            <a:avLst/>
          </a:prstGeom>
          <a:solidFill>
            <a:srgbClr val="1A3760"/>
          </a:solidFill>
          <a:ln w="12700">
            <a:solidFill>
              <a:srgbClr val="1A3760"/>
            </a:solidFill>
            <a:prstDash val="solid"/>
          </a:ln>
        </p:spPr>
      </p:sp>
      <p:sp>
        <p:nvSpPr>
          <p:cNvPr id="17" name="Text 15"/>
          <p:cNvSpPr txBox="1"/>
          <p:nvPr/>
        </p:nvSpPr>
        <p:spPr>
          <a:xfrm>
            <a:off x="10561320" y="2423160"/>
            <a:ext cx="1051560" cy="1051560"/>
          </a:xfrm>
          <a:prstGeom prst="rect">
            <a:avLst/>
          </a:prstGeom>
          <a:noFill/>
          <a:ln/>
        </p:spPr>
        <p:txBody>
          <a:bodyPr wrap="square" lIns="0" tIns="0" rIns="0" bIns="0"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3</a:t>
            </a:r>
            <a:endParaRPr lang="en-US" sz="3000" dirty="0"/>
          </a:p>
        </p:txBody>
      </p:sp>
      <p:sp>
        <p:nvSpPr>
          <p:cNvPr id="18" name="Text 16"/>
          <p:cNvSpPr txBox="1"/>
          <p:nvPr/>
        </p:nvSpPr>
        <p:spPr>
          <a:xfrm>
            <a:off x="9418320" y="3657600"/>
            <a:ext cx="3337560" cy="731520"/>
          </a:xfrm>
          <a:prstGeom prst="rect">
            <a:avLst/>
          </a:prstGeom>
          <a:noFill/>
          <a:ln/>
        </p:spPr>
        <p:txBody>
          <a:bodyPr wrap="square" rtlCol="0" anchor="ctr"/>
          <a:lstStyle/>
          <a:p>
            <a:pPr algn="ctr" indent="0" marL="0">
              <a:buNone/>
            </a:pPr>
            <a:r>
              <a:rPr lang="en-US" sz="2800" b="1" dirty="0">
                <a:solidFill>
                  <a:srgbClr val="1A3760"/>
                </a:solidFill>
                <a:latin typeface="Times New Roman" pitchFamily="34" charset="0"/>
                <a:ea typeface="Times New Roman" pitchFamily="34" charset="-122"/>
                <a:cs typeface="Times New Roman" pitchFamily="34" charset="-120"/>
              </a:rPr>
              <a:t>Administration</a:t>
            </a:r>
            <a:endParaRPr lang="en-US" sz="2800" dirty="0"/>
          </a:p>
        </p:txBody>
      </p:sp>
      <p:sp>
        <p:nvSpPr>
          <p:cNvPr id="19" name="Text 17"/>
          <p:cNvSpPr txBox="1"/>
          <p:nvPr/>
        </p:nvSpPr>
        <p:spPr>
          <a:xfrm>
            <a:off x="9509760" y="4480560"/>
            <a:ext cx="3154680" cy="3566160"/>
          </a:xfrm>
          <a:prstGeom prst="rect">
            <a:avLst/>
          </a:prstGeom>
          <a:noFill/>
          <a:ln/>
        </p:spPr>
        <p:txBody>
          <a:bodyPr wrap="square" rtlCol="0" anchor="t"/>
          <a:lstStyle/>
          <a:p>
            <a:pPr algn="ctr" indent="0" marL="0">
              <a:buNone/>
            </a:pPr>
            <a:r>
              <a:rPr lang="en-US" sz="2400" dirty="0">
                <a:solidFill>
                  <a:srgbClr val="000000"/>
                </a:solidFill>
                <a:latin typeface="Times New Roman" pitchFamily="34" charset="0"/>
                <a:ea typeface="Times New Roman" pitchFamily="34" charset="-122"/>
                <a:cs typeface="Times New Roman" pitchFamily="34" charset="-120"/>
              </a:rPr>
              <a:t>Questionnaire completed in person during a scheduled shift or through a secure online link.</a:t>
            </a:r>
            <a:endParaRPr lang="en-US" sz="2400" dirty="0"/>
          </a:p>
        </p:txBody>
      </p:sp>
      <p:sp>
        <p:nvSpPr>
          <p:cNvPr id="20" name="flow 2"/>
          <p:cNvSpPr/>
          <p:nvPr/>
        </p:nvSpPr>
        <p:spPr>
          <a:xfrm>
            <a:off x="12966192" y="5669280"/>
            <a:ext cx="320040" cy="0"/>
          </a:xfrm>
          <a:prstGeom prst="line">
            <a:avLst/>
          </a:prstGeom>
          <a:noFill/>
          <a:ln w="38100">
            <a:solidFill>
              <a:srgbClr val="1A3760"/>
            </a:solidFill>
            <a:prstDash val="solid"/>
            <a:tailEnd type="triangle"/>
          </a:ln>
        </p:spPr>
      </p:sp>
      <p:sp>
        <p:nvSpPr>
          <p:cNvPr id="21" name="step 4"/>
          <p:cNvSpPr/>
          <p:nvPr/>
        </p:nvSpPr>
        <p:spPr>
          <a:xfrm>
            <a:off x="13304520" y="3108960"/>
            <a:ext cx="3703320" cy="5120640"/>
          </a:xfrm>
          <a:prstGeom prst="roundRect">
            <a:avLst>
              <a:gd name="adj" fmla="val 4938"/>
            </a:avLst>
          </a:prstGeom>
          <a:solidFill>
            <a:srgbClr val="D6DDEA"/>
          </a:solidFill>
          <a:ln w="12700">
            <a:solidFill>
              <a:srgbClr val="D6DDEA"/>
            </a:solidFill>
            <a:prstDash val="solid"/>
          </a:ln>
        </p:spPr>
      </p:sp>
      <p:sp>
        <p:nvSpPr>
          <p:cNvPr id="22" name="num 4"/>
          <p:cNvSpPr/>
          <p:nvPr/>
        </p:nvSpPr>
        <p:spPr>
          <a:xfrm>
            <a:off x="14630400" y="2423160"/>
            <a:ext cx="1051560" cy="1051560"/>
          </a:xfrm>
          <a:prstGeom prst="ellipse">
            <a:avLst/>
          </a:prstGeom>
          <a:solidFill>
            <a:srgbClr val="1A3760"/>
          </a:solidFill>
          <a:ln w="12700">
            <a:solidFill>
              <a:srgbClr val="1A3760"/>
            </a:solidFill>
            <a:prstDash val="solid"/>
          </a:ln>
        </p:spPr>
      </p:sp>
      <p:sp>
        <p:nvSpPr>
          <p:cNvPr id="23" name="Text 21"/>
          <p:cNvSpPr txBox="1"/>
          <p:nvPr/>
        </p:nvSpPr>
        <p:spPr>
          <a:xfrm>
            <a:off x="14630400" y="2423160"/>
            <a:ext cx="1051560" cy="1051560"/>
          </a:xfrm>
          <a:prstGeom prst="rect">
            <a:avLst/>
          </a:prstGeom>
          <a:noFill/>
          <a:ln/>
        </p:spPr>
        <p:txBody>
          <a:bodyPr wrap="square" lIns="0" tIns="0" rIns="0" bIns="0"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4</a:t>
            </a:r>
            <a:endParaRPr lang="en-US" sz="3000" dirty="0"/>
          </a:p>
        </p:txBody>
      </p:sp>
      <p:sp>
        <p:nvSpPr>
          <p:cNvPr id="24" name="Text 22"/>
          <p:cNvSpPr txBox="1"/>
          <p:nvPr/>
        </p:nvSpPr>
        <p:spPr>
          <a:xfrm>
            <a:off x="13487400" y="3657600"/>
            <a:ext cx="3337560" cy="731520"/>
          </a:xfrm>
          <a:prstGeom prst="rect">
            <a:avLst/>
          </a:prstGeom>
          <a:noFill/>
          <a:ln/>
        </p:spPr>
        <p:txBody>
          <a:bodyPr wrap="square" rtlCol="0" anchor="ctr"/>
          <a:lstStyle/>
          <a:p>
            <a:pPr algn="ctr" indent="0" marL="0">
              <a:buNone/>
            </a:pPr>
            <a:r>
              <a:rPr lang="en-US" sz="2800" b="1" dirty="0">
                <a:solidFill>
                  <a:srgbClr val="1A3760"/>
                </a:solidFill>
                <a:latin typeface="Times New Roman" pitchFamily="34" charset="0"/>
                <a:ea typeface="Times New Roman" pitchFamily="34" charset="-122"/>
                <a:cs typeface="Times New Roman" pitchFamily="34" charset="-120"/>
              </a:rPr>
              <a:t>Secure Storage</a:t>
            </a:r>
            <a:endParaRPr lang="en-US" sz="2800" dirty="0"/>
          </a:p>
        </p:txBody>
      </p:sp>
      <p:sp>
        <p:nvSpPr>
          <p:cNvPr id="25" name="Text 23"/>
          <p:cNvSpPr txBox="1"/>
          <p:nvPr/>
        </p:nvSpPr>
        <p:spPr>
          <a:xfrm>
            <a:off x="13578840" y="4480560"/>
            <a:ext cx="3154680" cy="3566160"/>
          </a:xfrm>
          <a:prstGeom prst="rect">
            <a:avLst/>
          </a:prstGeom>
          <a:noFill/>
          <a:ln/>
        </p:spPr>
        <p:txBody>
          <a:bodyPr wrap="square" rtlCol="0" anchor="t"/>
          <a:lstStyle/>
          <a:p>
            <a:pPr algn="ctr" indent="0" marL="0">
              <a:buNone/>
            </a:pPr>
            <a:r>
              <a:rPr lang="en-US" sz="2400" dirty="0">
                <a:solidFill>
                  <a:srgbClr val="000000"/>
                </a:solidFill>
                <a:latin typeface="Times New Roman" pitchFamily="34" charset="0"/>
                <a:ea typeface="Times New Roman" pitchFamily="34" charset="-122"/>
                <a:cs typeface="Times New Roman" pitchFamily="34" charset="-120"/>
              </a:rPr>
              <a:t>Completed forms collected confidentially and kept locked and secure.</a:t>
            </a:r>
            <a:endParaRPr lang="en-US" sz="24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Ethical Considerations</a:t>
            </a:r>
            <a:endParaRPr lang="en-US" sz="5400" dirty="0"/>
          </a:p>
        </p:txBody>
      </p:sp>
      <p:sp>
        <p:nvSpPr>
          <p:cNvPr id="3" name="Text 1"/>
          <p:cNvSpPr txBox="1"/>
          <p:nvPr/>
        </p:nvSpPr>
        <p:spPr>
          <a:xfrm>
            <a:off x="1097280" y="2148840"/>
            <a:ext cx="15910560" cy="640080"/>
          </a:xfrm>
          <a:prstGeom prst="rect">
            <a:avLst/>
          </a:prstGeom>
          <a:noFill/>
          <a:ln/>
        </p:spPr>
        <p:txBody>
          <a:bodyPr wrap="square" lIns="0" tIns="0" rIns="0" bIns="0" rtlCol="0" anchor="t"/>
          <a:lstStyle/>
          <a:p>
            <a:pPr indent="0" marL="0">
              <a:buNone/>
            </a:pPr>
            <a:r>
              <a:rPr lang="en-US" sz="2500" i="1" dirty="0">
                <a:solidFill>
                  <a:srgbClr val="000000"/>
                </a:solidFill>
                <a:latin typeface="Times New Roman" pitchFamily="34" charset="0"/>
                <a:ea typeface="Times New Roman" pitchFamily="34" charset="-122"/>
                <a:cs typeface="Times New Roman" pitchFamily="34" charset="-120"/>
              </a:rPr>
              <a:t>The study was approved by the Institutional Review Board (IRB) and followed these principles:</a:t>
            </a:r>
            <a:endParaRPr lang="en-US" sz="2500" dirty="0"/>
          </a:p>
        </p:txBody>
      </p:sp>
      <p:sp>
        <p:nvSpPr>
          <p:cNvPr id="4" name="ethic 0"/>
          <p:cNvSpPr/>
          <p:nvPr/>
        </p:nvSpPr>
        <p:spPr>
          <a:xfrm>
            <a:off x="1097280" y="3017520"/>
            <a:ext cx="5120640" cy="2834640"/>
          </a:xfrm>
          <a:prstGeom prst="roundRect">
            <a:avLst>
              <a:gd name="adj" fmla="val 6452"/>
            </a:avLst>
          </a:prstGeom>
          <a:solidFill>
            <a:srgbClr val="D6DDEA"/>
          </a:solidFill>
          <a:ln w="12700">
            <a:solidFill>
              <a:srgbClr val="D6DDEA"/>
            </a:solidFill>
            <a:prstDash val="solid"/>
          </a:ln>
        </p:spPr>
      </p:sp>
      <p:sp>
        <p:nvSpPr>
          <p:cNvPr id="5" name="Text 3"/>
          <p:cNvSpPr txBox="1"/>
          <p:nvPr/>
        </p:nvSpPr>
        <p:spPr>
          <a:xfrm>
            <a:off x="1371600" y="3246120"/>
            <a:ext cx="4572000" cy="594360"/>
          </a:xfrm>
          <a:prstGeom prst="rect">
            <a:avLst/>
          </a:prstGeom>
          <a:noFill/>
          <a:ln/>
        </p:spPr>
        <p:txBody>
          <a:bodyPr wrap="square" lIns="0" tIns="0" rIns="0" bIns="0" rtlCol="0" anchor="ctr"/>
          <a:lstStyle/>
          <a:p>
            <a:pPr indent="0" marL="0">
              <a:buNone/>
            </a:pPr>
            <a:r>
              <a:rPr lang="en-US" sz="2700" b="1" dirty="0">
                <a:solidFill>
                  <a:srgbClr val="1A3760"/>
                </a:solidFill>
                <a:latin typeface="Times New Roman" pitchFamily="34" charset="0"/>
                <a:ea typeface="Times New Roman" pitchFamily="34" charset="-122"/>
                <a:cs typeface="Times New Roman" pitchFamily="34" charset="-120"/>
              </a:rPr>
              <a:t>Beneficence</a:t>
            </a:r>
            <a:endParaRPr lang="en-US" sz="2700" dirty="0"/>
          </a:p>
        </p:txBody>
      </p:sp>
      <p:sp>
        <p:nvSpPr>
          <p:cNvPr id="6" name="Text 4"/>
          <p:cNvSpPr txBox="1"/>
          <p:nvPr/>
        </p:nvSpPr>
        <p:spPr>
          <a:xfrm>
            <a:off x="1371600" y="3931920"/>
            <a:ext cx="4572000" cy="1737360"/>
          </a:xfrm>
          <a:prstGeom prst="rect">
            <a:avLst/>
          </a:prstGeom>
          <a:noFill/>
          <a:ln/>
        </p:spPr>
        <p:txBody>
          <a:bodyPr wrap="square" rtlCol="0" anchor="t"/>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Research designed to benefit participants and disaster preparedness.</a:t>
            </a:r>
            <a:endParaRPr lang="en-US" sz="2300" dirty="0"/>
          </a:p>
        </p:txBody>
      </p:sp>
      <p:sp>
        <p:nvSpPr>
          <p:cNvPr id="7" name="ethic 1"/>
          <p:cNvSpPr/>
          <p:nvPr/>
        </p:nvSpPr>
        <p:spPr>
          <a:xfrm>
            <a:off x="6492240" y="3017520"/>
            <a:ext cx="5120640" cy="2834640"/>
          </a:xfrm>
          <a:prstGeom prst="roundRect">
            <a:avLst>
              <a:gd name="adj" fmla="val 6452"/>
            </a:avLst>
          </a:prstGeom>
          <a:solidFill>
            <a:srgbClr val="EEF1F7"/>
          </a:solidFill>
          <a:ln w="12700">
            <a:solidFill>
              <a:srgbClr val="EEF1F7"/>
            </a:solidFill>
            <a:prstDash val="solid"/>
          </a:ln>
        </p:spPr>
      </p:sp>
      <p:sp>
        <p:nvSpPr>
          <p:cNvPr id="8" name="Text 6"/>
          <p:cNvSpPr txBox="1"/>
          <p:nvPr/>
        </p:nvSpPr>
        <p:spPr>
          <a:xfrm>
            <a:off x="6766560" y="3246120"/>
            <a:ext cx="4572000" cy="594360"/>
          </a:xfrm>
          <a:prstGeom prst="rect">
            <a:avLst/>
          </a:prstGeom>
          <a:noFill/>
          <a:ln/>
        </p:spPr>
        <p:txBody>
          <a:bodyPr wrap="square" lIns="0" tIns="0" rIns="0" bIns="0" rtlCol="0" anchor="ctr"/>
          <a:lstStyle/>
          <a:p>
            <a:pPr indent="0" marL="0">
              <a:buNone/>
            </a:pPr>
            <a:r>
              <a:rPr lang="en-US" sz="2700" b="1" dirty="0">
                <a:solidFill>
                  <a:srgbClr val="1A3760"/>
                </a:solidFill>
                <a:latin typeface="Times New Roman" pitchFamily="34" charset="0"/>
                <a:ea typeface="Times New Roman" pitchFamily="34" charset="-122"/>
                <a:cs typeface="Times New Roman" pitchFamily="34" charset="-120"/>
              </a:rPr>
              <a:t>Justice</a:t>
            </a:r>
            <a:endParaRPr lang="en-US" sz="2700" dirty="0"/>
          </a:p>
        </p:txBody>
      </p:sp>
      <p:sp>
        <p:nvSpPr>
          <p:cNvPr id="9" name="Text 7"/>
          <p:cNvSpPr txBox="1"/>
          <p:nvPr/>
        </p:nvSpPr>
        <p:spPr>
          <a:xfrm>
            <a:off x="6766560" y="3931920"/>
            <a:ext cx="4572000" cy="1737360"/>
          </a:xfrm>
          <a:prstGeom prst="rect">
            <a:avLst/>
          </a:prstGeom>
          <a:noFill/>
          <a:ln/>
        </p:spPr>
        <p:txBody>
          <a:bodyPr wrap="square" rtlCol="0" anchor="t"/>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Fair and equitable treatment, free of exploitation and bias.</a:t>
            </a:r>
            <a:endParaRPr lang="en-US" sz="2300" dirty="0"/>
          </a:p>
        </p:txBody>
      </p:sp>
      <p:sp>
        <p:nvSpPr>
          <p:cNvPr id="10" name="ethic 2"/>
          <p:cNvSpPr/>
          <p:nvPr/>
        </p:nvSpPr>
        <p:spPr>
          <a:xfrm>
            <a:off x="11887200" y="3017520"/>
            <a:ext cx="5120640" cy="2834640"/>
          </a:xfrm>
          <a:prstGeom prst="roundRect">
            <a:avLst>
              <a:gd name="adj" fmla="val 6452"/>
            </a:avLst>
          </a:prstGeom>
          <a:solidFill>
            <a:srgbClr val="D6DDEA"/>
          </a:solidFill>
          <a:ln w="12700">
            <a:solidFill>
              <a:srgbClr val="D6DDEA"/>
            </a:solidFill>
            <a:prstDash val="solid"/>
          </a:ln>
        </p:spPr>
      </p:sp>
      <p:sp>
        <p:nvSpPr>
          <p:cNvPr id="11" name="Text 9"/>
          <p:cNvSpPr txBox="1"/>
          <p:nvPr/>
        </p:nvSpPr>
        <p:spPr>
          <a:xfrm>
            <a:off x="12161520" y="3246120"/>
            <a:ext cx="4572000" cy="594360"/>
          </a:xfrm>
          <a:prstGeom prst="rect">
            <a:avLst/>
          </a:prstGeom>
          <a:noFill/>
          <a:ln/>
        </p:spPr>
        <p:txBody>
          <a:bodyPr wrap="square" lIns="0" tIns="0" rIns="0" bIns="0" rtlCol="0" anchor="ctr"/>
          <a:lstStyle/>
          <a:p>
            <a:pPr indent="0" marL="0">
              <a:buNone/>
            </a:pPr>
            <a:r>
              <a:rPr lang="en-US" sz="2700" b="1" dirty="0">
                <a:solidFill>
                  <a:srgbClr val="1A3760"/>
                </a:solidFill>
                <a:latin typeface="Times New Roman" pitchFamily="34" charset="0"/>
                <a:ea typeface="Times New Roman" pitchFamily="34" charset="-122"/>
                <a:cs typeface="Times New Roman" pitchFamily="34" charset="-120"/>
              </a:rPr>
              <a:t>Respect for Human Dignity</a:t>
            </a:r>
            <a:endParaRPr lang="en-US" sz="2700" dirty="0"/>
          </a:p>
        </p:txBody>
      </p:sp>
      <p:sp>
        <p:nvSpPr>
          <p:cNvPr id="12" name="Text 10"/>
          <p:cNvSpPr txBox="1"/>
          <p:nvPr/>
        </p:nvSpPr>
        <p:spPr>
          <a:xfrm>
            <a:off x="12161520" y="3931920"/>
            <a:ext cx="4572000" cy="1737360"/>
          </a:xfrm>
          <a:prstGeom prst="rect">
            <a:avLst/>
          </a:prstGeom>
          <a:noFill/>
          <a:ln/>
        </p:spPr>
        <p:txBody>
          <a:bodyPr wrap="square" rtlCol="0" anchor="t"/>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Participants’ free will and rights were preserved.</a:t>
            </a:r>
            <a:endParaRPr lang="en-US" sz="2300" dirty="0"/>
          </a:p>
        </p:txBody>
      </p:sp>
      <p:sp>
        <p:nvSpPr>
          <p:cNvPr id="13" name="ethic 3"/>
          <p:cNvSpPr/>
          <p:nvPr/>
        </p:nvSpPr>
        <p:spPr>
          <a:xfrm>
            <a:off x="1097280" y="6126480"/>
            <a:ext cx="5120640" cy="2834640"/>
          </a:xfrm>
          <a:prstGeom prst="roundRect">
            <a:avLst>
              <a:gd name="adj" fmla="val 6452"/>
            </a:avLst>
          </a:prstGeom>
          <a:solidFill>
            <a:srgbClr val="EEF1F7"/>
          </a:solidFill>
          <a:ln w="12700">
            <a:solidFill>
              <a:srgbClr val="EEF1F7"/>
            </a:solidFill>
            <a:prstDash val="solid"/>
          </a:ln>
        </p:spPr>
      </p:sp>
      <p:sp>
        <p:nvSpPr>
          <p:cNvPr id="14" name="Text 12"/>
          <p:cNvSpPr txBox="1"/>
          <p:nvPr/>
        </p:nvSpPr>
        <p:spPr>
          <a:xfrm>
            <a:off x="1371600" y="6355080"/>
            <a:ext cx="4572000" cy="594360"/>
          </a:xfrm>
          <a:prstGeom prst="rect">
            <a:avLst/>
          </a:prstGeom>
          <a:noFill/>
          <a:ln/>
        </p:spPr>
        <p:txBody>
          <a:bodyPr wrap="square" lIns="0" tIns="0" rIns="0" bIns="0" rtlCol="0" anchor="ctr"/>
          <a:lstStyle/>
          <a:p>
            <a:pPr indent="0" marL="0">
              <a:buNone/>
            </a:pPr>
            <a:r>
              <a:rPr lang="en-US" sz="2700" b="1" dirty="0">
                <a:solidFill>
                  <a:srgbClr val="1A3760"/>
                </a:solidFill>
                <a:latin typeface="Times New Roman" pitchFamily="34" charset="0"/>
                <a:ea typeface="Times New Roman" pitchFamily="34" charset="-122"/>
                <a:cs typeface="Times New Roman" pitchFamily="34" charset="-120"/>
              </a:rPr>
              <a:t>Informed Consent</a:t>
            </a:r>
            <a:endParaRPr lang="en-US" sz="2700" dirty="0"/>
          </a:p>
        </p:txBody>
      </p:sp>
      <p:sp>
        <p:nvSpPr>
          <p:cNvPr id="15" name="Text 13"/>
          <p:cNvSpPr txBox="1"/>
          <p:nvPr/>
        </p:nvSpPr>
        <p:spPr>
          <a:xfrm>
            <a:off x="1371600" y="7040880"/>
            <a:ext cx="4572000" cy="1737360"/>
          </a:xfrm>
          <a:prstGeom prst="rect">
            <a:avLst/>
          </a:prstGeom>
          <a:noFill/>
          <a:ln/>
        </p:spPr>
        <p:txBody>
          <a:bodyPr wrap="square" rtlCol="0" anchor="t"/>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Purpose, procedures, risks and benefits explained before participation.</a:t>
            </a:r>
            <a:endParaRPr lang="en-US" sz="2300" dirty="0"/>
          </a:p>
        </p:txBody>
      </p:sp>
      <p:sp>
        <p:nvSpPr>
          <p:cNvPr id="16" name="ethic 4"/>
          <p:cNvSpPr/>
          <p:nvPr/>
        </p:nvSpPr>
        <p:spPr>
          <a:xfrm>
            <a:off x="6492240" y="6126480"/>
            <a:ext cx="5120640" cy="2834640"/>
          </a:xfrm>
          <a:prstGeom prst="roundRect">
            <a:avLst>
              <a:gd name="adj" fmla="val 6452"/>
            </a:avLst>
          </a:prstGeom>
          <a:solidFill>
            <a:srgbClr val="D6DDEA"/>
          </a:solidFill>
          <a:ln w="12700">
            <a:solidFill>
              <a:srgbClr val="D6DDEA"/>
            </a:solidFill>
            <a:prstDash val="solid"/>
          </a:ln>
        </p:spPr>
      </p:sp>
      <p:sp>
        <p:nvSpPr>
          <p:cNvPr id="17" name="Text 15"/>
          <p:cNvSpPr txBox="1"/>
          <p:nvPr/>
        </p:nvSpPr>
        <p:spPr>
          <a:xfrm>
            <a:off x="6766560" y="6355080"/>
            <a:ext cx="4572000" cy="594360"/>
          </a:xfrm>
          <a:prstGeom prst="rect">
            <a:avLst/>
          </a:prstGeom>
          <a:noFill/>
          <a:ln/>
        </p:spPr>
        <p:txBody>
          <a:bodyPr wrap="square" lIns="0" tIns="0" rIns="0" bIns="0" rtlCol="0" anchor="ctr"/>
          <a:lstStyle/>
          <a:p>
            <a:pPr indent="0" marL="0">
              <a:buNone/>
            </a:pPr>
            <a:r>
              <a:rPr lang="en-US" sz="2700" b="1" dirty="0">
                <a:solidFill>
                  <a:srgbClr val="1A3760"/>
                </a:solidFill>
                <a:latin typeface="Times New Roman" pitchFamily="34" charset="0"/>
                <a:ea typeface="Times New Roman" pitchFamily="34" charset="-122"/>
                <a:cs typeface="Times New Roman" pitchFamily="34" charset="-120"/>
              </a:rPr>
              <a:t>Confidentiality</a:t>
            </a:r>
            <a:endParaRPr lang="en-US" sz="2700" dirty="0"/>
          </a:p>
        </p:txBody>
      </p:sp>
      <p:sp>
        <p:nvSpPr>
          <p:cNvPr id="18" name="Text 16"/>
          <p:cNvSpPr txBox="1"/>
          <p:nvPr/>
        </p:nvSpPr>
        <p:spPr>
          <a:xfrm>
            <a:off x="6766560" y="7040880"/>
            <a:ext cx="4572000" cy="1737360"/>
          </a:xfrm>
          <a:prstGeom prst="rect">
            <a:avLst/>
          </a:prstGeom>
          <a:noFill/>
          <a:ln/>
        </p:spPr>
        <p:txBody>
          <a:bodyPr wrap="square" rtlCol="0" anchor="t"/>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Data de-identified and stored in password-protected files.</a:t>
            </a:r>
            <a:endParaRPr lang="en-US" sz="2300" dirty="0"/>
          </a:p>
        </p:txBody>
      </p:sp>
      <p:sp>
        <p:nvSpPr>
          <p:cNvPr id="19" name="ethic 5"/>
          <p:cNvSpPr/>
          <p:nvPr/>
        </p:nvSpPr>
        <p:spPr>
          <a:xfrm>
            <a:off x="11887200" y="6126480"/>
            <a:ext cx="5120640" cy="2834640"/>
          </a:xfrm>
          <a:prstGeom prst="roundRect">
            <a:avLst>
              <a:gd name="adj" fmla="val 6452"/>
            </a:avLst>
          </a:prstGeom>
          <a:solidFill>
            <a:srgbClr val="EEF1F7"/>
          </a:solidFill>
          <a:ln w="12700">
            <a:solidFill>
              <a:srgbClr val="EEF1F7"/>
            </a:solidFill>
            <a:prstDash val="solid"/>
          </a:ln>
        </p:spPr>
      </p:sp>
      <p:sp>
        <p:nvSpPr>
          <p:cNvPr id="20" name="Text 18"/>
          <p:cNvSpPr txBox="1"/>
          <p:nvPr/>
        </p:nvSpPr>
        <p:spPr>
          <a:xfrm>
            <a:off x="12161520" y="6355080"/>
            <a:ext cx="4572000" cy="594360"/>
          </a:xfrm>
          <a:prstGeom prst="rect">
            <a:avLst/>
          </a:prstGeom>
          <a:noFill/>
          <a:ln/>
        </p:spPr>
        <p:txBody>
          <a:bodyPr wrap="square" lIns="0" tIns="0" rIns="0" bIns="0" rtlCol="0" anchor="ctr"/>
          <a:lstStyle/>
          <a:p>
            <a:pPr indent="0" marL="0">
              <a:buNone/>
            </a:pPr>
            <a:r>
              <a:rPr lang="en-US" sz="2700" b="1" dirty="0">
                <a:solidFill>
                  <a:srgbClr val="1A3760"/>
                </a:solidFill>
                <a:latin typeface="Times New Roman" pitchFamily="34" charset="0"/>
                <a:ea typeface="Times New Roman" pitchFamily="34" charset="-122"/>
                <a:cs typeface="Times New Roman" pitchFamily="34" charset="-120"/>
              </a:rPr>
              <a:t>Freedom to Withdraw</a:t>
            </a:r>
            <a:endParaRPr lang="en-US" sz="2700" dirty="0"/>
          </a:p>
        </p:txBody>
      </p:sp>
      <p:sp>
        <p:nvSpPr>
          <p:cNvPr id="21" name="Text 19"/>
          <p:cNvSpPr txBox="1"/>
          <p:nvPr/>
        </p:nvSpPr>
        <p:spPr>
          <a:xfrm>
            <a:off x="12161520" y="7040880"/>
            <a:ext cx="4572000" cy="1737360"/>
          </a:xfrm>
          <a:prstGeom prst="rect">
            <a:avLst/>
          </a:prstGeom>
          <a:noFill/>
          <a:ln/>
        </p:spPr>
        <p:txBody>
          <a:bodyPr wrap="square" rtlCol="0" anchor="t"/>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Participants could withdraw at any time without penalty.</a:t>
            </a:r>
            <a:endParaRPr lang="en-US" sz="23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Data Analysis</a:t>
            </a:r>
            <a:endParaRPr lang="en-US" sz="5400" dirty="0"/>
          </a:p>
        </p:txBody>
      </p:sp>
      <p:sp>
        <p:nvSpPr>
          <p:cNvPr id="3" name="Text 1"/>
          <p:cNvSpPr txBox="1"/>
          <p:nvPr/>
        </p:nvSpPr>
        <p:spPr>
          <a:xfrm>
            <a:off x="1097280" y="2148840"/>
            <a:ext cx="15910560" cy="640080"/>
          </a:xfrm>
          <a:prstGeom prst="rect">
            <a:avLst/>
          </a:prstGeom>
          <a:noFill/>
          <a:ln/>
        </p:spPr>
        <p:txBody>
          <a:bodyPr wrap="square" lIns="0" tIns="0" rIns="0" bIns="0" rtlCol="0" anchor="t"/>
          <a:lstStyle/>
          <a:p>
            <a:pPr indent="0" marL="0">
              <a:buNone/>
            </a:pPr>
            <a:r>
              <a:rPr lang="en-US" sz="2500" i="1" dirty="0">
                <a:solidFill>
                  <a:srgbClr val="000000"/>
                </a:solidFill>
                <a:latin typeface="Times New Roman" pitchFamily="34" charset="0"/>
                <a:ea typeface="Times New Roman" pitchFamily="34" charset="-122"/>
                <a:cs typeface="Times New Roman" pitchFamily="34" charset="-120"/>
              </a:rPr>
              <a:t>Main-study data were analyzed using IBM SPSS Statistics for Windows, version 28.</a:t>
            </a:r>
            <a:endParaRPr lang="en-US" sz="2500" dirty="0"/>
          </a:p>
        </p:txBody>
      </p:sp>
      <p:sp>
        <p:nvSpPr>
          <p:cNvPr id="4" name="card Descriptive"/>
          <p:cNvSpPr/>
          <p:nvPr/>
        </p:nvSpPr>
        <p:spPr>
          <a:xfrm>
            <a:off x="4846320" y="3035808"/>
            <a:ext cx="12161520" cy="969264"/>
          </a:xfrm>
          <a:prstGeom prst="roundRect">
            <a:avLst>
              <a:gd name="adj" fmla="val 14151"/>
            </a:avLst>
          </a:prstGeom>
          <a:solidFill>
            <a:srgbClr val="D6DDEA"/>
          </a:solidFill>
          <a:ln w="12700">
            <a:solidFill>
              <a:srgbClr val="D6DDEA"/>
            </a:solidFill>
            <a:prstDash val="solid"/>
          </a:ln>
        </p:spPr>
      </p:sp>
      <p:sp>
        <p:nvSpPr>
          <p:cNvPr id="5" name="label Descriptive"/>
          <p:cNvSpPr/>
          <p:nvPr/>
        </p:nvSpPr>
        <p:spPr>
          <a:xfrm>
            <a:off x="1097280" y="2926080"/>
            <a:ext cx="4023360" cy="1188720"/>
          </a:xfrm>
          <a:prstGeom prst="roundRect">
            <a:avLst>
              <a:gd name="adj" fmla="val 15385"/>
            </a:avLst>
          </a:prstGeom>
          <a:solidFill>
            <a:srgbClr val="4F81BD"/>
          </a:solidFill>
          <a:ln w="19050">
            <a:solidFill>
              <a:srgbClr val="FFFFFF"/>
            </a:solidFill>
            <a:prstDash val="solid"/>
          </a:ln>
        </p:spPr>
      </p:sp>
      <p:sp>
        <p:nvSpPr>
          <p:cNvPr id="6" name="Text 4"/>
          <p:cNvSpPr txBox="1"/>
          <p:nvPr/>
        </p:nvSpPr>
        <p:spPr>
          <a:xfrm>
            <a:off x="1097280" y="2926080"/>
            <a:ext cx="4023360" cy="11887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Descriptive</a:t>
            </a:r>
            <a:endParaRPr lang="en-US" sz="2800" dirty="0"/>
          </a:p>
        </p:txBody>
      </p:sp>
      <p:sp>
        <p:nvSpPr>
          <p:cNvPr id="7" name="Text 5"/>
          <p:cNvSpPr txBox="1"/>
          <p:nvPr/>
        </p:nvSpPr>
        <p:spPr>
          <a:xfrm>
            <a:off x="5303520" y="3035808"/>
            <a:ext cx="11567160" cy="969264"/>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Frequencies and percentages for demographics; means, SD, ranges, skewness and kurtosis for the three domains.</a:t>
            </a:r>
            <a:endParaRPr lang="en-US" sz="2300" dirty="0"/>
          </a:p>
        </p:txBody>
      </p:sp>
      <p:sp>
        <p:nvSpPr>
          <p:cNvPr id="8" name="card Reliability"/>
          <p:cNvSpPr/>
          <p:nvPr/>
        </p:nvSpPr>
        <p:spPr>
          <a:xfrm>
            <a:off x="4846320" y="4334256"/>
            <a:ext cx="12161520" cy="969264"/>
          </a:xfrm>
          <a:prstGeom prst="roundRect">
            <a:avLst>
              <a:gd name="adj" fmla="val 14151"/>
            </a:avLst>
          </a:prstGeom>
          <a:solidFill>
            <a:srgbClr val="D6DDEA"/>
          </a:solidFill>
          <a:ln w="12700">
            <a:solidFill>
              <a:srgbClr val="D6DDEA"/>
            </a:solidFill>
            <a:prstDash val="solid"/>
          </a:ln>
        </p:spPr>
      </p:sp>
      <p:sp>
        <p:nvSpPr>
          <p:cNvPr id="9" name="label Reliability"/>
          <p:cNvSpPr/>
          <p:nvPr/>
        </p:nvSpPr>
        <p:spPr>
          <a:xfrm>
            <a:off x="1097280" y="4224528"/>
            <a:ext cx="4023360" cy="1188720"/>
          </a:xfrm>
          <a:prstGeom prst="roundRect">
            <a:avLst>
              <a:gd name="adj" fmla="val 15385"/>
            </a:avLst>
          </a:prstGeom>
          <a:solidFill>
            <a:srgbClr val="4F81BD"/>
          </a:solidFill>
          <a:ln w="19050">
            <a:solidFill>
              <a:srgbClr val="FFFFFF"/>
            </a:solidFill>
            <a:prstDash val="solid"/>
          </a:ln>
        </p:spPr>
      </p:sp>
      <p:sp>
        <p:nvSpPr>
          <p:cNvPr id="10" name="Text 8"/>
          <p:cNvSpPr txBox="1"/>
          <p:nvPr/>
        </p:nvSpPr>
        <p:spPr>
          <a:xfrm>
            <a:off x="1097280" y="4224528"/>
            <a:ext cx="4023360" cy="11887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Reliability</a:t>
            </a:r>
            <a:endParaRPr lang="en-US" sz="2800" dirty="0"/>
          </a:p>
        </p:txBody>
      </p:sp>
      <p:sp>
        <p:nvSpPr>
          <p:cNvPr id="11" name="Text 9"/>
          <p:cNvSpPr txBox="1"/>
          <p:nvPr/>
        </p:nvSpPr>
        <p:spPr>
          <a:xfrm>
            <a:off x="5303520" y="4334256"/>
            <a:ext cx="11567160" cy="969264"/>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Cronbach’s alpha for each study domain.</a:t>
            </a:r>
            <a:endParaRPr lang="en-US" sz="2300" dirty="0"/>
          </a:p>
        </p:txBody>
      </p:sp>
      <p:sp>
        <p:nvSpPr>
          <p:cNvPr id="12" name="card Correlation"/>
          <p:cNvSpPr/>
          <p:nvPr/>
        </p:nvSpPr>
        <p:spPr>
          <a:xfrm>
            <a:off x="4846320" y="5632704"/>
            <a:ext cx="12161520" cy="969264"/>
          </a:xfrm>
          <a:prstGeom prst="roundRect">
            <a:avLst>
              <a:gd name="adj" fmla="val 14151"/>
            </a:avLst>
          </a:prstGeom>
          <a:solidFill>
            <a:srgbClr val="D6DDEA"/>
          </a:solidFill>
          <a:ln w="12700">
            <a:solidFill>
              <a:srgbClr val="D6DDEA"/>
            </a:solidFill>
            <a:prstDash val="solid"/>
          </a:ln>
        </p:spPr>
      </p:sp>
      <p:sp>
        <p:nvSpPr>
          <p:cNvPr id="13" name="label Correlation"/>
          <p:cNvSpPr/>
          <p:nvPr/>
        </p:nvSpPr>
        <p:spPr>
          <a:xfrm>
            <a:off x="1097280" y="5522976"/>
            <a:ext cx="4023360" cy="1188720"/>
          </a:xfrm>
          <a:prstGeom prst="roundRect">
            <a:avLst>
              <a:gd name="adj" fmla="val 15385"/>
            </a:avLst>
          </a:prstGeom>
          <a:solidFill>
            <a:srgbClr val="4F81BD"/>
          </a:solidFill>
          <a:ln w="19050">
            <a:solidFill>
              <a:srgbClr val="FFFFFF"/>
            </a:solidFill>
            <a:prstDash val="solid"/>
          </a:ln>
        </p:spPr>
      </p:sp>
      <p:sp>
        <p:nvSpPr>
          <p:cNvPr id="14" name="Text 12"/>
          <p:cNvSpPr txBox="1"/>
          <p:nvPr/>
        </p:nvSpPr>
        <p:spPr>
          <a:xfrm>
            <a:off x="1097280" y="5522976"/>
            <a:ext cx="4023360" cy="11887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Correlation</a:t>
            </a:r>
            <a:endParaRPr lang="en-US" sz="2800" dirty="0"/>
          </a:p>
        </p:txBody>
      </p:sp>
      <p:sp>
        <p:nvSpPr>
          <p:cNvPr id="15" name="Text 13"/>
          <p:cNvSpPr txBox="1"/>
          <p:nvPr/>
        </p:nvSpPr>
        <p:spPr>
          <a:xfrm>
            <a:off x="5303520" y="5632704"/>
            <a:ext cx="11567160" cy="969264"/>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Pearson correlations among the three domains.</a:t>
            </a:r>
            <a:endParaRPr lang="en-US" sz="2300" dirty="0"/>
          </a:p>
        </p:txBody>
      </p:sp>
      <p:sp>
        <p:nvSpPr>
          <p:cNvPr id="16" name="card Regression"/>
          <p:cNvSpPr/>
          <p:nvPr/>
        </p:nvSpPr>
        <p:spPr>
          <a:xfrm>
            <a:off x="4846320" y="6931152"/>
            <a:ext cx="12161520" cy="969264"/>
          </a:xfrm>
          <a:prstGeom prst="roundRect">
            <a:avLst>
              <a:gd name="adj" fmla="val 14151"/>
            </a:avLst>
          </a:prstGeom>
          <a:solidFill>
            <a:srgbClr val="D6DDEA"/>
          </a:solidFill>
          <a:ln w="12700">
            <a:solidFill>
              <a:srgbClr val="D6DDEA"/>
            </a:solidFill>
            <a:prstDash val="solid"/>
          </a:ln>
        </p:spPr>
      </p:sp>
      <p:sp>
        <p:nvSpPr>
          <p:cNvPr id="17" name="label Regression"/>
          <p:cNvSpPr/>
          <p:nvPr/>
        </p:nvSpPr>
        <p:spPr>
          <a:xfrm>
            <a:off x="1097280" y="6821424"/>
            <a:ext cx="4023360" cy="1188720"/>
          </a:xfrm>
          <a:prstGeom prst="roundRect">
            <a:avLst>
              <a:gd name="adj" fmla="val 15385"/>
            </a:avLst>
          </a:prstGeom>
          <a:solidFill>
            <a:srgbClr val="4F81BD"/>
          </a:solidFill>
          <a:ln w="19050">
            <a:solidFill>
              <a:srgbClr val="FFFFFF"/>
            </a:solidFill>
            <a:prstDash val="solid"/>
          </a:ln>
        </p:spPr>
      </p:sp>
      <p:sp>
        <p:nvSpPr>
          <p:cNvPr id="18" name="Text 16"/>
          <p:cNvSpPr txBox="1"/>
          <p:nvPr/>
        </p:nvSpPr>
        <p:spPr>
          <a:xfrm>
            <a:off x="1097280" y="6821424"/>
            <a:ext cx="4023360" cy="11887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Regression</a:t>
            </a:r>
            <a:endParaRPr lang="en-US" sz="2800" dirty="0"/>
          </a:p>
        </p:txBody>
      </p:sp>
      <p:sp>
        <p:nvSpPr>
          <p:cNvPr id="19" name="Text 17"/>
          <p:cNvSpPr txBox="1"/>
          <p:nvPr/>
        </p:nvSpPr>
        <p:spPr>
          <a:xfrm>
            <a:off x="5303520" y="6931152"/>
            <a:ext cx="11567160" cy="969264"/>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Simple linear regression of self-perceived knowledge on perceptions and on self-reported practice.</a:t>
            </a:r>
            <a:endParaRPr lang="en-US" sz="2300" dirty="0"/>
          </a:p>
        </p:txBody>
      </p:sp>
      <p:sp>
        <p:nvSpPr>
          <p:cNvPr id="20" name="card Group Comparisons"/>
          <p:cNvSpPr/>
          <p:nvPr/>
        </p:nvSpPr>
        <p:spPr>
          <a:xfrm>
            <a:off x="4846320" y="8229600"/>
            <a:ext cx="12161520" cy="969264"/>
          </a:xfrm>
          <a:prstGeom prst="roundRect">
            <a:avLst>
              <a:gd name="adj" fmla="val 14151"/>
            </a:avLst>
          </a:prstGeom>
          <a:solidFill>
            <a:srgbClr val="D6DDEA"/>
          </a:solidFill>
          <a:ln w="12700">
            <a:solidFill>
              <a:srgbClr val="D6DDEA"/>
            </a:solidFill>
            <a:prstDash val="solid"/>
          </a:ln>
        </p:spPr>
      </p:sp>
      <p:sp>
        <p:nvSpPr>
          <p:cNvPr id="21" name="label Group Comparisons"/>
          <p:cNvSpPr/>
          <p:nvPr/>
        </p:nvSpPr>
        <p:spPr>
          <a:xfrm>
            <a:off x="1097280" y="8119872"/>
            <a:ext cx="4023360" cy="1188720"/>
          </a:xfrm>
          <a:prstGeom prst="roundRect">
            <a:avLst>
              <a:gd name="adj" fmla="val 15385"/>
            </a:avLst>
          </a:prstGeom>
          <a:solidFill>
            <a:srgbClr val="4F81BD"/>
          </a:solidFill>
          <a:ln w="19050">
            <a:solidFill>
              <a:srgbClr val="FFFFFF"/>
            </a:solidFill>
            <a:prstDash val="solid"/>
          </a:ln>
        </p:spPr>
      </p:sp>
      <p:sp>
        <p:nvSpPr>
          <p:cNvPr id="22" name="Text 20"/>
          <p:cNvSpPr txBox="1"/>
          <p:nvPr/>
        </p:nvSpPr>
        <p:spPr>
          <a:xfrm>
            <a:off x="1097280" y="8119872"/>
            <a:ext cx="4023360" cy="11887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Group Comparisons</a:t>
            </a:r>
            <a:endParaRPr lang="en-US" sz="2800" dirty="0"/>
          </a:p>
        </p:txBody>
      </p:sp>
      <p:sp>
        <p:nvSpPr>
          <p:cNvPr id="23" name="Text 21"/>
          <p:cNvSpPr txBox="1"/>
          <p:nvPr/>
        </p:nvSpPr>
        <p:spPr>
          <a:xfrm>
            <a:off x="5303520" y="8229600"/>
            <a:ext cx="11567160" cy="969264"/>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Independent-samples t tests (gender); one-way ANOVA with Tukey post hoc tests (educational level); effect sizes reported (APA 7).</a:t>
            </a:r>
            <a:endParaRPr lang="en-US" sz="23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Results – Sample Characteristics</a:t>
            </a:r>
            <a:endParaRPr lang="en-US" sz="5400" dirty="0"/>
          </a:p>
        </p:txBody>
      </p:sp>
      <p:sp>
        <p:nvSpPr>
          <p:cNvPr id="3" name="gender card"/>
          <p:cNvSpPr/>
          <p:nvPr/>
        </p:nvSpPr>
        <p:spPr>
          <a:xfrm>
            <a:off x="1097280" y="2240280"/>
            <a:ext cx="3566160" cy="3383280"/>
          </a:xfrm>
          <a:prstGeom prst="roundRect">
            <a:avLst>
              <a:gd name="adj" fmla="val 5405"/>
            </a:avLst>
          </a:prstGeom>
          <a:solidFill>
            <a:srgbClr val="1A3760"/>
          </a:solidFill>
          <a:ln w="12700">
            <a:solidFill>
              <a:srgbClr val="1A3760"/>
            </a:solidFill>
            <a:prstDash val="solid"/>
          </a:ln>
        </p:spPr>
      </p:sp>
      <p:sp>
        <p:nvSpPr>
          <p:cNvPr id="4" name="Text 2"/>
          <p:cNvSpPr txBox="1"/>
          <p:nvPr/>
        </p:nvSpPr>
        <p:spPr>
          <a:xfrm>
            <a:off x="1280160" y="2377440"/>
            <a:ext cx="3200400" cy="3108960"/>
          </a:xfrm>
          <a:prstGeom prst="rect">
            <a:avLst/>
          </a:prstGeom>
          <a:noFill/>
          <a:ln/>
        </p:spPr>
        <p:txBody>
          <a:bodyPr wrap="square" rtlCol="0" anchor="ctr"/>
          <a:lstStyle/>
          <a:p>
            <a:pPr algn="ctr" indent="0" marL="0">
              <a:spcAft>
                <a:spcPts val="600"/>
              </a:spcAft>
              <a:buNone/>
            </a:pPr>
            <a:r>
              <a:rPr lang="en-US" sz="2400" b="1" dirty="0">
                <a:solidFill>
                  <a:srgbClr val="F2B800"/>
                </a:solidFill>
                <a:latin typeface="Times New Roman" pitchFamily="34" charset="0"/>
                <a:ea typeface="Times New Roman" pitchFamily="34" charset="-122"/>
                <a:cs typeface="Times New Roman" pitchFamily="34" charset="-120"/>
              </a:rPr>
              <a:t>Gender</a:t>
            </a:r>
            <a:endParaRPr lang="en-US" sz="2400" dirty="0"/>
          </a:p>
          <a:p>
            <a:pPr algn="ctr" indent="0" marL="0">
              <a:buNone/>
            </a:pPr>
            <a:r>
              <a:rPr lang="en-US" sz="2200" dirty="0">
                <a:solidFill>
                  <a:srgbClr val="FFFFFF"/>
                </a:solidFill>
                <a:latin typeface="Times New Roman" pitchFamily="34" charset="0"/>
                <a:ea typeface="Times New Roman" pitchFamily="34" charset="-122"/>
                <a:cs typeface="Times New Roman" pitchFamily="34" charset="-120"/>
              </a:rPr>
              <a:t>Female 185 (61.7%)</a:t>
            </a:r>
            <a:endParaRPr lang="en-US" sz="2400" dirty="0"/>
          </a:p>
          <a:p>
            <a:pPr algn="ctr" indent="0" marL="0">
              <a:buNone/>
            </a:pPr>
            <a:r>
              <a:rPr lang="en-US" sz="2200" dirty="0">
                <a:solidFill>
                  <a:srgbClr val="FFFFFF"/>
                </a:solidFill>
                <a:latin typeface="Times New Roman" pitchFamily="34" charset="0"/>
                <a:ea typeface="Times New Roman" pitchFamily="34" charset="-122"/>
                <a:cs typeface="Times New Roman" pitchFamily="34" charset="-120"/>
              </a:rPr>
              <a:t>Male 115 (38.3%)</a:t>
            </a:r>
            <a:endParaRPr lang="en-US" sz="2400" dirty="0"/>
          </a:p>
        </p:txBody>
      </p:sp>
      <p:sp>
        <p:nvSpPr>
          <p:cNvPr id="5" name="marital card"/>
          <p:cNvSpPr/>
          <p:nvPr/>
        </p:nvSpPr>
        <p:spPr>
          <a:xfrm>
            <a:off x="1097280" y="5852160"/>
            <a:ext cx="3566160" cy="3383280"/>
          </a:xfrm>
          <a:prstGeom prst="roundRect">
            <a:avLst>
              <a:gd name="adj" fmla="val 5405"/>
            </a:avLst>
          </a:prstGeom>
          <a:solidFill>
            <a:srgbClr val="1A3760"/>
          </a:solidFill>
          <a:ln w="12700">
            <a:solidFill>
              <a:srgbClr val="1A3760"/>
            </a:solidFill>
            <a:prstDash val="solid"/>
          </a:ln>
        </p:spPr>
      </p:sp>
      <p:sp>
        <p:nvSpPr>
          <p:cNvPr id="6" name="Text 4"/>
          <p:cNvSpPr txBox="1"/>
          <p:nvPr/>
        </p:nvSpPr>
        <p:spPr>
          <a:xfrm>
            <a:off x="1280160" y="5989320"/>
            <a:ext cx="3200400" cy="3108960"/>
          </a:xfrm>
          <a:prstGeom prst="rect">
            <a:avLst/>
          </a:prstGeom>
          <a:noFill/>
          <a:ln/>
        </p:spPr>
        <p:txBody>
          <a:bodyPr wrap="square" rtlCol="0" anchor="ctr"/>
          <a:lstStyle/>
          <a:p>
            <a:pPr algn="ctr" indent="0" marL="0">
              <a:spcAft>
                <a:spcPts val="600"/>
              </a:spcAft>
              <a:buNone/>
            </a:pPr>
            <a:r>
              <a:rPr lang="en-US" sz="2400" b="1" dirty="0">
                <a:solidFill>
                  <a:srgbClr val="F2B800"/>
                </a:solidFill>
                <a:latin typeface="Times New Roman" pitchFamily="34" charset="0"/>
                <a:ea typeface="Times New Roman" pitchFamily="34" charset="-122"/>
                <a:cs typeface="Times New Roman" pitchFamily="34" charset="-120"/>
              </a:rPr>
              <a:t>Marital Status</a:t>
            </a:r>
            <a:endParaRPr lang="en-US" sz="2400" dirty="0"/>
          </a:p>
          <a:p>
            <a:pPr algn="ctr" indent="0" marL="0">
              <a:buNone/>
            </a:pPr>
            <a:r>
              <a:rPr lang="en-US" sz="2200" dirty="0">
                <a:solidFill>
                  <a:srgbClr val="FFFFFF"/>
                </a:solidFill>
                <a:latin typeface="Times New Roman" pitchFamily="34" charset="0"/>
                <a:ea typeface="Times New Roman" pitchFamily="34" charset="-122"/>
                <a:cs typeface="Times New Roman" pitchFamily="34" charset="-120"/>
              </a:rPr>
              <a:t>Married 61.3%</a:t>
            </a:r>
            <a:endParaRPr lang="en-US" sz="2400" dirty="0"/>
          </a:p>
          <a:p>
            <a:pPr algn="ctr" indent="0" marL="0">
              <a:buNone/>
            </a:pPr>
            <a:r>
              <a:rPr lang="en-US" sz="2200" dirty="0">
                <a:solidFill>
                  <a:srgbClr val="FFFFFF"/>
                </a:solidFill>
                <a:latin typeface="Times New Roman" pitchFamily="34" charset="0"/>
                <a:ea typeface="Times New Roman" pitchFamily="34" charset="-122"/>
                <a:cs typeface="Times New Roman" pitchFamily="34" charset="-120"/>
              </a:rPr>
              <a:t>Single 36.7%</a:t>
            </a:r>
            <a:endParaRPr lang="en-US" sz="2400" dirty="0"/>
          </a:p>
          <a:p>
            <a:pPr algn="ctr" indent="0" marL="0">
              <a:buNone/>
            </a:pPr>
            <a:r>
              <a:rPr lang="en-US" sz="2200" dirty="0">
                <a:solidFill>
                  <a:srgbClr val="FFFFFF"/>
                </a:solidFill>
                <a:latin typeface="Times New Roman" pitchFamily="34" charset="0"/>
                <a:ea typeface="Times New Roman" pitchFamily="34" charset="-122"/>
                <a:cs typeface="Times New Roman" pitchFamily="34" charset="-120"/>
              </a:rPr>
              <a:t>Widowed 2.0%</a:t>
            </a:r>
            <a:endParaRPr lang="en-US" sz="2400" dirty="0"/>
          </a:p>
        </p:txBody>
      </p:sp>
      <p:graphicFrame>
        <p:nvGraphicFramePr>
          <p:cNvPr id="7" name="Chart 0" descr=""/>
          <p:cNvGraphicFramePr/>
          <p:nvPr/>
        </p:nvGraphicFramePr>
        <p:xfrm>
          <a:off x="4937760" y="2194560"/>
          <a:ext cx="60350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4937760" y="5806440"/>
          <a:ext cx="6035040" cy="3566160"/>
        </p:xfrm>
        <a:graphic xmlns:a="http://schemas.openxmlformats.org/drawingml/2006/main">
          <a:graphicData uri="http://schemas.openxmlformats.org/drawingml/2006/chart">
            <c:chart xmlns:c="http://schemas.openxmlformats.org/drawingml/2006/chart" r:id="rId2"/>
          </a:graphicData>
        </a:graphic>
      </p:graphicFrame>
      <p:graphicFrame>
        <p:nvGraphicFramePr>
          <p:cNvPr id="9" name="Chart 2" descr=""/>
          <p:cNvGraphicFramePr/>
          <p:nvPr/>
        </p:nvGraphicFramePr>
        <p:xfrm>
          <a:off x="11247120" y="2194560"/>
          <a:ext cx="6035040" cy="3566160"/>
        </p:xfrm>
        <a:graphic xmlns:a="http://schemas.openxmlformats.org/drawingml/2006/main">
          <a:graphicData uri="http://schemas.openxmlformats.org/drawingml/2006/chart">
            <c:chart xmlns:c="http://schemas.openxmlformats.org/drawingml/2006/chart" r:id="rId3"/>
          </a:graphicData>
        </a:graphic>
      </p:graphicFrame>
      <p:graphicFrame>
        <p:nvGraphicFramePr>
          <p:cNvPr id="10" name="Chart 3" descr=""/>
          <p:cNvGraphicFramePr/>
          <p:nvPr/>
        </p:nvGraphicFramePr>
        <p:xfrm>
          <a:off x="11247120" y="5806440"/>
          <a:ext cx="6035040" cy="356616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Results – Psychometric Properties</a:t>
            </a:r>
            <a:endParaRPr lang="en-US" sz="5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1097280" y="2377440"/>
          <a:ext cx="16093440" cy="914400"/>
        </p:xfrm>
        <a:graphic>
          <a:graphicData uri="http://schemas.openxmlformats.org/drawingml/2006/table">
            <a:tbl>
              <a:tblPr/>
              <a:tblGrid>
                <a:gridCol w="4023360"/>
                <a:gridCol w="1188720"/>
                <a:gridCol w="1920240"/>
                <a:gridCol w="1371600"/>
                <a:gridCol w="1280160"/>
                <a:gridCol w="1737360"/>
                <a:gridCol w="1828800"/>
                <a:gridCol w="1371600"/>
                <a:gridCol w="1371600"/>
              </a:tblGrid>
              <a:tr h="868680">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Variable</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Items</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Cronbach’s α</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M</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SD</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Actual Range</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Potential Range</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Skewness</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Kurtosis</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r>
              <a:tr h="868680">
                <a:tc>
                  <a:txBody>
                    <a:bodyPr/>
                    <a:lstStyle/>
                    <a:p>
                      <a:pPr algn="l" indent="0" marL="0">
                        <a:buNone/>
                      </a:pPr>
                      <a:r>
                        <a:rPr lang="en-US" sz="2100" b="1" dirty="0">
                          <a:solidFill>
                            <a:srgbClr val="000000"/>
                          </a:solidFill>
                          <a:latin typeface="Times New Roman" pitchFamily="34" charset="0"/>
                          <a:ea typeface="Times New Roman" pitchFamily="34" charset="-122"/>
                          <a:cs typeface="Times New Roman" pitchFamily="34" charset="-120"/>
                        </a:rPr>
                        <a:t>Self-Perceived Knowledge</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15</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.91</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61.64</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4.64</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47–73</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15–75</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−0.51</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0.23</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r>
              <a:tr h="868680">
                <a:tc>
                  <a:txBody>
                    <a:bodyPr/>
                    <a:lstStyle/>
                    <a:p>
                      <a:pPr algn="l" indent="0" marL="0">
                        <a:buNone/>
                      </a:pPr>
                      <a:r>
                        <a:rPr lang="en-US" sz="2100" b="1" dirty="0">
                          <a:solidFill>
                            <a:srgbClr val="000000"/>
                          </a:solidFill>
                          <a:latin typeface="Times New Roman" pitchFamily="34" charset="0"/>
                          <a:ea typeface="Times New Roman" pitchFamily="34" charset="-122"/>
                          <a:cs typeface="Times New Roman" pitchFamily="34" charset="-120"/>
                        </a:rPr>
                        <a:t>Perception</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14</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.88</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57.69</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4.45</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43–68</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14–70</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−0.55</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0.30</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r>
              <a:tr h="868680">
                <a:tc>
                  <a:txBody>
                    <a:bodyPr/>
                    <a:lstStyle/>
                    <a:p>
                      <a:pPr algn="l" indent="0" marL="0">
                        <a:buNone/>
                      </a:pPr>
                      <a:r>
                        <a:rPr lang="en-US" sz="2100" b="1" dirty="0">
                          <a:solidFill>
                            <a:srgbClr val="000000"/>
                          </a:solidFill>
                          <a:latin typeface="Times New Roman" pitchFamily="34" charset="0"/>
                          <a:ea typeface="Times New Roman" pitchFamily="34" charset="-122"/>
                          <a:cs typeface="Times New Roman" pitchFamily="34" charset="-120"/>
                        </a:rPr>
                        <a:t>Self-Reported Practice</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14</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.73</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57.25</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5.37</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31–68</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14–70</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−1.16</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3.20</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r>
            </a:tbl>
          </a:graphicData>
        </a:graphic>
      </p:graphicFrame>
      <p:sp>
        <p:nvSpPr>
          <p:cNvPr id="4" name="card Reliability"/>
          <p:cNvSpPr/>
          <p:nvPr/>
        </p:nvSpPr>
        <p:spPr>
          <a:xfrm>
            <a:off x="4297680" y="6281928"/>
            <a:ext cx="12893040" cy="1152144"/>
          </a:xfrm>
          <a:prstGeom prst="roundRect">
            <a:avLst>
              <a:gd name="adj" fmla="val 11905"/>
            </a:avLst>
          </a:prstGeom>
          <a:solidFill>
            <a:srgbClr val="D6DDEA"/>
          </a:solidFill>
          <a:ln w="12700">
            <a:solidFill>
              <a:srgbClr val="D6DDEA"/>
            </a:solidFill>
            <a:prstDash val="solid"/>
          </a:ln>
        </p:spPr>
      </p:sp>
      <p:sp>
        <p:nvSpPr>
          <p:cNvPr id="5" name="label Reliability"/>
          <p:cNvSpPr/>
          <p:nvPr/>
        </p:nvSpPr>
        <p:spPr>
          <a:xfrm>
            <a:off x="1097280" y="6172200"/>
            <a:ext cx="3474720" cy="1371600"/>
          </a:xfrm>
          <a:prstGeom prst="roundRect">
            <a:avLst>
              <a:gd name="adj" fmla="val 13333"/>
            </a:avLst>
          </a:prstGeom>
          <a:solidFill>
            <a:srgbClr val="4F81BD"/>
          </a:solidFill>
          <a:ln w="19050">
            <a:solidFill>
              <a:srgbClr val="FFFFFF"/>
            </a:solidFill>
            <a:prstDash val="solid"/>
          </a:ln>
        </p:spPr>
      </p:sp>
      <p:sp>
        <p:nvSpPr>
          <p:cNvPr id="6" name="Text 3"/>
          <p:cNvSpPr txBox="1"/>
          <p:nvPr/>
        </p:nvSpPr>
        <p:spPr>
          <a:xfrm>
            <a:off x="1097280" y="6172200"/>
            <a:ext cx="3474720" cy="137160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Reliability</a:t>
            </a:r>
            <a:endParaRPr lang="en-US" sz="2800" dirty="0"/>
          </a:p>
        </p:txBody>
      </p:sp>
      <p:sp>
        <p:nvSpPr>
          <p:cNvPr id="7" name="Text 4"/>
          <p:cNvSpPr txBox="1"/>
          <p:nvPr/>
        </p:nvSpPr>
        <p:spPr>
          <a:xfrm>
            <a:off x="4754880" y="6281928"/>
            <a:ext cx="12298680" cy="115214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Internal consistency was satisfactory, ranging from α = .73 (practice) to α = .91 (knowledge).</a:t>
            </a:r>
            <a:endParaRPr lang="en-US" sz="2400" dirty="0"/>
          </a:p>
        </p:txBody>
      </p:sp>
      <p:sp>
        <p:nvSpPr>
          <p:cNvPr id="8" name="card Distribution"/>
          <p:cNvSpPr/>
          <p:nvPr/>
        </p:nvSpPr>
        <p:spPr>
          <a:xfrm>
            <a:off x="4297680" y="7790688"/>
            <a:ext cx="12893040" cy="1152144"/>
          </a:xfrm>
          <a:prstGeom prst="roundRect">
            <a:avLst>
              <a:gd name="adj" fmla="val 11905"/>
            </a:avLst>
          </a:prstGeom>
          <a:solidFill>
            <a:srgbClr val="D6DDEA"/>
          </a:solidFill>
          <a:ln w="12700">
            <a:solidFill>
              <a:srgbClr val="D6DDEA"/>
            </a:solidFill>
            <a:prstDash val="solid"/>
          </a:ln>
        </p:spPr>
      </p:sp>
      <p:sp>
        <p:nvSpPr>
          <p:cNvPr id="9" name="label Distribution"/>
          <p:cNvSpPr/>
          <p:nvPr/>
        </p:nvSpPr>
        <p:spPr>
          <a:xfrm>
            <a:off x="1097280" y="7680960"/>
            <a:ext cx="3474720" cy="1371600"/>
          </a:xfrm>
          <a:prstGeom prst="roundRect">
            <a:avLst>
              <a:gd name="adj" fmla="val 13333"/>
            </a:avLst>
          </a:prstGeom>
          <a:solidFill>
            <a:srgbClr val="4F81BD"/>
          </a:solidFill>
          <a:ln w="19050">
            <a:solidFill>
              <a:srgbClr val="FFFFFF"/>
            </a:solidFill>
            <a:prstDash val="solid"/>
          </a:ln>
        </p:spPr>
      </p:sp>
      <p:sp>
        <p:nvSpPr>
          <p:cNvPr id="10" name="Text 7"/>
          <p:cNvSpPr txBox="1"/>
          <p:nvPr/>
        </p:nvSpPr>
        <p:spPr>
          <a:xfrm>
            <a:off x="1097280" y="7680960"/>
            <a:ext cx="3474720" cy="137160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Distribution</a:t>
            </a:r>
            <a:endParaRPr lang="en-US" sz="2800" dirty="0"/>
          </a:p>
        </p:txBody>
      </p:sp>
      <p:sp>
        <p:nvSpPr>
          <p:cNvPr id="11" name="Text 8"/>
          <p:cNvSpPr txBox="1"/>
          <p:nvPr/>
        </p:nvSpPr>
        <p:spPr>
          <a:xfrm>
            <a:off x="4754880" y="7790688"/>
            <a:ext cx="12298680" cy="115214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Negative skewness in all scales: most responses fell toward the upper end, reflecting generally positive perceptions and preparedness.</a:t>
            </a:r>
            <a:endParaRPr lang="en-US" sz="24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Results – Self-Perceived Knowledge</a:t>
            </a:r>
            <a:endParaRPr lang="en-US" sz="5400" dirty="0"/>
          </a:p>
        </p:txBody>
      </p:sp>
      <p:sp>
        <p:nvSpPr>
          <p:cNvPr id="3" name="stat 61.64"/>
          <p:cNvSpPr/>
          <p:nvPr/>
        </p:nvSpPr>
        <p:spPr>
          <a:xfrm>
            <a:off x="1097280" y="2286000"/>
            <a:ext cx="4206240" cy="3017520"/>
          </a:xfrm>
          <a:prstGeom prst="roundRect">
            <a:avLst>
              <a:gd name="adj" fmla="val 4545"/>
            </a:avLst>
          </a:prstGeom>
          <a:solidFill>
            <a:srgbClr val="1A3760"/>
          </a:solidFill>
          <a:ln w="12700">
            <a:solidFill>
              <a:srgbClr val="1A3760"/>
            </a:solidFill>
            <a:prstDash val="solid"/>
          </a:ln>
        </p:spPr>
      </p:sp>
      <p:sp>
        <p:nvSpPr>
          <p:cNvPr id="4" name="Text 2"/>
          <p:cNvSpPr txBox="1"/>
          <p:nvPr/>
        </p:nvSpPr>
        <p:spPr>
          <a:xfrm>
            <a:off x="1097280" y="2286000"/>
            <a:ext cx="4206240" cy="3017520"/>
          </a:xfrm>
          <a:prstGeom prst="rect">
            <a:avLst/>
          </a:prstGeom>
          <a:noFill/>
          <a:ln/>
        </p:spPr>
        <p:txBody>
          <a:bodyPr wrap="square" lIns="76200" tIns="76200" rIns="76200" bIns="76200" rtlCol="0" anchor="ctr"/>
          <a:lstStyle/>
          <a:p>
            <a:pPr algn="ctr" indent="0" marL="0">
              <a:buNone/>
            </a:pPr>
            <a:r>
              <a:rPr lang="en-US" sz="6800" b="1" dirty="0">
                <a:solidFill>
                  <a:srgbClr val="FFFFFF"/>
                </a:solidFill>
                <a:latin typeface="Times New Roman" pitchFamily="34" charset="0"/>
                <a:ea typeface="Times New Roman" pitchFamily="34" charset="-122"/>
                <a:cs typeface="Times New Roman" pitchFamily="34" charset="-120"/>
              </a:rPr>
              <a:t>61.64</a:t>
            </a:r>
            <a:endParaRPr lang="en-US" sz="68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Total mean · SD = 4.64 · possible 15–75</a:t>
            </a:r>
            <a:endParaRPr lang="en-US" sz="6800" dirty="0"/>
          </a:p>
        </p:txBody>
      </p:sp>
      <p:sp>
        <p:nvSpPr>
          <p:cNvPr id="5" name="msg"/>
          <p:cNvSpPr/>
          <p:nvPr/>
        </p:nvSpPr>
        <p:spPr>
          <a:xfrm>
            <a:off x="1097280" y="5532120"/>
            <a:ext cx="4206240" cy="3703320"/>
          </a:xfrm>
          <a:prstGeom prst="roundRect">
            <a:avLst>
              <a:gd name="adj" fmla="val 4938"/>
            </a:avLst>
          </a:prstGeom>
          <a:solidFill>
            <a:srgbClr val="D6DDEA"/>
          </a:solidFill>
          <a:ln w="12700">
            <a:solidFill>
              <a:srgbClr val="D6DDEA"/>
            </a:solidFill>
            <a:prstDash val="solid"/>
          </a:ln>
        </p:spPr>
      </p:sp>
      <p:sp>
        <p:nvSpPr>
          <p:cNvPr id="6" name="Text 4"/>
          <p:cNvSpPr txBox="1"/>
          <p:nvPr/>
        </p:nvSpPr>
        <p:spPr>
          <a:xfrm>
            <a:off x="1325880" y="5669280"/>
            <a:ext cx="3749040" cy="3429000"/>
          </a:xfrm>
          <a:prstGeom prst="rect">
            <a:avLst/>
          </a:prstGeom>
          <a:noFill/>
          <a:ln/>
        </p:spPr>
        <p:txBody>
          <a:bodyPr wrap="square"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Lowest-rated items related to communication channels, triage principles and nurses’ disaster roles.</a:t>
            </a:r>
            <a:endParaRPr lang="en-US" sz="2200" dirty="0"/>
          </a:p>
        </p:txBody>
      </p:sp>
      <p:graphicFrame>
        <p:nvGraphicFramePr>
          <p:cNvPr id="7" name="Chart 0" descr=""/>
          <p:cNvGraphicFramePr/>
          <p:nvPr/>
        </p:nvGraphicFramePr>
        <p:xfrm>
          <a:off x="5669280" y="2194560"/>
          <a:ext cx="11521440" cy="7132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Results – Perceptions</a:t>
            </a:r>
            <a:endParaRPr lang="en-US" sz="5400" dirty="0"/>
          </a:p>
        </p:txBody>
      </p:sp>
      <p:sp>
        <p:nvSpPr>
          <p:cNvPr id="3" name="stat 57.69"/>
          <p:cNvSpPr/>
          <p:nvPr/>
        </p:nvSpPr>
        <p:spPr>
          <a:xfrm>
            <a:off x="1097280" y="2286000"/>
            <a:ext cx="4206240" cy="3017520"/>
          </a:xfrm>
          <a:prstGeom prst="roundRect">
            <a:avLst>
              <a:gd name="adj" fmla="val 4545"/>
            </a:avLst>
          </a:prstGeom>
          <a:solidFill>
            <a:srgbClr val="1A3760"/>
          </a:solidFill>
          <a:ln w="12700">
            <a:solidFill>
              <a:srgbClr val="1A3760"/>
            </a:solidFill>
            <a:prstDash val="solid"/>
          </a:ln>
        </p:spPr>
      </p:sp>
      <p:sp>
        <p:nvSpPr>
          <p:cNvPr id="4" name="Text 2"/>
          <p:cNvSpPr txBox="1"/>
          <p:nvPr/>
        </p:nvSpPr>
        <p:spPr>
          <a:xfrm>
            <a:off x="1097280" y="2286000"/>
            <a:ext cx="4206240" cy="3017520"/>
          </a:xfrm>
          <a:prstGeom prst="rect">
            <a:avLst/>
          </a:prstGeom>
          <a:noFill/>
          <a:ln/>
        </p:spPr>
        <p:txBody>
          <a:bodyPr wrap="square" lIns="76200" tIns="76200" rIns="76200" bIns="76200" rtlCol="0" anchor="ctr"/>
          <a:lstStyle/>
          <a:p>
            <a:pPr algn="ctr" indent="0" marL="0">
              <a:buNone/>
            </a:pPr>
            <a:r>
              <a:rPr lang="en-US" sz="6800" b="1" dirty="0">
                <a:solidFill>
                  <a:srgbClr val="FFFFFF"/>
                </a:solidFill>
                <a:latin typeface="Times New Roman" pitchFamily="34" charset="0"/>
                <a:ea typeface="Times New Roman" pitchFamily="34" charset="-122"/>
                <a:cs typeface="Times New Roman" pitchFamily="34" charset="-120"/>
              </a:rPr>
              <a:t>57.69</a:t>
            </a:r>
            <a:endParaRPr lang="en-US" sz="68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Total mean · SD = 4.45 · possible 14–70</a:t>
            </a:r>
            <a:endParaRPr lang="en-US" sz="6800" dirty="0"/>
          </a:p>
        </p:txBody>
      </p:sp>
      <p:sp>
        <p:nvSpPr>
          <p:cNvPr id="5" name="msg"/>
          <p:cNvSpPr/>
          <p:nvPr/>
        </p:nvSpPr>
        <p:spPr>
          <a:xfrm>
            <a:off x="1097280" y="5532120"/>
            <a:ext cx="4206240" cy="3703320"/>
          </a:xfrm>
          <a:prstGeom prst="roundRect">
            <a:avLst>
              <a:gd name="adj" fmla="val 4938"/>
            </a:avLst>
          </a:prstGeom>
          <a:solidFill>
            <a:srgbClr val="D6DDEA"/>
          </a:solidFill>
          <a:ln w="12700">
            <a:solidFill>
              <a:srgbClr val="D6DDEA"/>
            </a:solidFill>
            <a:prstDash val="solid"/>
          </a:ln>
        </p:spPr>
      </p:sp>
      <p:sp>
        <p:nvSpPr>
          <p:cNvPr id="6" name="Text 4"/>
          <p:cNvSpPr txBox="1"/>
          <p:nvPr/>
        </p:nvSpPr>
        <p:spPr>
          <a:xfrm>
            <a:off x="1325880" y="5669280"/>
            <a:ext cx="3749040" cy="3429000"/>
          </a:xfrm>
          <a:prstGeom prst="rect">
            <a:avLst/>
          </a:prstGeom>
          <a:noFill/>
          <a:ln/>
        </p:spPr>
        <p:txBody>
          <a:bodyPr wrap="square"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Lowest-rated items related to personal confidence, colleague support, patients’ emotional well-being and motivation.</a:t>
            </a:r>
            <a:endParaRPr lang="en-US" sz="2200" dirty="0"/>
          </a:p>
        </p:txBody>
      </p:sp>
      <p:graphicFrame>
        <p:nvGraphicFramePr>
          <p:cNvPr id="7" name="Chart 0" descr=""/>
          <p:cNvGraphicFramePr/>
          <p:nvPr/>
        </p:nvGraphicFramePr>
        <p:xfrm>
          <a:off x="5669280" y="2194560"/>
          <a:ext cx="11521440" cy="7132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Results – Self-Reported Practice</a:t>
            </a:r>
            <a:endParaRPr lang="en-US" sz="5400" dirty="0"/>
          </a:p>
        </p:txBody>
      </p:sp>
      <p:sp>
        <p:nvSpPr>
          <p:cNvPr id="3" name="stat 57.25"/>
          <p:cNvSpPr/>
          <p:nvPr/>
        </p:nvSpPr>
        <p:spPr>
          <a:xfrm>
            <a:off x="1097280" y="2286000"/>
            <a:ext cx="4206240" cy="3017520"/>
          </a:xfrm>
          <a:prstGeom prst="roundRect">
            <a:avLst>
              <a:gd name="adj" fmla="val 4545"/>
            </a:avLst>
          </a:prstGeom>
          <a:solidFill>
            <a:srgbClr val="1A3760"/>
          </a:solidFill>
          <a:ln w="12700">
            <a:solidFill>
              <a:srgbClr val="1A3760"/>
            </a:solidFill>
            <a:prstDash val="solid"/>
          </a:ln>
        </p:spPr>
      </p:sp>
      <p:sp>
        <p:nvSpPr>
          <p:cNvPr id="4" name="Text 2"/>
          <p:cNvSpPr txBox="1"/>
          <p:nvPr/>
        </p:nvSpPr>
        <p:spPr>
          <a:xfrm>
            <a:off x="1097280" y="2286000"/>
            <a:ext cx="4206240" cy="3017520"/>
          </a:xfrm>
          <a:prstGeom prst="rect">
            <a:avLst/>
          </a:prstGeom>
          <a:noFill/>
          <a:ln/>
        </p:spPr>
        <p:txBody>
          <a:bodyPr wrap="square" lIns="76200" tIns="76200" rIns="76200" bIns="76200" rtlCol="0" anchor="ctr"/>
          <a:lstStyle/>
          <a:p>
            <a:pPr algn="ctr" indent="0" marL="0">
              <a:buNone/>
            </a:pPr>
            <a:r>
              <a:rPr lang="en-US" sz="6800" b="1" dirty="0">
                <a:solidFill>
                  <a:srgbClr val="FFFFFF"/>
                </a:solidFill>
                <a:latin typeface="Times New Roman" pitchFamily="34" charset="0"/>
                <a:ea typeface="Times New Roman" pitchFamily="34" charset="-122"/>
                <a:cs typeface="Times New Roman" pitchFamily="34" charset="-120"/>
              </a:rPr>
              <a:t>57.25</a:t>
            </a:r>
            <a:endParaRPr lang="en-US" sz="68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Total mean · SD = 5.37 · possible 14–70</a:t>
            </a:r>
            <a:endParaRPr lang="en-US" sz="6800" dirty="0"/>
          </a:p>
        </p:txBody>
      </p:sp>
      <p:sp>
        <p:nvSpPr>
          <p:cNvPr id="5" name="msg"/>
          <p:cNvSpPr/>
          <p:nvPr/>
        </p:nvSpPr>
        <p:spPr>
          <a:xfrm>
            <a:off x="1097280" y="5532120"/>
            <a:ext cx="4206240" cy="3703320"/>
          </a:xfrm>
          <a:prstGeom prst="roundRect">
            <a:avLst>
              <a:gd name="adj" fmla="val 4938"/>
            </a:avLst>
          </a:prstGeom>
          <a:solidFill>
            <a:srgbClr val="D6DDEA"/>
          </a:solidFill>
          <a:ln w="12700">
            <a:solidFill>
              <a:srgbClr val="D6DDEA"/>
            </a:solidFill>
            <a:prstDash val="solid"/>
          </a:ln>
        </p:spPr>
      </p:sp>
      <p:sp>
        <p:nvSpPr>
          <p:cNvPr id="6" name="Text 4"/>
          <p:cNvSpPr txBox="1"/>
          <p:nvPr/>
        </p:nvSpPr>
        <p:spPr>
          <a:xfrm>
            <a:off x="1325880" y="5669280"/>
            <a:ext cx="3749040" cy="3429000"/>
          </a:xfrm>
          <a:prstGeom prst="rect">
            <a:avLst/>
          </a:prstGeom>
          <a:noFill/>
          <a:ln/>
        </p:spPr>
        <p:txBody>
          <a:bodyPr wrap="square"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Lowest-rated items related to regular drill participation, equipment checks, documentation and continuous improvement.</a:t>
            </a:r>
            <a:endParaRPr lang="en-US" sz="2200" dirty="0"/>
          </a:p>
        </p:txBody>
      </p:sp>
      <p:graphicFrame>
        <p:nvGraphicFramePr>
          <p:cNvPr id="7" name="Chart 0" descr=""/>
          <p:cNvGraphicFramePr/>
          <p:nvPr/>
        </p:nvGraphicFramePr>
        <p:xfrm>
          <a:off x="5669280" y="2194560"/>
          <a:ext cx="11521440" cy="7132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Results – Relationships Among Domains</a:t>
            </a:r>
            <a:endParaRPr lang="en-US" sz="5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1097280" y="2377440"/>
          <a:ext cx="9144000" cy="914400"/>
        </p:xfrm>
        <a:graphic>
          <a:graphicData uri="http://schemas.openxmlformats.org/drawingml/2006/table">
            <a:tbl>
              <a:tblPr/>
              <a:tblGrid>
                <a:gridCol w="3657600"/>
                <a:gridCol w="1097280"/>
                <a:gridCol w="1097280"/>
                <a:gridCol w="1097280"/>
                <a:gridCol w="1097280"/>
                <a:gridCol w="1097280"/>
              </a:tblGrid>
              <a:tr h="868680">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Variable</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M</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SD</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1</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2</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3</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r>
              <a:tr h="868680">
                <a:tc>
                  <a:txBody>
                    <a:bodyPr/>
                    <a:lstStyle/>
                    <a:p>
                      <a:pPr indent="0" marL="0">
                        <a:buNone/>
                      </a:pPr>
                      <a:r>
                        <a:rPr lang="en-US" sz="2200" b="1" dirty="0">
                          <a:solidFill>
                            <a:srgbClr val="000000"/>
                          </a:solidFill>
                          <a:latin typeface="Times New Roman" pitchFamily="34" charset="0"/>
                          <a:ea typeface="Times New Roman" pitchFamily="34" charset="-122"/>
                          <a:cs typeface="Times New Roman" pitchFamily="34" charset="-120"/>
                        </a:rPr>
                        <a:t>1. Self-Perceived Knowledge</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dirty="0">
                          <a:solidFill>
                            <a:srgbClr val="000000"/>
                          </a:solidFill>
                          <a:latin typeface="Times New Roman" pitchFamily="34" charset="0"/>
                          <a:ea typeface="Times New Roman" pitchFamily="34" charset="-122"/>
                          <a:cs typeface="Times New Roman" pitchFamily="34" charset="-120"/>
                        </a:rPr>
                        <a:t>61.64</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dirty="0">
                          <a:solidFill>
                            <a:srgbClr val="000000"/>
                          </a:solidFill>
                          <a:latin typeface="Times New Roman" pitchFamily="34" charset="0"/>
                          <a:ea typeface="Times New Roman" pitchFamily="34" charset="-122"/>
                          <a:cs typeface="Times New Roman" pitchFamily="34" charset="-120"/>
                        </a:rPr>
                        <a:t>4.64</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dirty="0">
                          <a:solidFill>
                            <a:srgbClr val="000000"/>
                          </a:solidFill>
                          <a:latin typeface="Times New Roman" pitchFamily="34" charset="0"/>
                          <a:ea typeface="Times New Roman" pitchFamily="34" charset="-122"/>
                          <a:cs typeface="Times New Roman" pitchFamily="34" charset="-120"/>
                        </a:rPr>
                        <a:t>—</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r>
              <a:tr h="868680">
                <a:tc>
                  <a:txBody>
                    <a:bodyPr/>
                    <a:lstStyle/>
                    <a:p>
                      <a:pPr indent="0" marL="0">
                        <a:buNone/>
                      </a:pPr>
                      <a:r>
                        <a:rPr lang="en-US" sz="2200" b="1" dirty="0">
                          <a:solidFill>
                            <a:srgbClr val="000000"/>
                          </a:solidFill>
                          <a:latin typeface="Times New Roman" pitchFamily="34" charset="0"/>
                          <a:ea typeface="Times New Roman" pitchFamily="34" charset="-122"/>
                          <a:cs typeface="Times New Roman" pitchFamily="34" charset="-120"/>
                        </a:rPr>
                        <a:t>2. Perception</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dirty="0">
                          <a:solidFill>
                            <a:srgbClr val="000000"/>
                          </a:solidFill>
                          <a:latin typeface="Times New Roman" pitchFamily="34" charset="0"/>
                          <a:ea typeface="Times New Roman" pitchFamily="34" charset="-122"/>
                          <a:cs typeface="Times New Roman" pitchFamily="34" charset="-120"/>
                        </a:rPr>
                        <a:t>57.69</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dirty="0">
                          <a:solidFill>
                            <a:srgbClr val="000000"/>
                          </a:solidFill>
                          <a:latin typeface="Times New Roman" pitchFamily="34" charset="0"/>
                          <a:ea typeface="Times New Roman" pitchFamily="34" charset="-122"/>
                          <a:cs typeface="Times New Roman" pitchFamily="34" charset="-120"/>
                        </a:rPr>
                        <a:t>4.45</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dirty="0">
                          <a:solidFill>
                            <a:srgbClr val="000000"/>
                          </a:solidFill>
                          <a:latin typeface="Times New Roman" pitchFamily="34" charset="0"/>
                          <a:ea typeface="Times New Roman" pitchFamily="34" charset="-122"/>
                          <a:cs typeface="Times New Roman" pitchFamily="34" charset="-120"/>
                        </a:rPr>
                        <a:t>.52***</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dirty="0">
                          <a:solidFill>
                            <a:srgbClr val="000000"/>
                          </a:solidFill>
                          <a:latin typeface="Times New Roman" pitchFamily="34" charset="0"/>
                          <a:ea typeface="Times New Roman" pitchFamily="34" charset="-122"/>
                          <a:cs typeface="Times New Roman" pitchFamily="34" charset="-120"/>
                        </a:rPr>
                        <a:t>—</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r>
              <a:tr h="868680">
                <a:tc>
                  <a:txBody>
                    <a:bodyPr/>
                    <a:lstStyle/>
                    <a:p>
                      <a:pPr indent="0" marL="0">
                        <a:buNone/>
                      </a:pPr>
                      <a:r>
                        <a:rPr lang="en-US" sz="2200" b="1" dirty="0">
                          <a:solidFill>
                            <a:srgbClr val="000000"/>
                          </a:solidFill>
                          <a:latin typeface="Times New Roman" pitchFamily="34" charset="0"/>
                          <a:ea typeface="Times New Roman" pitchFamily="34" charset="-122"/>
                          <a:cs typeface="Times New Roman" pitchFamily="34" charset="-120"/>
                        </a:rPr>
                        <a:t>3. Self-Reported Practice</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dirty="0">
                          <a:solidFill>
                            <a:srgbClr val="000000"/>
                          </a:solidFill>
                          <a:latin typeface="Times New Roman" pitchFamily="34" charset="0"/>
                          <a:ea typeface="Times New Roman" pitchFamily="34" charset="-122"/>
                          <a:cs typeface="Times New Roman" pitchFamily="34" charset="-120"/>
                        </a:rPr>
                        <a:t>57.25</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dirty="0">
                          <a:solidFill>
                            <a:srgbClr val="000000"/>
                          </a:solidFill>
                          <a:latin typeface="Times New Roman" pitchFamily="34" charset="0"/>
                          <a:ea typeface="Times New Roman" pitchFamily="34" charset="-122"/>
                          <a:cs typeface="Times New Roman" pitchFamily="34" charset="-120"/>
                        </a:rPr>
                        <a:t>5.37</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dirty="0">
                          <a:solidFill>
                            <a:srgbClr val="000000"/>
                          </a:solidFill>
                          <a:latin typeface="Times New Roman" pitchFamily="34" charset="0"/>
                          <a:ea typeface="Times New Roman" pitchFamily="34" charset="-122"/>
                          <a:cs typeface="Times New Roman" pitchFamily="34" charset="-120"/>
                        </a:rPr>
                        <a:t>.46***</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dirty="0">
                          <a:solidFill>
                            <a:srgbClr val="000000"/>
                          </a:solidFill>
                          <a:latin typeface="Times New Roman" pitchFamily="34" charset="0"/>
                          <a:ea typeface="Times New Roman" pitchFamily="34" charset="-122"/>
                          <a:cs typeface="Times New Roman" pitchFamily="34" charset="-120"/>
                        </a:rPr>
                        <a:t>.58***</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200" dirty="0">
                          <a:solidFill>
                            <a:srgbClr val="000000"/>
                          </a:solidFill>
                          <a:latin typeface="Times New Roman" pitchFamily="34" charset="0"/>
                          <a:ea typeface="Times New Roman" pitchFamily="34" charset="-122"/>
                          <a:cs typeface="Times New Roman" pitchFamily="34" charset="-120"/>
                        </a:rPr>
                        <a:t>—</a:t>
                      </a:r>
                      <a:endParaRPr lang="en-US" sz="22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r>
            </a:tbl>
          </a:graphicData>
        </a:graphic>
      </p:graphicFrame>
      <p:sp>
        <p:nvSpPr>
          <p:cNvPr id="4" name="Text 1"/>
          <p:cNvSpPr txBox="1"/>
          <p:nvPr/>
        </p:nvSpPr>
        <p:spPr>
          <a:xfrm>
            <a:off x="1097280" y="5943600"/>
            <a:ext cx="9144000" cy="457200"/>
          </a:xfrm>
          <a:prstGeom prst="rect">
            <a:avLst/>
          </a:prstGeom>
          <a:noFill/>
          <a:ln/>
        </p:spPr>
        <p:txBody>
          <a:bodyPr wrap="square" lIns="0" tIns="0" rIns="0" bIns="0" rtlCol="0" anchor="t"/>
          <a:lstStyle/>
          <a:p>
            <a:pPr indent="0" marL="0">
              <a:buNone/>
            </a:pPr>
            <a:r>
              <a:rPr lang="en-US" sz="1800" i="1" dirty="0">
                <a:solidFill>
                  <a:srgbClr val="595959"/>
                </a:solidFill>
                <a:latin typeface="Times New Roman" pitchFamily="34" charset="0"/>
                <a:ea typeface="Times New Roman" pitchFamily="34" charset="-122"/>
                <a:cs typeface="Times New Roman" pitchFamily="34" charset="-120"/>
              </a:rPr>
              <a:t>*** p &lt; .001 (Pearson correlation, N = 300)</a:t>
            </a:r>
            <a:endParaRPr lang="en-US" sz="1800" dirty="0"/>
          </a:p>
        </p:txBody>
      </p:sp>
      <p:sp>
        <p:nvSpPr>
          <p:cNvPr id="5" name="banner"/>
          <p:cNvSpPr/>
          <p:nvPr/>
        </p:nvSpPr>
        <p:spPr>
          <a:xfrm>
            <a:off x="1097280" y="6720840"/>
            <a:ext cx="9144000" cy="2423160"/>
          </a:xfrm>
          <a:prstGeom prst="rect">
            <a:avLst/>
          </a:prstGeom>
          <a:solidFill>
            <a:srgbClr val="EEF1F7"/>
          </a:solidFill>
          <a:ln w="25400">
            <a:solidFill>
              <a:srgbClr val="1A3760"/>
            </a:solidFill>
            <a:prstDash val="solid"/>
          </a:ln>
        </p:spPr>
      </p:sp>
      <p:sp>
        <p:nvSpPr>
          <p:cNvPr id="6" name="Text 3"/>
          <p:cNvSpPr txBox="1"/>
          <p:nvPr/>
        </p:nvSpPr>
        <p:spPr>
          <a:xfrm>
            <a:off x="1280160" y="6720840"/>
            <a:ext cx="8778240" cy="2423160"/>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All three domains were positively and moderately correlated. The strongest relationship was between perception and self-reported practice (r = .58). Correlations indicate association, not causation.</a:t>
            </a:r>
            <a:endParaRPr lang="en-US" sz="2300" dirty="0"/>
          </a:p>
        </p:txBody>
      </p:sp>
      <p:sp>
        <p:nvSpPr>
          <p:cNvPr id="7" name="r r = .52"/>
          <p:cNvSpPr/>
          <p:nvPr/>
        </p:nvSpPr>
        <p:spPr>
          <a:xfrm flipH="1">
            <a:off x="12207240" y="2948940"/>
            <a:ext cx="1371600" cy="4846320"/>
          </a:xfrm>
          <a:prstGeom prst="line">
            <a:avLst/>
          </a:prstGeom>
          <a:noFill/>
          <a:ln w="38100">
            <a:solidFill>
              <a:srgbClr val="1A3760"/>
            </a:solidFill>
            <a:prstDash val="solid"/>
          </a:ln>
        </p:spPr>
      </p:sp>
      <p:sp>
        <p:nvSpPr>
          <p:cNvPr id="8" name="Text 5"/>
          <p:cNvSpPr txBox="1"/>
          <p:nvPr/>
        </p:nvSpPr>
        <p:spPr>
          <a:xfrm>
            <a:off x="11109960" y="4846320"/>
            <a:ext cx="1463040" cy="548640"/>
          </a:xfrm>
          <a:prstGeom prst="rect">
            <a:avLst/>
          </a:prstGeom>
          <a:solidFill>
            <a:srgbClr val="FFFFFF"/>
          </a:solidFill>
          <a:ln/>
        </p:spPr>
        <p:txBody>
          <a:bodyPr wrap="square" rtlCol="0" anchor="ctr"/>
          <a:lstStyle/>
          <a:p>
            <a:pPr algn="ctr" indent="0" marL="0">
              <a:buNone/>
            </a:pPr>
            <a:r>
              <a:rPr lang="en-US" sz="2600" b="1" dirty="0">
                <a:solidFill>
                  <a:srgbClr val="1A3760"/>
                </a:solidFill>
                <a:latin typeface="Times New Roman" pitchFamily="34" charset="0"/>
                <a:ea typeface="Times New Roman" pitchFamily="34" charset="-122"/>
                <a:cs typeface="Times New Roman" pitchFamily="34" charset="-120"/>
              </a:rPr>
              <a:t>r = .52</a:t>
            </a:r>
            <a:endParaRPr lang="en-US" sz="2600" dirty="0"/>
          </a:p>
        </p:txBody>
      </p:sp>
      <p:sp>
        <p:nvSpPr>
          <p:cNvPr id="9" name="r r = .46"/>
          <p:cNvSpPr/>
          <p:nvPr/>
        </p:nvSpPr>
        <p:spPr>
          <a:xfrm>
            <a:off x="13578840" y="2948940"/>
            <a:ext cx="2651760" cy="4846320"/>
          </a:xfrm>
          <a:prstGeom prst="line">
            <a:avLst/>
          </a:prstGeom>
          <a:noFill/>
          <a:ln w="38100">
            <a:solidFill>
              <a:srgbClr val="1A3760"/>
            </a:solidFill>
            <a:prstDash val="solid"/>
          </a:ln>
        </p:spPr>
      </p:sp>
      <p:sp>
        <p:nvSpPr>
          <p:cNvPr id="10" name="Text 7"/>
          <p:cNvSpPr txBox="1"/>
          <p:nvPr/>
        </p:nvSpPr>
        <p:spPr>
          <a:xfrm>
            <a:off x="15179040" y="4846320"/>
            <a:ext cx="1463040" cy="548640"/>
          </a:xfrm>
          <a:prstGeom prst="rect">
            <a:avLst/>
          </a:prstGeom>
          <a:solidFill>
            <a:srgbClr val="FFFFFF"/>
          </a:solidFill>
          <a:ln/>
        </p:spPr>
        <p:txBody>
          <a:bodyPr wrap="square" rtlCol="0" anchor="ctr"/>
          <a:lstStyle/>
          <a:p>
            <a:pPr algn="ctr" indent="0" marL="0">
              <a:buNone/>
            </a:pPr>
            <a:r>
              <a:rPr lang="en-US" sz="2600" b="1" dirty="0">
                <a:solidFill>
                  <a:srgbClr val="1A3760"/>
                </a:solidFill>
                <a:latin typeface="Times New Roman" pitchFamily="34" charset="0"/>
                <a:ea typeface="Times New Roman" pitchFamily="34" charset="-122"/>
                <a:cs typeface="Times New Roman" pitchFamily="34" charset="-120"/>
              </a:rPr>
              <a:t>r = .46</a:t>
            </a:r>
            <a:endParaRPr lang="en-US" sz="2600" dirty="0"/>
          </a:p>
        </p:txBody>
      </p:sp>
      <p:sp>
        <p:nvSpPr>
          <p:cNvPr id="11" name="r r = .58"/>
          <p:cNvSpPr/>
          <p:nvPr/>
        </p:nvSpPr>
        <p:spPr>
          <a:xfrm>
            <a:off x="12207240" y="7795260"/>
            <a:ext cx="4023360" cy="914"/>
          </a:xfrm>
          <a:prstGeom prst="line">
            <a:avLst/>
          </a:prstGeom>
          <a:noFill/>
          <a:ln w="38100">
            <a:solidFill>
              <a:srgbClr val="1A3760"/>
            </a:solidFill>
            <a:prstDash val="solid"/>
          </a:ln>
        </p:spPr>
      </p:sp>
      <p:sp>
        <p:nvSpPr>
          <p:cNvPr id="12" name="Text 9"/>
          <p:cNvSpPr txBox="1"/>
          <p:nvPr/>
        </p:nvSpPr>
        <p:spPr>
          <a:xfrm>
            <a:off x="13167360" y="8321040"/>
            <a:ext cx="1463040" cy="548640"/>
          </a:xfrm>
          <a:prstGeom prst="rect">
            <a:avLst/>
          </a:prstGeom>
          <a:solidFill>
            <a:srgbClr val="FFFFFF"/>
          </a:solidFill>
          <a:ln/>
        </p:spPr>
        <p:txBody>
          <a:bodyPr wrap="square" rtlCol="0" anchor="ctr"/>
          <a:lstStyle/>
          <a:p>
            <a:pPr algn="ctr" indent="0" marL="0">
              <a:buNone/>
            </a:pPr>
            <a:r>
              <a:rPr lang="en-US" sz="2600" b="1" dirty="0">
                <a:solidFill>
                  <a:srgbClr val="1A3760"/>
                </a:solidFill>
                <a:latin typeface="Times New Roman" pitchFamily="34" charset="0"/>
                <a:ea typeface="Times New Roman" pitchFamily="34" charset="-122"/>
                <a:cs typeface="Times New Roman" pitchFamily="34" charset="-120"/>
              </a:rPr>
              <a:t>r = .58</a:t>
            </a:r>
            <a:endParaRPr lang="en-US" sz="2600" dirty="0"/>
          </a:p>
        </p:txBody>
      </p:sp>
      <p:sp>
        <p:nvSpPr>
          <p:cNvPr id="13" name="node Self-Perceived Knowledge"/>
          <p:cNvSpPr/>
          <p:nvPr/>
        </p:nvSpPr>
        <p:spPr>
          <a:xfrm>
            <a:off x="12252960" y="2377440"/>
            <a:ext cx="2651760" cy="1143000"/>
          </a:xfrm>
          <a:prstGeom prst="roundRect">
            <a:avLst>
              <a:gd name="adj" fmla="val 12000"/>
            </a:avLst>
          </a:prstGeom>
          <a:solidFill>
            <a:srgbClr val="4F81BD"/>
          </a:solidFill>
          <a:ln w="19050">
            <a:solidFill>
              <a:srgbClr val="FFFFFF"/>
            </a:solidFill>
            <a:prstDash val="solid"/>
          </a:ln>
        </p:spPr>
      </p:sp>
      <p:sp>
        <p:nvSpPr>
          <p:cNvPr id="14" name="Text 11"/>
          <p:cNvSpPr txBox="1"/>
          <p:nvPr/>
        </p:nvSpPr>
        <p:spPr>
          <a:xfrm>
            <a:off x="12252960" y="2377440"/>
            <a:ext cx="2651760" cy="1143000"/>
          </a:xfrm>
          <a:prstGeom prst="rect">
            <a:avLst/>
          </a:prstGeom>
          <a:noFill/>
          <a:ln/>
        </p:spPr>
        <p:txBody>
          <a:bodyPr wrap="square" rtlCol="0" anchor="ctr"/>
          <a:lstStyle/>
          <a:p>
            <a:pPr algn="ctr" indent="0" marL="0">
              <a:buNone/>
            </a:pPr>
            <a:r>
              <a:rPr lang="en-US" sz="2100" b="1" dirty="0">
                <a:solidFill>
                  <a:srgbClr val="FFFFFF"/>
                </a:solidFill>
                <a:latin typeface="Times New Roman" pitchFamily="34" charset="0"/>
                <a:ea typeface="Times New Roman" pitchFamily="34" charset="-122"/>
                <a:cs typeface="Times New Roman" pitchFamily="34" charset="-120"/>
              </a:rPr>
              <a:t>Self-Perceived Knowledge</a:t>
            </a:r>
            <a:endParaRPr lang="en-US" sz="2100" dirty="0"/>
          </a:p>
        </p:txBody>
      </p:sp>
      <p:sp>
        <p:nvSpPr>
          <p:cNvPr id="15" name="node Perception"/>
          <p:cNvSpPr/>
          <p:nvPr/>
        </p:nvSpPr>
        <p:spPr>
          <a:xfrm>
            <a:off x="10881360" y="7223760"/>
            <a:ext cx="2651760" cy="1143000"/>
          </a:xfrm>
          <a:prstGeom prst="roundRect">
            <a:avLst>
              <a:gd name="adj" fmla="val 12000"/>
            </a:avLst>
          </a:prstGeom>
          <a:solidFill>
            <a:srgbClr val="4F81BD"/>
          </a:solidFill>
          <a:ln w="19050">
            <a:solidFill>
              <a:srgbClr val="FFFFFF"/>
            </a:solidFill>
            <a:prstDash val="solid"/>
          </a:ln>
        </p:spPr>
      </p:sp>
      <p:sp>
        <p:nvSpPr>
          <p:cNvPr id="16" name="Text 13"/>
          <p:cNvSpPr txBox="1"/>
          <p:nvPr/>
        </p:nvSpPr>
        <p:spPr>
          <a:xfrm>
            <a:off x="10881360" y="7223760"/>
            <a:ext cx="2651760" cy="1143000"/>
          </a:xfrm>
          <a:prstGeom prst="rect">
            <a:avLst/>
          </a:prstGeom>
          <a:noFill/>
          <a:ln/>
        </p:spPr>
        <p:txBody>
          <a:bodyPr wrap="square" rtlCol="0" anchor="ctr"/>
          <a:lstStyle/>
          <a:p>
            <a:pPr algn="ctr" indent="0" marL="0">
              <a:buNone/>
            </a:pPr>
            <a:r>
              <a:rPr lang="en-US" sz="2100" b="1" dirty="0">
                <a:solidFill>
                  <a:srgbClr val="FFFFFF"/>
                </a:solidFill>
                <a:latin typeface="Times New Roman" pitchFamily="34" charset="0"/>
                <a:ea typeface="Times New Roman" pitchFamily="34" charset="-122"/>
                <a:cs typeface="Times New Roman" pitchFamily="34" charset="-120"/>
              </a:rPr>
              <a:t>Perception</a:t>
            </a:r>
            <a:endParaRPr lang="en-US" sz="2100" dirty="0"/>
          </a:p>
        </p:txBody>
      </p:sp>
      <p:sp>
        <p:nvSpPr>
          <p:cNvPr id="17" name="node Self-Reported Practice"/>
          <p:cNvSpPr/>
          <p:nvPr/>
        </p:nvSpPr>
        <p:spPr>
          <a:xfrm>
            <a:off x="14904720" y="7223760"/>
            <a:ext cx="2651760" cy="1143000"/>
          </a:xfrm>
          <a:prstGeom prst="roundRect">
            <a:avLst>
              <a:gd name="adj" fmla="val 12000"/>
            </a:avLst>
          </a:prstGeom>
          <a:solidFill>
            <a:srgbClr val="4F81BD"/>
          </a:solidFill>
          <a:ln w="19050">
            <a:solidFill>
              <a:srgbClr val="FFFFFF"/>
            </a:solidFill>
            <a:prstDash val="solid"/>
          </a:ln>
        </p:spPr>
      </p:sp>
      <p:sp>
        <p:nvSpPr>
          <p:cNvPr id="18" name="Text 15"/>
          <p:cNvSpPr txBox="1"/>
          <p:nvPr/>
        </p:nvSpPr>
        <p:spPr>
          <a:xfrm>
            <a:off x="14904720" y="7223760"/>
            <a:ext cx="2651760" cy="1143000"/>
          </a:xfrm>
          <a:prstGeom prst="rect">
            <a:avLst/>
          </a:prstGeom>
          <a:noFill/>
          <a:ln/>
        </p:spPr>
        <p:txBody>
          <a:bodyPr wrap="square" rtlCol="0" anchor="ctr"/>
          <a:lstStyle/>
          <a:p>
            <a:pPr algn="ctr" indent="0" marL="0">
              <a:buNone/>
            </a:pPr>
            <a:r>
              <a:rPr lang="en-US" sz="2100" b="1" dirty="0">
                <a:solidFill>
                  <a:srgbClr val="FFFFFF"/>
                </a:solidFill>
                <a:latin typeface="Times New Roman" pitchFamily="34" charset="0"/>
                <a:ea typeface="Times New Roman" pitchFamily="34" charset="-122"/>
                <a:cs typeface="Times New Roman" pitchFamily="34" charset="-120"/>
              </a:rPr>
              <a:t>Self-Reported Practice</a:t>
            </a:r>
            <a:endParaRPr lang="en-US" sz="21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Results – Knowledge as a Predictor</a:t>
            </a:r>
            <a:endParaRPr lang="en-US" sz="5400" dirty="0"/>
          </a:p>
        </p:txBody>
      </p:sp>
      <p:sp>
        <p:nvSpPr>
          <p:cNvPr id="3" name="stat 27.0%"/>
          <p:cNvSpPr/>
          <p:nvPr/>
        </p:nvSpPr>
        <p:spPr>
          <a:xfrm>
            <a:off x="1097280" y="2286000"/>
            <a:ext cx="5120640" cy="3291840"/>
          </a:xfrm>
          <a:prstGeom prst="roundRect">
            <a:avLst>
              <a:gd name="adj" fmla="val 4167"/>
            </a:avLst>
          </a:prstGeom>
          <a:solidFill>
            <a:srgbClr val="1A3760"/>
          </a:solidFill>
          <a:ln w="12700">
            <a:solidFill>
              <a:srgbClr val="1A3760"/>
            </a:solidFill>
            <a:prstDash val="solid"/>
          </a:ln>
        </p:spPr>
      </p:sp>
      <p:sp>
        <p:nvSpPr>
          <p:cNvPr id="4" name="Text 2"/>
          <p:cNvSpPr txBox="1"/>
          <p:nvPr/>
        </p:nvSpPr>
        <p:spPr>
          <a:xfrm>
            <a:off x="1097280" y="2286000"/>
            <a:ext cx="5120640" cy="3291840"/>
          </a:xfrm>
          <a:prstGeom prst="rect">
            <a:avLst/>
          </a:prstGeom>
          <a:noFill/>
          <a:ln/>
        </p:spPr>
        <p:txBody>
          <a:bodyPr wrap="square" lIns="76200" tIns="76200" rIns="76200" bIns="76200" rtlCol="0" anchor="ctr"/>
          <a:lstStyle/>
          <a:p>
            <a:pPr algn="ctr" indent="0" marL="0">
              <a:buNone/>
            </a:pPr>
            <a:r>
              <a:rPr lang="en-US" sz="6800" b="1" dirty="0">
                <a:solidFill>
                  <a:srgbClr val="FFFFFF"/>
                </a:solidFill>
                <a:latin typeface="Times New Roman" pitchFamily="34" charset="0"/>
                <a:ea typeface="Times New Roman" pitchFamily="34" charset="-122"/>
                <a:cs typeface="Times New Roman" pitchFamily="34" charset="-120"/>
              </a:rPr>
              <a:t>27.0%</a:t>
            </a:r>
            <a:endParaRPr lang="en-US" sz="68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of variance in perception explained</a:t>
            </a:r>
            <a:endParaRPr lang="en-US" sz="6800" dirty="0"/>
          </a:p>
        </p:txBody>
      </p:sp>
      <p:sp>
        <p:nvSpPr>
          <p:cNvPr id="5" name="stat 21.2%"/>
          <p:cNvSpPr/>
          <p:nvPr/>
        </p:nvSpPr>
        <p:spPr>
          <a:xfrm>
            <a:off x="6583680" y="2286000"/>
            <a:ext cx="5120640" cy="3291840"/>
          </a:xfrm>
          <a:prstGeom prst="roundRect">
            <a:avLst>
              <a:gd name="adj" fmla="val 4167"/>
            </a:avLst>
          </a:prstGeom>
          <a:solidFill>
            <a:srgbClr val="1A3760"/>
          </a:solidFill>
          <a:ln w="12700">
            <a:solidFill>
              <a:srgbClr val="1A3760"/>
            </a:solidFill>
            <a:prstDash val="solid"/>
          </a:ln>
        </p:spPr>
      </p:sp>
      <p:sp>
        <p:nvSpPr>
          <p:cNvPr id="6" name="Text 4"/>
          <p:cNvSpPr txBox="1"/>
          <p:nvPr/>
        </p:nvSpPr>
        <p:spPr>
          <a:xfrm>
            <a:off x="6583680" y="2286000"/>
            <a:ext cx="5120640" cy="3291840"/>
          </a:xfrm>
          <a:prstGeom prst="rect">
            <a:avLst/>
          </a:prstGeom>
          <a:noFill/>
          <a:ln/>
        </p:spPr>
        <p:txBody>
          <a:bodyPr wrap="square" lIns="76200" tIns="76200" rIns="76200" bIns="76200" rtlCol="0" anchor="ctr"/>
          <a:lstStyle/>
          <a:p>
            <a:pPr algn="ctr" indent="0" marL="0">
              <a:buNone/>
            </a:pPr>
            <a:r>
              <a:rPr lang="en-US" sz="6800" b="1" dirty="0">
                <a:solidFill>
                  <a:srgbClr val="FFFFFF"/>
                </a:solidFill>
                <a:latin typeface="Times New Roman" pitchFamily="34" charset="0"/>
                <a:ea typeface="Times New Roman" pitchFamily="34" charset="-122"/>
                <a:cs typeface="Times New Roman" pitchFamily="34" charset="-120"/>
              </a:rPr>
              <a:t>21.2%</a:t>
            </a:r>
            <a:endParaRPr lang="en-US" sz="68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of variance in self-reported practice explained</a:t>
            </a:r>
            <a:endParaRPr lang="en-US" sz="6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1097280" y="5943600"/>
          <a:ext cx="10607040" cy="914400"/>
        </p:xfrm>
        <a:graphic>
          <a:graphicData uri="http://schemas.openxmlformats.org/drawingml/2006/table">
            <a:tbl>
              <a:tblPr/>
              <a:tblGrid>
                <a:gridCol w="3108960"/>
                <a:gridCol w="1097280"/>
                <a:gridCol w="1097280"/>
                <a:gridCol w="1097280"/>
                <a:gridCol w="1280160"/>
                <a:gridCol w="1188720"/>
                <a:gridCol w="1737360"/>
              </a:tblGrid>
              <a:tr h="777240">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Outcome</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B</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SE</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β</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t</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R²</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c>
                  <a:txBody>
                    <a:bodyP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F(1, 298)</a:t>
                      </a:r>
                      <a:endParaRPr lang="en-US" sz="20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1A3760"/>
                    </a:solidFill>
                  </a:tcPr>
                </a:tc>
              </a:tr>
              <a:tr h="777240">
                <a:tc>
                  <a:txBody>
                    <a:bodyPr/>
                    <a:lstStyle/>
                    <a:p>
                      <a:pPr algn="l" indent="0" marL="0">
                        <a:buNone/>
                      </a:pPr>
                      <a:r>
                        <a:rPr lang="en-US" sz="2100" b="1" dirty="0">
                          <a:solidFill>
                            <a:srgbClr val="000000"/>
                          </a:solidFill>
                          <a:latin typeface="Times New Roman" pitchFamily="34" charset="0"/>
                          <a:ea typeface="Times New Roman" pitchFamily="34" charset="-122"/>
                          <a:cs typeface="Times New Roman" pitchFamily="34" charset="-120"/>
                        </a:rPr>
                        <a:t>Perception</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0.50</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0.05</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.52</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10.51</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.270</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110.45</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r>
              <a:tr h="777240">
                <a:tc>
                  <a:txBody>
                    <a:bodyPr/>
                    <a:lstStyle/>
                    <a:p>
                      <a:pPr algn="l" indent="0" marL="0">
                        <a:buNone/>
                      </a:pPr>
                      <a:r>
                        <a:rPr lang="en-US" sz="2100" b="1" dirty="0">
                          <a:solidFill>
                            <a:srgbClr val="000000"/>
                          </a:solidFill>
                          <a:latin typeface="Times New Roman" pitchFamily="34" charset="0"/>
                          <a:ea typeface="Times New Roman" pitchFamily="34" charset="-122"/>
                          <a:cs typeface="Times New Roman" pitchFamily="34" charset="-120"/>
                        </a:rPr>
                        <a:t>Self-Reported Practice</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0.53</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0.06</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.46</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8.95</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.212</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c>
                  <a:txBody>
                    <a:bodyPr/>
                    <a:lstStyle/>
                    <a:p>
                      <a:pPr algn="ctr" indent="0" marL="0">
                        <a:buNone/>
                      </a:pPr>
                      <a:r>
                        <a:rPr lang="en-US" sz="2100" dirty="0">
                          <a:solidFill>
                            <a:srgbClr val="000000"/>
                          </a:solidFill>
                          <a:latin typeface="Times New Roman" pitchFamily="34" charset="0"/>
                          <a:ea typeface="Times New Roman" pitchFamily="34" charset="-122"/>
                          <a:cs typeface="Times New Roman" pitchFamily="34" charset="-120"/>
                        </a:rPr>
                        <a:t>80.13</a:t>
                      </a:r>
                      <a:endParaRPr lang="en-US" sz="2100" dirty="0">
                        <a:latin typeface="Times New Roman" charset="0"/>
                        <a:ea typeface="Times New Roman" charset="0"/>
                        <a:cs typeface="Times New Roman" charset="0"/>
                      </a:endParaRPr>
                    </a:p>
                  </a:txBody>
                  <a:tcPr marL="91440" marR="91440" marT="45720" marB="45720" anchor="ctr">
                    <a:lnL w="12700" cap="flat" cmpd="sng" algn="ctr">
                      <a:solidFill>
                        <a:srgbClr val="8EA9DB"/>
                      </a:solidFill>
                      <a:prstDash val="solid"/>
                      <a:round/>
                      <a:headEnd type="none" w="med" len="med"/>
                      <a:tailEnd type="none" w="med" len="med"/>
                    </a:lnL>
                    <a:lnR w="12700" cap="flat" cmpd="sng" algn="ctr">
                      <a:solidFill>
                        <a:srgbClr val="8EA9DB"/>
                      </a:solidFill>
                      <a:prstDash val="solid"/>
                      <a:round/>
                      <a:headEnd type="none" w="med" len="med"/>
                      <a:tailEnd type="none" w="med" len="med"/>
                    </a:lnR>
                    <a:lnT w="12700" cap="flat" cmpd="sng" algn="ctr">
                      <a:solidFill>
                        <a:srgbClr val="8EA9DB"/>
                      </a:solidFill>
                      <a:prstDash val="solid"/>
                      <a:round/>
                      <a:headEnd type="none" w="med" len="med"/>
                      <a:tailEnd type="none" w="med" len="med"/>
                    </a:lnT>
                    <a:lnB w="12700" cap="flat" cmpd="sng" algn="ctr">
                      <a:solidFill>
                        <a:srgbClr val="8EA9DB"/>
                      </a:solidFill>
                      <a:prstDash val="solid"/>
                      <a:round/>
                      <a:headEnd type="none" w="med" len="med"/>
                      <a:tailEnd type="none" w="med" len="med"/>
                    </a:lnB>
                    <a:solidFill>
                      <a:srgbClr val="EEF1F7"/>
                    </a:solidFill>
                  </a:tcPr>
                </a:tc>
              </a:tr>
            </a:tbl>
          </a:graphicData>
        </a:graphic>
      </p:graphicFrame>
      <p:sp>
        <p:nvSpPr>
          <p:cNvPr id="8" name="Text 5"/>
          <p:cNvSpPr txBox="1"/>
          <p:nvPr/>
        </p:nvSpPr>
        <p:spPr>
          <a:xfrm>
            <a:off x="1097280" y="8412480"/>
            <a:ext cx="10607040" cy="457200"/>
          </a:xfrm>
          <a:prstGeom prst="rect">
            <a:avLst/>
          </a:prstGeom>
          <a:noFill/>
          <a:ln/>
        </p:spPr>
        <p:txBody>
          <a:bodyPr wrap="square" lIns="0" tIns="0" rIns="0" bIns="0" rtlCol="0" anchor="t"/>
          <a:lstStyle/>
          <a:p>
            <a:pPr indent="0" marL="0">
              <a:buNone/>
            </a:pPr>
            <a:r>
              <a:rPr lang="en-US" sz="1800" i="1" dirty="0">
                <a:solidFill>
                  <a:srgbClr val="595959"/>
                </a:solidFill>
                <a:latin typeface="Times New Roman" pitchFamily="34" charset="0"/>
                <a:ea typeface="Times New Roman" pitchFamily="34" charset="-122"/>
                <a:cs typeface="Times New Roman" pitchFamily="34" charset="-120"/>
              </a:rPr>
              <a:t>Both models p &lt; .001</a:t>
            </a:r>
            <a:endParaRPr lang="en-US" sz="1800" dirty="0"/>
          </a:p>
        </p:txBody>
      </p:sp>
      <p:sp>
        <p:nvSpPr>
          <p:cNvPr id="9" name="reg note"/>
          <p:cNvSpPr/>
          <p:nvPr/>
        </p:nvSpPr>
        <p:spPr>
          <a:xfrm>
            <a:off x="12161520" y="2286000"/>
            <a:ext cx="5029200" cy="6949440"/>
          </a:xfrm>
          <a:prstGeom prst="roundRect">
            <a:avLst>
              <a:gd name="adj" fmla="val 3636"/>
            </a:avLst>
          </a:prstGeom>
          <a:solidFill>
            <a:srgbClr val="D6DDEA"/>
          </a:solidFill>
          <a:ln w="12700">
            <a:solidFill>
              <a:srgbClr val="D6DDEA"/>
            </a:solidFill>
            <a:prstDash val="solid"/>
          </a:ln>
        </p:spPr>
      </p:sp>
      <p:sp>
        <p:nvSpPr>
          <p:cNvPr id="10" name="Text 7"/>
          <p:cNvSpPr txBox="1"/>
          <p:nvPr/>
        </p:nvSpPr>
        <p:spPr>
          <a:xfrm>
            <a:off x="12435840" y="2560320"/>
            <a:ext cx="4480560" cy="6400800"/>
          </a:xfrm>
          <a:prstGeom prst="rect">
            <a:avLst/>
          </a:prstGeom>
          <a:noFill/>
          <a:ln/>
        </p:spPr>
        <p:txBody>
          <a:bodyPr wrap="square" rtlCol="0" anchor="t"/>
          <a:lstStyle/>
          <a:p>
            <a:pPr indent="0" marL="0">
              <a:spcAft>
                <a:spcPts val="1200"/>
              </a:spcAft>
              <a:buNone/>
            </a:pPr>
            <a:r>
              <a:rPr lang="en-US" sz="2600" b="1" dirty="0">
                <a:solidFill>
                  <a:srgbClr val="1A3760"/>
                </a:solidFill>
                <a:latin typeface="Times New Roman" pitchFamily="34" charset="0"/>
                <a:ea typeface="Times New Roman" pitchFamily="34" charset="-122"/>
                <a:cs typeface="Times New Roman" pitchFamily="34" charset="-120"/>
              </a:rPr>
              <a:t>Simple Linear Regression</a:t>
            </a:r>
            <a:endParaRPr lang="en-US" sz="2600" dirty="0"/>
          </a:p>
          <a:p>
            <a:pPr indent="0" marL="0">
              <a:spcAft>
                <a:spcPts val="1200"/>
              </a:spcAft>
              <a:buNone/>
            </a:pPr>
            <a:r>
              <a:rPr lang="en-US" sz="2200" dirty="0">
                <a:solidFill>
                  <a:srgbClr val="000000"/>
                </a:solidFill>
                <a:latin typeface="Times New Roman" pitchFamily="34" charset="0"/>
                <a:ea typeface="Times New Roman" pitchFamily="34" charset="-122"/>
                <a:cs typeface="Times New Roman" pitchFamily="34" charset="-120"/>
              </a:rPr>
              <a:t>Higher self-perceived knowledge significantly predicted more positive perceptions and higher self-reported practice.</a:t>
            </a:r>
            <a:endParaRPr lang="en-US" sz="2600" dirty="0"/>
          </a:p>
          <a:p>
            <a:pPr indent="0" marL="0">
              <a:buNone/>
            </a:pPr>
            <a:r>
              <a:rPr lang="en-US" sz="2200" i="1" dirty="0">
                <a:solidFill>
                  <a:srgbClr val="000000"/>
                </a:solidFill>
                <a:latin typeface="Times New Roman" pitchFamily="34" charset="0"/>
                <a:ea typeface="Times New Roman" pitchFamily="34" charset="-122"/>
                <a:cs typeface="Times New Roman" pitchFamily="34" charset="-120"/>
              </a:rPr>
              <a:t>Results represent statistical prediction in a cross-sectional dataset, not causal effects.</a:t>
            </a:r>
            <a:endParaRPr lang="en-US" sz="26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Results – Differences by Gender</a:t>
            </a:r>
            <a:endParaRPr lang="en-US" sz="5400" dirty="0"/>
          </a:p>
        </p:txBody>
      </p:sp>
      <p:graphicFrame>
        <p:nvGraphicFramePr>
          <p:cNvPr id="3" name="Chart 0" descr=""/>
          <p:cNvGraphicFramePr/>
          <p:nvPr/>
        </p:nvGraphicFramePr>
        <p:xfrm>
          <a:off x="1097280" y="2194560"/>
          <a:ext cx="10058400" cy="7132320"/>
        </p:xfrm>
        <a:graphic xmlns:a="http://schemas.openxmlformats.org/drawingml/2006/main">
          <a:graphicData uri="http://schemas.openxmlformats.org/drawingml/2006/chart">
            <c:chart xmlns:c="http://schemas.openxmlformats.org/drawingml/2006/chart" r:id="rId1"/>
          </a:graphicData>
        </a:graphic>
      </p:graphicFrame>
      <p:sp>
        <p:nvSpPr>
          <p:cNvPr id="4" name="card Knowledge"/>
          <p:cNvSpPr/>
          <p:nvPr/>
        </p:nvSpPr>
        <p:spPr>
          <a:xfrm>
            <a:off x="13533120" y="2395728"/>
            <a:ext cx="3657600" cy="1106424"/>
          </a:xfrm>
          <a:prstGeom prst="roundRect">
            <a:avLst>
              <a:gd name="adj" fmla="val 12397"/>
            </a:avLst>
          </a:prstGeom>
          <a:solidFill>
            <a:srgbClr val="D6DDEA"/>
          </a:solidFill>
          <a:ln w="12700">
            <a:solidFill>
              <a:srgbClr val="D6DDEA"/>
            </a:solidFill>
            <a:prstDash val="solid"/>
          </a:ln>
        </p:spPr>
      </p:sp>
      <p:sp>
        <p:nvSpPr>
          <p:cNvPr id="5" name="label Knowledge"/>
          <p:cNvSpPr/>
          <p:nvPr/>
        </p:nvSpPr>
        <p:spPr>
          <a:xfrm>
            <a:off x="11521440" y="2286000"/>
            <a:ext cx="2286000" cy="1325880"/>
          </a:xfrm>
          <a:prstGeom prst="roundRect">
            <a:avLst>
              <a:gd name="adj" fmla="val 13793"/>
            </a:avLst>
          </a:prstGeom>
          <a:solidFill>
            <a:srgbClr val="4F81BD"/>
          </a:solidFill>
          <a:ln w="19050">
            <a:solidFill>
              <a:srgbClr val="FFFFFF"/>
            </a:solidFill>
            <a:prstDash val="solid"/>
          </a:ln>
        </p:spPr>
      </p:sp>
      <p:sp>
        <p:nvSpPr>
          <p:cNvPr id="6" name="Text 3"/>
          <p:cNvSpPr txBox="1"/>
          <p:nvPr/>
        </p:nvSpPr>
        <p:spPr>
          <a:xfrm>
            <a:off x="11521440" y="2286000"/>
            <a:ext cx="2286000" cy="13258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Knowledge</a:t>
            </a:r>
            <a:endParaRPr lang="en-US" sz="2800" dirty="0"/>
          </a:p>
        </p:txBody>
      </p:sp>
      <p:sp>
        <p:nvSpPr>
          <p:cNvPr id="7" name="Text 4"/>
          <p:cNvSpPr txBox="1"/>
          <p:nvPr/>
        </p:nvSpPr>
        <p:spPr>
          <a:xfrm>
            <a:off x="13990320" y="2395728"/>
            <a:ext cx="3063240" cy="1106424"/>
          </a:xfrm>
          <a:prstGeom prst="rect">
            <a:avLst/>
          </a:prstGeom>
          <a:noFill/>
          <a:ln/>
        </p:spPr>
        <p:txBody>
          <a:bodyPr wrap="square" lIns="50800" tIns="50800" rIns="50800" bIns="5080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t(298) = 2.33, p = .021, d = 0.27</a:t>
            </a:r>
            <a:endParaRPr lang="en-US" sz="2000" dirty="0"/>
          </a:p>
        </p:txBody>
      </p:sp>
      <p:sp>
        <p:nvSpPr>
          <p:cNvPr id="8" name="card Perception"/>
          <p:cNvSpPr/>
          <p:nvPr/>
        </p:nvSpPr>
        <p:spPr>
          <a:xfrm>
            <a:off x="13533120" y="3858768"/>
            <a:ext cx="3657600" cy="1106424"/>
          </a:xfrm>
          <a:prstGeom prst="roundRect">
            <a:avLst>
              <a:gd name="adj" fmla="val 12397"/>
            </a:avLst>
          </a:prstGeom>
          <a:solidFill>
            <a:srgbClr val="D6DDEA"/>
          </a:solidFill>
          <a:ln w="12700">
            <a:solidFill>
              <a:srgbClr val="D6DDEA"/>
            </a:solidFill>
            <a:prstDash val="solid"/>
          </a:ln>
        </p:spPr>
      </p:sp>
      <p:sp>
        <p:nvSpPr>
          <p:cNvPr id="9" name="label Perception"/>
          <p:cNvSpPr/>
          <p:nvPr/>
        </p:nvSpPr>
        <p:spPr>
          <a:xfrm>
            <a:off x="11521440" y="3749040"/>
            <a:ext cx="2286000" cy="1325880"/>
          </a:xfrm>
          <a:prstGeom prst="roundRect">
            <a:avLst>
              <a:gd name="adj" fmla="val 13793"/>
            </a:avLst>
          </a:prstGeom>
          <a:solidFill>
            <a:srgbClr val="4F81BD"/>
          </a:solidFill>
          <a:ln w="19050">
            <a:solidFill>
              <a:srgbClr val="FFFFFF"/>
            </a:solidFill>
            <a:prstDash val="solid"/>
          </a:ln>
        </p:spPr>
      </p:sp>
      <p:sp>
        <p:nvSpPr>
          <p:cNvPr id="10" name="Text 7"/>
          <p:cNvSpPr txBox="1"/>
          <p:nvPr/>
        </p:nvSpPr>
        <p:spPr>
          <a:xfrm>
            <a:off x="11521440" y="3749040"/>
            <a:ext cx="2286000" cy="13258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Perception</a:t>
            </a:r>
            <a:endParaRPr lang="en-US" sz="2800" dirty="0"/>
          </a:p>
        </p:txBody>
      </p:sp>
      <p:sp>
        <p:nvSpPr>
          <p:cNvPr id="11" name="Text 8"/>
          <p:cNvSpPr txBox="1"/>
          <p:nvPr/>
        </p:nvSpPr>
        <p:spPr>
          <a:xfrm>
            <a:off x="13990320" y="3858768"/>
            <a:ext cx="3063240" cy="1106424"/>
          </a:xfrm>
          <a:prstGeom prst="rect">
            <a:avLst/>
          </a:prstGeom>
          <a:noFill/>
          <a:ln/>
        </p:spPr>
        <p:txBody>
          <a:bodyPr wrap="square" lIns="50800" tIns="50800" rIns="50800" bIns="5080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t(298) = 2.42, p = .016, d = 0.28</a:t>
            </a:r>
            <a:endParaRPr lang="en-US" sz="2000" dirty="0"/>
          </a:p>
        </p:txBody>
      </p:sp>
      <p:sp>
        <p:nvSpPr>
          <p:cNvPr id="12" name="card Practice"/>
          <p:cNvSpPr/>
          <p:nvPr/>
        </p:nvSpPr>
        <p:spPr>
          <a:xfrm>
            <a:off x="13533120" y="5321808"/>
            <a:ext cx="3657600" cy="1106424"/>
          </a:xfrm>
          <a:prstGeom prst="roundRect">
            <a:avLst>
              <a:gd name="adj" fmla="val 12397"/>
            </a:avLst>
          </a:prstGeom>
          <a:solidFill>
            <a:srgbClr val="D6DDEA"/>
          </a:solidFill>
          <a:ln w="12700">
            <a:solidFill>
              <a:srgbClr val="D6DDEA"/>
            </a:solidFill>
            <a:prstDash val="solid"/>
          </a:ln>
        </p:spPr>
      </p:sp>
      <p:sp>
        <p:nvSpPr>
          <p:cNvPr id="13" name="label Practice"/>
          <p:cNvSpPr/>
          <p:nvPr/>
        </p:nvSpPr>
        <p:spPr>
          <a:xfrm>
            <a:off x="11521440" y="5212080"/>
            <a:ext cx="2286000" cy="1325880"/>
          </a:xfrm>
          <a:prstGeom prst="roundRect">
            <a:avLst>
              <a:gd name="adj" fmla="val 13793"/>
            </a:avLst>
          </a:prstGeom>
          <a:solidFill>
            <a:srgbClr val="4F81BD"/>
          </a:solidFill>
          <a:ln w="19050">
            <a:solidFill>
              <a:srgbClr val="FFFFFF"/>
            </a:solidFill>
            <a:prstDash val="solid"/>
          </a:ln>
        </p:spPr>
      </p:sp>
      <p:sp>
        <p:nvSpPr>
          <p:cNvPr id="14" name="Text 11"/>
          <p:cNvSpPr txBox="1"/>
          <p:nvPr/>
        </p:nvSpPr>
        <p:spPr>
          <a:xfrm>
            <a:off x="11521440" y="5212080"/>
            <a:ext cx="2286000" cy="13258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Practice</a:t>
            </a:r>
            <a:endParaRPr lang="en-US" sz="2800" dirty="0"/>
          </a:p>
        </p:txBody>
      </p:sp>
      <p:sp>
        <p:nvSpPr>
          <p:cNvPr id="15" name="Text 12"/>
          <p:cNvSpPr txBox="1"/>
          <p:nvPr/>
        </p:nvSpPr>
        <p:spPr>
          <a:xfrm>
            <a:off x="13990320" y="5321808"/>
            <a:ext cx="3063240" cy="1106424"/>
          </a:xfrm>
          <a:prstGeom prst="rect">
            <a:avLst/>
          </a:prstGeom>
          <a:noFill/>
          <a:ln/>
        </p:spPr>
        <p:txBody>
          <a:bodyPr wrap="square" lIns="50800" tIns="50800" rIns="50800" bIns="5080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t(298) = 2.89, p = .004, d = 0.33</a:t>
            </a:r>
            <a:endParaRPr lang="en-US" sz="2000" dirty="0"/>
          </a:p>
        </p:txBody>
      </p:sp>
      <p:sp>
        <p:nvSpPr>
          <p:cNvPr id="16" name="banner"/>
          <p:cNvSpPr/>
          <p:nvPr/>
        </p:nvSpPr>
        <p:spPr>
          <a:xfrm>
            <a:off x="11521440" y="6812280"/>
            <a:ext cx="5669280" cy="2423160"/>
          </a:xfrm>
          <a:prstGeom prst="rect">
            <a:avLst/>
          </a:prstGeom>
          <a:solidFill>
            <a:srgbClr val="EEF1F7"/>
          </a:solidFill>
          <a:ln w="25400">
            <a:solidFill>
              <a:srgbClr val="1A3760"/>
            </a:solidFill>
            <a:prstDash val="solid"/>
          </a:ln>
        </p:spPr>
      </p:sp>
      <p:sp>
        <p:nvSpPr>
          <p:cNvPr id="17" name="Text 14"/>
          <p:cNvSpPr txBox="1"/>
          <p:nvPr/>
        </p:nvSpPr>
        <p:spPr>
          <a:xfrm>
            <a:off x="11704320" y="6812280"/>
            <a:ext cx="5303520" cy="2423160"/>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Male nurses scored higher in all three domains, but effect sizes were small, indicating substantial overlap between groups.</a:t>
            </a:r>
            <a:endParaRPr lang="en-US" sz="22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Results – Differences by Educational Level</a:t>
            </a:r>
            <a:endParaRPr lang="en-US" sz="5400" dirty="0"/>
          </a:p>
        </p:txBody>
      </p:sp>
      <p:graphicFrame>
        <p:nvGraphicFramePr>
          <p:cNvPr id="3" name="Chart 0" descr=""/>
          <p:cNvGraphicFramePr/>
          <p:nvPr/>
        </p:nvGraphicFramePr>
        <p:xfrm>
          <a:off x="1097280" y="2194560"/>
          <a:ext cx="10058400" cy="7132320"/>
        </p:xfrm>
        <a:graphic xmlns:a="http://schemas.openxmlformats.org/drawingml/2006/main">
          <a:graphicData uri="http://schemas.openxmlformats.org/drawingml/2006/chart">
            <c:chart xmlns:c="http://schemas.openxmlformats.org/drawingml/2006/chart" r:id="rId1"/>
          </a:graphicData>
        </a:graphic>
      </p:graphicFrame>
      <p:sp>
        <p:nvSpPr>
          <p:cNvPr id="4" name="card Knowledge"/>
          <p:cNvSpPr/>
          <p:nvPr/>
        </p:nvSpPr>
        <p:spPr>
          <a:xfrm>
            <a:off x="13533120" y="2395728"/>
            <a:ext cx="3657600" cy="1106424"/>
          </a:xfrm>
          <a:prstGeom prst="roundRect">
            <a:avLst>
              <a:gd name="adj" fmla="val 12397"/>
            </a:avLst>
          </a:prstGeom>
          <a:solidFill>
            <a:srgbClr val="D6DDEA"/>
          </a:solidFill>
          <a:ln w="12700">
            <a:solidFill>
              <a:srgbClr val="D6DDEA"/>
            </a:solidFill>
            <a:prstDash val="solid"/>
          </a:ln>
        </p:spPr>
      </p:sp>
      <p:sp>
        <p:nvSpPr>
          <p:cNvPr id="5" name="label Knowledge"/>
          <p:cNvSpPr/>
          <p:nvPr/>
        </p:nvSpPr>
        <p:spPr>
          <a:xfrm>
            <a:off x="11521440" y="2286000"/>
            <a:ext cx="2286000" cy="1325880"/>
          </a:xfrm>
          <a:prstGeom prst="roundRect">
            <a:avLst>
              <a:gd name="adj" fmla="val 13793"/>
            </a:avLst>
          </a:prstGeom>
          <a:solidFill>
            <a:srgbClr val="4F81BD"/>
          </a:solidFill>
          <a:ln w="19050">
            <a:solidFill>
              <a:srgbClr val="FFFFFF"/>
            </a:solidFill>
            <a:prstDash val="solid"/>
          </a:ln>
        </p:spPr>
      </p:sp>
      <p:sp>
        <p:nvSpPr>
          <p:cNvPr id="6" name="Text 3"/>
          <p:cNvSpPr txBox="1"/>
          <p:nvPr/>
        </p:nvSpPr>
        <p:spPr>
          <a:xfrm>
            <a:off x="11521440" y="2286000"/>
            <a:ext cx="2286000" cy="13258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Knowledge</a:t>
            </a:r>
            <a:endParaRPr lang="en-US" sz="2800" dirty="0"/>
          </a:p>
        </p:txBody>
      </p:sp>
      <p:sp>
        <p:nvSpPr>
          <p:cNvPr id="7" name="Text 4"/>
          <p:cNvSpPr txBox="1"/>
          <p:nvPr/>
        </p:nvSpPr>
        <p:spPr>
          <a:xfrm>
            <a:off x="13990320" y="2395728"/>
            <a:ext cx="3063240" cy="1106424"/>
          </a:xfrm>
          <a:prstGeom prst="rect">
            <a:avLst/>
          </a:prstGeom>
          <a:noFill/>
          <a:ln/>
        </p:spPr>
        <p:txBody>
          <a:bodyPr wrap="square" lIns="50800" tIns="50800" rIns="50800" bIns="5080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F(2, 297) = 5.14, p = .006, η² = .033</a:t>
            </a:r>
            <a:endParaRPr lang="en-US" sz="2000" dirty="0"/>
          </a:p>
        </p:txBody>
      </p:sp>
      <p:sp>
        <p:nvSpPr>
          <p:cNvPr id="8" name="card Perception"/>
          <p:cNvSpPr/>
          <p:nvPr/>
        </p:nvSpPr>
        <p:spPr>
          <a:xfrm>
            <a:off x="13533120" y="3858768"/>
            <a:ext cx="3657600" cy="1106424"/>
          </a:xfrm>
          <a:prstGeom prst="roundRect">
            <a:avLst>
              <a:gd name="adj" fmla="val 12397"/>
            </a:avLst>
          </a:prstGeom>
          <a:solidFill>
            <a:srgbClr val="D6DDEA"/>
          </a:solidFill>
          <a:ln w="12700">
            <a:solidFill>
              <a:srgbClr val="D6DDEA"/>
            </a:solidFill>
            <a:prstDash val="solid"/>
          </a:ln>
        </p:spPr>
      </p:sp>
      <p:sp>
        <p:nvSpPr>
          <p:cNvPr id="9" name="label Perception"/>
          <p:cNvSpPr/>
          <p:nvPr/>
        </p:nvSpPr>
        <p:spPr>
          <a:xfrm>
            <a:off x="11521440" y="3749040"/>
            <a:ext cx="2286000" cy="1325880"/>
          </a:xfrm>
          <a:prstGeom prst="roundRect">
            <a:avLst>
              <a:gd name="adj" fmla="val 13793"/>
            </a:avLst>
          </a:prstGeom>
          <a:solidFill>
            <a:srgbClr val="4F81BD"/>
          </a:solidFill>
          <a:ln w="19050">
            <a:solidFill>
              <a:srgbClr val="FFFFFF"/>
            </a:solidFill>
            <a:prstDash val="solid"/>
          </a:ln>
        </p:spPr>
      </p:sp>
      <p:sp>
        <p:nvSpPr>
          <p:cNvPr id="10" name="Text 7"/>
          <p:cNvSpPr txBox="1"/>
          <p:nvPr/>
        </p:nvSpPr>
        <p:spPr>
          <a:xfrm>
            <a:off x="11521440" y="3749040"/>
            <a:ext cx="2286000" cy="13258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Perception</a:t>
            </a:r>
            <a:endParaRPr lang="en-US" sz="2800" dirty="0"/>
          </a:p>
        </p:txBody>
      </p:sp>
      <p:sp>
        <p:nvSpPr>
          <p:cNvPr id="11" name="Text 8"/>
          <p:cNvSpPr txBox="1"/>
          <p:nvPr/>
        </p:nvSpPr>
        <p:spPr>
          <a:xfrm>
            <a:off x="13990320" y="3858768"/>
            <a:ext cx="3063240" cy="1106424"/>
          </a:xfrm>
          <a:prstGeom prst="rect">
            <a:avLst/>
          </a:prstGeom>
          <a:noFill/>
          <a:ln/>
        </p:spPr>
        <p:txBody>
          <a:bodyPr wrap="square" lIns="50800" tIns="50800" rIns="50800" bIns="5080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F(2, 297) = 4.44, p = .013, η² = .029</a:t>
            </a:r>
            <a:endParaRPr lang="en-US" sz="2000" dirty="0"/>
          </a:p>
        </p:txBody>
      </p:sp>
      <p:sp>
        <p:nvSpPr>
          <p:cNvPr id="12" name="card Practice"/>
          <p:cNvSpPr/>
          <p:nvPr/>
        </p:nvSpPr>
        <p:spPr>
          <a:xfrm>
            <a:off x="13533120" y="5321808"/>
            <a:ext cx="3657600" cy="1106424"/>
          </a:xfrm>
          <a:prstGeom prst="roundRect">
            <a:avLst>
              <a:gd name="adj" fmla="val 12397"/>
            </a:avLst>
          </a:prstGeom>
          <a:solidFill>
            <a:srgbClr val="D6DDEA"/>
          </a:solidFill>
          <a:ln w="12700">
            <a:solidFill>
              <a:srgbClr val="D6DDEA"/>
            </a:solidFill>
            <a:prstDash val="solid"/>
          </a:ln>
        </p:spPr>
      </p:sp>
      <p:sp>
        <p:nvSpPr>
          <p:cNvPr id="13" name="label Practice"/>
          <p:cNvSpPr/>
          <p:nvPr/>
        </p:nvSpPr>
        <p:spPr>
          <a:xfrm>
            <a:off x="11521440" y="5212080"/>
            <a:ext cx="2286000" cy="1325880"/>
          </a:xfrm>
          <a:prstGeom prst="roundRect">
            <a:avLst>
              <a:gd name="adj" fmla="val 13793"/>
            </a:avLst>
          </a:prstGeom>
          <a:solidFill>
            <a:srgbClr val="4F81BD"/>
          </a:solidFill>
          <a:ln w="19050">
            <a:solidFill>
              <a:srgbClr val="FFFFFF"/>
            </a:solidFill>
            <a:prstDash val="solid"/>
          </a:ln>
        </p:spPr>
      </p:sp>
      <p:sp>
        <p:nvSpPr>
          <p:cNvPr id="14" name="Text 11"/>
          <p:cNvSpPr txBox="1"/>
          <p:nvPr/>
        </p:nvSpPr>
        <p:spPr>
          <a:xfrm>
            <a:off x="11521440" y="5212080"/>
            <a:ext cx="2286000" cy="13258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Practice</a:t>
            </a:r>
            <a:endParaRPr lang="en-US" sz="2800" dirty="0"/>
          </a:p>
        </p:txBody>
      </p:sp>
      <p:sp>
        <p:nvSpPr>
          <p:cNvPr id="15" name="Text 12"/>
          <p:cNvSpPr txBox="1"/>
          <p:nvPr/>
        </p:nvSpPr>
        <p:spPr>
          <a:xfrm>
            <a:off x="13990320" y="5321808"/>
            <a:ext cx="3063240" cy="1106424"/>
          </a:xfrm>
          <a:prstGeom prst="rect">
            <a:avLst/>
          </a:prstGeom>
          <a:noFill/>
          <a:ln/>
        </p:spPr>
        <p:txBody>
          <a:bodyPr wrap="square" lIns="50800" tIns="50800" rIns="50800" bIns="5080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F(2, 297) = 4.85, p = .009, η² = .032</a:t>
            </a:r>
            <a:endParaRPr lang="en-US" sz="2000" dirty="0"/>
          </a:p>
        </p:txBody>
      </p:sp>
      <p:sp>
        <p:nvSpPr>
          <p:cNvPr id="16" name="banner"/>
          <p:cNvSpPr/>
          <p:nvPr/>
        </p:nvSpPr>
        <p:spPr>
          <a:xfrm>
            <a:off x="11521440" y="6812280"/>
            <a:ext cx="5669280" cy="2423160"/>
          </a:xfrm>
          <a:prstGeom prst="rect">
            <a:avLst/>
          </a:prstGeom>
          <a:solidFill>
            <a:srgbClr val="EEF1F7"/>
          </a:solidFill>
          <a:ln w="25400">
            <a:solidFill>
              <a:srgbClr val="1A3760"/>
            </a:solidFill>
            <a:prstDash val="solid"/>
          </a:ln>
        </p:spPr>
      </p:sp>
      <p:sp>
        <p:nvSpPr>
          <p:cNvPr id="17" name="Text 14"/>
          <p:cNvSpPr txBox="1"/>
          <p:nvPr/>
        </p:nvSpPr>
        <p:spPr>
          <a:xfrm>
            <a:off x="11704320" y="6812280"/>
            <a:ext cx="5303520" cy="2423160"/>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Tukey post hoc tests: MSN &gt; Diploma in all three domains. Effect sizes were small.</a:t>
            </a:r>
            <a:endParaRPr lang="en-US" sz="22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Discussion – Levels of the Three Domains</a:t>
            </a:r>
            <a:endParaRPr lang="en-US" sz="5400" dirty="0"/>
          </a:p>
        </p:txBody>
      </p:sp>
      <p:sp>
        <p:nvSpPr>
          <p:cNvPr id="3" name="card Self-Perceived Knowledge (RQ1)"/>
          <p:cNvSpPr/>
          <p:nvPr/>
        </p:nvSpPr>
        <p:spPr>
          <a:xfrm>
            <a:off x="5029200" y="2350008"/>
            <a:ext cx="11978640" cy="1975104"/>
          </a:xfrm>
          <a:prstGeom prst="roundRect">
            <a:avLst>
              <a:gd name="adj" fmla="val 6944"/>
            </a:avLst>
          </a:prstGeom>
          <a:solidFill>
            <a:srgbClr val="D6DDEA"/>
          </a:solidFill>
          <a:ln w="12700">
            <a:solidFill>
              <a:srgbClr val="D6DDEA"/>
            </a:solidFill>
            <a:prstDash val="solid"/>
          </a:ln>
        </p:spPr>
      </p:sp>
      <p:sp>
        <p:nvSpPr>
          <p:cNvPr id="4" name="label Self-Perceived Knowledge (RQ1)"/>
          <p:cNvSpPr/>
          <p:nvPr/>
        </p:nvSpPr>
        <p:spPr>
          <a:xfrm>
            <a:off x="1097280" y="2240280"/>
            <a:ext cx="4206240" cy="2194560"/>
          </a:xfrm>
          <a:prstGeom prst="roundRect">
            <a:avLst>
              <a:gd name="adj" fmla="val 8333"/>
            </a:avLst>
          </a:prstGeom>
          <a:solidFill>
            <a:srgbClr val="4F81BD"/>
          </a:solidFill>
          <a:ln w="19050">
            <a:solidFill>
              <a:srgbClr val="FFFFFF"/>
            </a:solidFill>
            <a:prstDash val="solid"/>
          </a:ln>
        </p:spPr>
      </p:sp>
      <p:sp>
        <p:nvSpPr>
          <p:cNvPr id="5" name="Text 3"/>
          <p:cNvSpPr txBox="1"/>
          <p:nvPr/>
        </p:nvSpPr>
        <p:spPr>
          <a:xfrm>
            <a:off x="1097280" y="2240280"/>
            <a:ext cx="4206240" cy="219456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Self-Perceived Knowledge (RQ1)</a:t>
            </a:r>
            <a:endParaRPr lang="en-US" sz="2800" dirty="0"/>
          </a:p>
        </p:txBody>
      </p:sp>
      <p:sp>
        <p:nvSpPr>
          <p:cNvPr id="6" name="Text 4"/>
          <p:cNvSpPr txBox="1"/>
          <p:nvPr/>
        </p:nvSpPr>
        <p:spPr>
          <a:xfrm>
            <a:off x="5486400" y="2350008"/>
            <a:ext cx="11384280" cy="1975104"/>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High (M = 61.64), consistent with Younis et al. (2020), Saidam &amp; Eljedi (2020) and Alrowili et al. (2025); reviews reported insufficient or moderate knowledge (Said &amp; Chiang, 2020; Tas &amp; Cakir, 2022), possibly reflecting pre-COVID timing, instruments and settings.</a:t>
            </a:r>
            <a:endParaRPr lang="en-US" sz="2200" dirty="0"/>
          </a:p>
        </p:txBody>
      </p:sp>
      <p:sp>
        <p:nvSpPr>
          <p:cNvPr id="7" name="card Perception (RQ2)"/>
          <p:cNvSpPr/>
          <p:nvPr/>
        </p:nvSpPr>
        <p:spPr>
          <a:xfrm>
            <a:off x="5029200" y="4727448"/>
            <a:ext cx="11978640" cy="1975104"/>
          </a:xfrm>
          <a:prstGeom prst="roundRect">
            <a:avLst>
              <a:gd name="adj" fmla="val 6944"/>
            </a:avLst>
          </a:prstGeom>
          <a:solidFill>
            <a:srgbClr val="D6DDEA"/>
          </a:solidFill>
          <a:ln w="12700">
            <a:solidFill>
              <a:srgbClr val="D6DDEA"/>
            </a:solidFill>
            <a:prstDash val="solid"/>
          </a:ln>
        </p:spPr>
      </p:sp>
      <p:sp>
        <p:nvSpPr>
          <p:cNvPr id="8" name="label Perception (RQ2)"/>
          <p:cNvSpPr/>
          <p:nvPr/>
        </p:nvSpPr>
        <p:spPr>
          <a:xfrm>
            <a:off x="1097280" y="4617720"/>
            <a:ext cx="4206240" cy="2194560"/>
          </a:xfrm>
          <a:prstGeom prst="roundRect">
            <a:avLst>
              <a:gd name="adj" fmla="val 8333"/>
            </a:avLst>
          </a:prstGeom>
          <a:solidFill>
            <a:srgbClr val="4F81BD"/>
          </a:solidFill>
          <a:ln w="19050">
            <a:solidFill>
              <a:srgbClr val="FFFFFF"/>
            </a:solidFill>
            <a:prstDash val="solid"/>
          </a:ln>
        </p:spPr>
      </p:sp>
      <p:sp>
        <p:nvSpPr>
          <p:cNvPr id="9" name="Text 7"/>
          <p:cNvSpPr txBox="1"/>
          <p:nvPr/>
        </p:nvSpPr>
        <p:spPr>
          <a:xfrm>
            <a:off x="1097280" y="4617720"/>
            <a:ext cx="4206240" cy="219456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Perception (RQ2)</a:t>
            </a:r>
            <a:endParaRPr lang="en-US" sz="2800" dirty="0"/>
          </a:p>
        </p:txBody>
      </p:sp>
      <p:sp>
        <p:nvSpPr>
          <p:cNvPr id="10" name="Text 8"/>
          <p:cNvSpPr txBox="1"/>
          <p:nvPr/>
        </p:nvSpPr>
        <p:spPr>
          <a:xfrm>
            <a:off x="5486400" y="4727448"/>
            <a:ext cx="11384280" cy="1975104"/>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Positive (M = 57.69), in line with Saidam &amp; Eljedi (2020) and Alan et al. (2022); Küçük et al. (2023) found only moderate perceived preparedness despite training.</a:t>
            </a:r>
            <a:endParaRPr lang="en-US" sz="2200" dirty="0"/>
          </a:p>
        </p:txBody>
      </p:sp>
      <p:sp>
        <p:nvSpPr>
          <p:cNvPr id="11" name="card Self-Reported Practice (RQ3)"/>
          <p:cNvSpPr/>
          <p:nvPr/>
        </p:nvSpPr>
        <p:spPr>
          <a:xfrm>
            <a:off x="5029200" y="7104888"/>
            <a:ext cx="11978640" cy="1975104"/>
          </a:xfrm>
          <a:prstGeom prst="roundRect">
            <a:avLst>
              <a:gd name="adj" fmla="val 6944"/>
            </a:avLst>
          </a:prstGeom>
          <a:solidFill>
            <a:srgbClr val="D6DDEA"/>
          </a:solidFill>
          <a:ln w="12700">
            <a:solidFill>
              <a:srgbClr val="D6DDEA"/>
            </a:solidFill>
            <a:prstDash val="solid"/>
          </a:ln>
        </p:spPr>
      </p:sp>
      <p:sp>
        <p:nvSpPr>
          <p:cNvPr id="12" name="label Self-Reported Practice (RQ3)"/>
          <p:cNvSpPr/>
          <p:nvPr/>
        </p:nvSpPr>
        <p:spPr>
          <a:xfrm>
            <a:off x="1097280" y="6995160"/>
            <a:ext cx="4206240" cy="2194560"/>
          </a:xfrm>
          <a:prstGeom prst="roundRect">
            <a:avLst>
              <a:gd name="adj" fmla="val 8333"/>
            </a:avLst>
          </a:prstGeom>
          <a:solidFill>
            <a:srgbClr val="4F81BD"/>
          </a:solidFill>
          <a:ln w="19050">
            <a:solidFill>
              <a:srgbClr val="FFFFFF"/>
            </a:solidFill>
            <a:prstDash val="solid"/>
          </a:ln>
        </p:spPr>
      </p:sp>
      <p:sp>
        <p:nvSpPr>
          <p:cNvPr id="13" name="Text 11"/>
          <p:cNvSpPr txBox="1"/>
          <p:nvPr/>
        </p:nvSpPr>
        <p:spPr>
          <a:xfrm>
            <a:off x="1097280" y="6995160"/>
            <a:ext cx="4206240" cy="219456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Self-Reported Practice (RQ3)</a:t>
            </a:r>
            <a:endParaRPr lang="en-US" sz="2800" dirty="0"/>
          </a:p>
        </p:txBody>
      </p:sp>
      <p:sp>
        <p:nvSpPr>
          <p:cNvPr id="14" name="Text 12"/>
          <p:cNvSpPr txBox="1"/>
          <p:nvPr/>
        </p:nvSpPr>
        <p:spPr>
          <a:xfrm>
            <a:off x="5486400" y="7104888"/>
            <a:ext cx="11384280" cy="1975104"/>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High (M = 57.25), aligning with Younis et al. (2020), Song et al. (2021) and Hong et al. (2022); Karnjuš et al. (2021) and Thirunavukkarasu et al. (2025) reported practice gaps.</a:t>
            </a:r>
            <a:endParaRPr lang="en-US" sz="22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Discussion – Relationships and Prediction</a:t>
            </a:r>
            <a:endParaRPr lang="en-US" sz="5400" dirty="0"/>
          </a:p>
        </p:txBody>
      </p:sp>
      <p:sp>
        <p:nvSpPr>
          <p:cNvPr id="3" name="card Relationships (RQ4)"/>
          <p:cNvSpPr/>
          <p:nvPr/>
        </p:nvSpPr>
        <p:spPr>
          <a:xfrm>
            <a:off x="5029200" y="2350008"/>
            <a:ext cx="11978640" cy="1975104"/>
          </a:xfrm>
          <a:prstGeom prst="roundRect">
            <a:avLst>
              <a:gd name="adj" fmla="val 6944"/>
            </a:avLst>
          </a:prstGeom>
          <a:solidFill>
            <a:srgbClr val="D6DDEA"/>
          </a:solidFill>
          <a:ln w="12700">
            <a:solidFill>
              <a:srgbClr val="D6DDEA"/>
            </a:solidFill>
            <a:prstDash val="solid"/>
          </a:ln>
        </p:spPr>
      </p:sp>
      <p:sp>
        <p:nvSpPr>
          <p:cNvPr id="4" name="label Relationships (RQ4)"/>
          <p:cNvSpPr/>
          <p:nvPr/>
        </p:nvSpPr>
        <p:spPr>
          <a:xfrm>
            <a:off x="1097280" y="2240280"/>
            <a:ext cx="4206240" cy="2194560"/>
          </a:xfrm>
          <a:prstGeom prst="roundRect">
            <a:avLst>
              <a:gd name="adj" fmla="val 8333"/>
            </a:avLst>
          </a:prstGeom>
          <a:solidFill>
            <a:srgbClr val="4F81BD"/>
          </a:solidFill>
          <a:ln w="19050">
            <a:solidFill>
              <a:srgbClr val="FFFFFF"/>
            </a:solidFill>
            <a:prstDash val="solid"/>
          </a:ln>
        </p:spPr>
      </p:sp>
      <p:sp>
        <p:nvSpPr>
          <p:cNvPr id="5" name="Text 3"/>
          <p:cNvSpPr txBox="1"/>
          <p:nvPr/>
        </p:nvSpPr>
        <p:spPr>
          <a:xfrm>
            <a:off x="1097280" y="2240280"/>
            <a:ext cx="4206240" cy="219456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Relationships (RQ4)</a:t>
            </a:r>
            <a:endParaRPr lang="en-US" sz="2800" dirty="0"/>
          </a:p>
        </p:txBody>
      </p:sp>
      <p:sp>
        <p:nvSpPr>
          <p:cNvPr id="6" name="Text 4"/>
          <p:cNvSpPr txBox="1"/>
          <p:nvPr/>
        </p:nvSpPr>
        <p:spPr>
          <a:xfrm>
            <a:off x="5486400" y="2350008"/>
            <a:ext cx="11384280" cy="1975104"/>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Moderate positive correlations show the domains are related yet distinct. The strongest link was perception–practice (r = .58), similar to Thirunavukkarasu et al. (2025), Gandhi et al. (2021) and Alan et al. (2022).</a:t>
            </a:r>
            <a:endParaRPr lang="en-US" sz="2200" dirty="0"/>
          </a:p>
        </p:txBody>
      </p:sp>
      <p:sp>
        <p:nvSpPr>
          <p:cNvPr id="7" name="card Prediction (RQ5)"/>
          <p:cNvSpPr/>
          <p:nvPr/>
        </p:nvSpPr>
        <p:spPr>
          <a:xfrm>
            <a:off x="5029200" y="4727448"/>
            <a:ext cx="11978640" cy="1975104"/>
          </a:xfrm>
          <a:prstGeom prst="roundRect">
            <a:avLst>
              <a:gd name="adj" fmla="val 6944"/>
            </a:avLst>
          </a:prstGeom>
          <a:solidFill>
            <a:srgbClr val="D6DDEA"/>
          </a:solidFill>
          <a:ln w="12700">
            <a:solidFill>
              <a:srgbClr val="D6DDEA"/>
            </a:solidFill>
            <a:prstDash val="solid"/>
          </a:ln>
        </p:spPr>
      </p:sp>
      <p:sp>
        <p:nvSpPr>
          <p:cNvPr id="8" name="label Prediction (RQ5)"/>
          <p:cNvSpPr/>
          <p:nvPr/>
        </p:nvSpPr>
        <p:spPr>
          <a:xfrm>
            <a:off x="1097280" y="4617720"/>
            <a:ext cx="4206240" cy="2194560"/>
          </a:xfrm>
          <a:prstGeom prst="roundRect">
            <a:avLst>
              <a:gd name="adj" fmla="val 8333"/>
            </a:avLst>
          </a:prstGeom>
          <a:solidFill>
            <a:srgbClr val="4F81BD"/>
          </a:solidFill>
          <a:ln w="19050">
            <a:solidFill>
              <a:srgbClr val="FFFFFF"/>
            </a:solidFill>
            <a:prstDash val="solid"/>
          </a:ln>
        </p:spPr>
      </p:sp>
      <p:sp>
        <p:nvSpPr>
          <p:cNvPr id="9" name="Text 7"/>
          <p:cNvSpPr txBox="1"/>
          <p:nvPr/>
        </p:nvSpPr>
        <p:spPr>
          <a:xfrm>
            <a:off x="1097280" y="4617720"/>
            <a:ext cx="4206240" cy="219456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Prediction (RQ5)</a:t>
            </a:r>
            <a:endParaRPr lang="en-US" sz="2800" dirty="0"/>
          </a:p>
        </p:txBody>
      </p:sp>
      <p:sp>
        <p:nvSpPr>
          <p:cNvPr id="10" name="Text 8"/>
          <p:cNvSpPr txBox="1"/>
          <p:nvPr/>
        </p:nvSpPr>
        <p:spPr>
          <a:xfrm>
            <a:off x="5486400" y="4727448"/>
            <a:ext cx="11384280" cy="1975104"/>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Knowledge explained 27.0% of perception and 21.2% of practice, consistent with Hong et al. (2022) and Song et al. (2021). Yet 73.0% and 78.8% remained unexplained.</a:t>
            </a:r>
            <a:endParaRPr lang="en-US" sz="2200" dirty="0"/>
          </a:p>
        </p:txBody>
      </p:sp>
      <p:sp>
        <p:nvSpPr>
          <p:cNvPr id="11" name="card Other Factors"/>
          <p:cNvSpPr/>
          <p:nvPr/>
        </p:nvSpPr>
        <p:spPr>
          <a:xfrm>
            <a:off x="5029200" y="7104888"/>
            <a:ext cx="11978640" cy="1975104"/>
          </a:xfrm>
          <a:prstGeom prst="roundRect">
            <a:avLst>
              <a:gd name="adj" fmla="val 6944"/>
            </a:avLst>
          </a:prstGeom>
          <a:solidFill>
            <a:srgbClr val="D6DDEA"/>
          </a:solidFill>
          <a:ln w="12700">
            <a:solidFill>
              <a:srgbClr val="D6DDEA"/>
            </a:solidFill>
            <a:prstDash val="solid"/>
          </a:ln>
        </p:spPr>
      </p:sp>
      <p:sp>
        <p:nvSpPr>
          <p:cNvPr id="12" name="label Other Factors"/>
          <p:cNvSpPr/>
          <p:nvPr/>
        </p:nvSpPr>
        <p:spPr>
          <a:xfrm>
            <a:off x="1097280" y="6995160"/>
            <a:ext cx="4206240" cy="2194560"/>
          </a:xfrm>
          <a:prstGeom prst="roundRect">
            <a:avLst>
              <a:gd name="adj" fmla="val 8333"/>
            </a:avLst>
          </a:prstGeom>
          <a:solidFill>
            <a:srgbClr val="4F81BD"/>
          </a:solidFill>
          <a:ln w="19050">
            <a:solidFill>
              <a:srgbClr val="FFFFFF"/>
            </a:solidFill>
            <a:prstDash val="solid"/>
          </a:ln>
        </p:spPr>
      </p:sp>
      <p:sp>
        <p:nvSpPr>
          <p:cNvPr id="13" name="Text 11"/>
          <p:cNvSpPr txBox="1"/>
          <p:nvPr/>
        </p:nvSpPr>
        <p:spPr>
          <a:xfrm>
            <a:off x="1097280" y="6995160"/>
            <a:ext cx="4206240" cy="219456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Other Factors</a:t>
            </a:r>
            <a:endParaRPr lang="en-US" sz="2800" dirty="0"/>
          </a:p>
        </p:txBody>
      </p:sp>
      <p:sp>
        <p:nvSpPr>
          <p:cNvPr id="14" name="Text 12"/>
          <p:cNvSpPr txBox="1"/>
          <p:nvPr/>
        </p:nvSpPr>
        <p:spPr>
          <a:xfrm>
            <a:off x="5486400" y="7104888"/>
            <a:ext cx="11384280" cy="1975104"/>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Training, clinical experience, organizational support, staffing, leadership, resources, resilience and drill participation may explain additional variance.</a:t>
            </a:r>
            <a:endParaRPr lang="en-US" sz="22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Discussion – Group Differences</a:t>
            </a:r>
            <a:endParaRPr lang="en-US" sz="5400" dirty="0"/>
          </a:p>
        </p:txBody>
      </p:sp>
      <p:sp>
        <p:nvSpPr>
          <p:cNvPr id="3" name="card Gender (RQ6)"/>
          <p:cNvSpPr/>
          <p:nvPr/>
        </p:nvSpPr>
        <p:spPr>
          <a:xfrm>
            <a:off x="5029200" y="2350008"/>
            <a:ext cx="11978640" cy="1975104"/>
          </a:xfrm>
          <a:prstGeom prst="roundRect">
            <a:avLst>
              <a:gd name="adj" fmla="val 6944"/>
            </a:avLst>
          </a:prstGeom>
          <a:solidFill>
            <a:srgbClr val="D6DDEA"/>
          </a:solidFill>
          <a:ln w="12700">
            <a:solidFill>
              <a:srgbClr val="D6DDEA"/>
            </a:solidFill>
            <a:prstDash val="solid"/>
          </a:ln>
        </p:spPr>
      </p:sp>
      <p:sp>
        <p:nvSpPr>
          <p:cNvPr id="4" name="label Gender (RQ6)"/>
          <p:cNvSpPr/>
          <p:nvPr/>
        </p:nvSpPr>
        <p:spPr>
          <a:xfrm>
            <a:off x="1097280" y="2240280"/>
            <a:ext cx="4206240" cy="2194560"/>
          </a:xfrm>
          <a:prstGeom prst="roundRect">
            <a:avLst>
              <a:gd name="adj" fmla="val 8333"/>
            </a:avLst>
          </a:prstGeom>
          <a:solidFill>
            <a:srgbClr val="4F81BD"/>
          </a:solidFill>
          <a:ln w="19050">
            <a:solidFill>
              <a:srgbClr val="FFFFFF"/>
            </a:solidFill>
            <a:prstDash val="solid"/>
          </a:ln>
        </p:spPr>
      </p:sp>
      <p:sp>
        <p:nvSpPr>
          <p:cNvPr id="5" name="Text 3"/>
          <p:cNvSpPr txBox="1"/>
          <p:nvPr/>
        </p:nvSpPr>
        <p:spPr>
          <a:xfrm>
            <a:off x="1097280" y="2240280"/>
            <a:ext cx="4206240" cy="219456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Gender (RQ6)</a:t>
            </a:r>
            <a:endParaRPr lang="en-US" sz="2800" dirty="0"/>
          </a:p>
        </p:txBody>
      </p:sp>
      <p:sp>
        <p:nvSpPr>
          <p:cNvPr id="6" name="Text 4"/>
          <p:cNvSpPr txBox="1"/>
          <p:nvPr/>
        </p:nvSpPr>
        <p:spPr>
          <a:xfrm>
            <a:off x="5486400" y="2350008"/>
            <a:ext cx="11384280" cy="1975104"/>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Small differences favoring male nurses may reflect professional assignments, emergency exposure, training opportunities or sociocultural expectations rather than gender itself. Evidence is mixed (Hong et al., 2022; Chegini et al., 2022; AlOtaibi et al., 2024).</a:t>
            </a:r>
            <a:endParaRPr lang="en-US" sz="2200" dirty="0"/>
          </a:p>
        </p:txBody>
      </p:sp>
      <p:sp>
        <p:nvSpPr>
          <p:cNvPr id="7" name="card Education (RQ7)"/>
          <p:cNvSpPr/>
          <p:nvPr/>
        </p:nvSpPr>
        <p:spPr>
          <a:xfrm>
            <a:off x="5029200" y="4727448"/>
            <a:ext cx="11978640" cy="1975104"/>
          </a:xfrm>
          <a:prstGeom prst="roundRect">
            <a:avLst>
              <a:gd name="adj" fmla="val 6944"/>
            </a:avLst>
          </a:prstGeom>
          <a:solidFill>
            <a:srgbClr val="D6DDEA"/>
          </a:solidFill>
          <a:ln w="12700">
            <a:solidFill>
              <a:srgbClr val="D6DDEA"/>
            </a:solidFill>
            <a:prstDash val="solid"/>
          </a:ln>
        </p:spPr>
      </p:sp>
      <p:sp>
        <p:nvSpPr>
          <p:cNvPr id="8" name="label Education (RQ7)"/>
          <p:cNvSpPr/>
          <p:nvPr/>
        </p:nvSpPr>
        <p:spPr>
          <a:xfrm>
            <a:off x="1097280" y="4617720"/>
            <a:ext cx="4206240" cy="2194560"/>
          </a:xfrm>
          <a:prstGeom prst="roundRect">
            <a:avLst>
              <a:gd name="adj" fmla="val 8333"/>
            </a:avLst>
          </a:prstGeom>
          <a:solidFill>
            <a:srgbClr val="4F81BD"/>
          </a:solidFill>
          <a:ln w="19050">
            <a:solidFill>
              <a:srgbClr val="FFFFFF"/>
            </a:solidFill>
            <a:prstDash val="solid"/>
          </a:ln>
        </p:spPr>
      </p:sp>
      <p:sp>
        <p:nvSpPr>
          <p:cNvPr id="9" name="Text 7"/>
          <p:cNvSpPr txBox="1"/>
          <p:nvPr/>
        </p:nvSpPr>
        <p:spPr>
          <a:xfrm>
            <a:off x="1097280" y="4617720"/>
            <a:ext cx="4206240" cy="219456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Education (RQ7)</a:t>
            </a:r>
            <a:endParaRPr lang="en-US" sz="2800" dirty="0"/>
          </a:p>
        </p:txBody>
      </p:sp>
      <p:sp>
        <p:nvSpPr>
          <p:cNvPr id="10" name="Text 8"/>
          <p:cNvSpPr txBox="1"/>
          <p:nvPr/>
        </p:nvSpPr>
        <p:spPr>
          <a:xfrm>
            <a:off x="5486400" y="4727448"/>
            <a:ext cx="11384280" cy="1975104"/>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MSN-prepared nurses scored higher than diploma-prepared nurses, consistent with Chegini et al. (2022), Song et al. (2021) and Hung et al. (2021). Effects were small and the MSN group was small.</a:t>
            </a:r>
            <a:endParaRPr lang="en-US" sz="2200" dirty="0"/>
          </a:p>
        </p:txBody>
      </p:sp>
      <p:sp>
        <p:nvSpPr>
          <p:cNvPr id="11" name="card Interpretation"/>
          <p:cNvSpPr/>
          <p:nvPr/>
        </p:nvSpPr>
        <p:spPr>
          <a:xfrm>
            <a:off x="5029200" y="7104888"/>
            <a:ext cx="11978640" cy="1975104"/>
          </a:xfrm>
          <a:prstGeom prst="roundRect">
            <a:avLst>
              <a:gd name="adj" fmla="val 6944"/>
            </a:avLst>
          </a:prstGeom>
          <a:solidFill>
            <a:srgbClr val="D6DDEA"/>
          </a:solidFill>
          <a:ln w="12700">
            <a:solidFill>
              <a:srgbClr val="D6DDEA"/>
            </a:solidFill>
            <a:prstDash val="solid"/>
          </a:ln>
        </p:spPr>
      </p:sp>
      <p:sp>
        <p:nvSpPr>
          <p:cNvPr id="12" name="label Interpretation"/>
          <p:cNvSpPr/>
          <p:nvPr/>
        </p:nvSpPr>
        <p:spPr>
          <a:xfrm>
            <a:off x="1097280" y="6995160"/>
            <a:ext cx="4206240" cy="2194560"/>
          </a:xfrm>
          <a:prstGeom prst="roundRect">
            <a:avLst>
              <a:gd name="adj" fmla="val 8333"/>
            </a:avLst>
          </a:prstGeom>
          <a:solidFill>
            <a:srgbClr val="4F81BD"/>
          </a:solidFill>
          <a:ln w="19050">
            <a:solidFill>
              <a:srgbClr val="FFFFFF"/>
            </a:solidFill>
            <a:prstDash val="solid"/>
          </a:ln>
        </p:spPr>
      </p:sp>
      <p:sp>
        <p:nvSpPr>
          <p:cNvPr id="13" name="Text 11"/>
          <p:cNvSpPr txBox="1"/>
          <p:nvPr/>
        </p:nvSpPr>
        <p:spPr>
          <a:xfrm>
            <a:off x="1097280" y="6995160"/>
            <a:ext cx="4206240" cy="219456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Interpretation</a:t>
            </a:r>
            <a:endParaRPr lang="en-US" sz="2800" dirty="0"/>
          </a:p>
        </p:txBody>
      </p:sp>
      <p:sp>
        <p:nvSpPr>
          <p:cNvPr id="14" name="Text 12"/>
          <p:cNvSpPr txBox="1"/>
          <p:nvPr/>
        </p:nvSpPr>
        <p:spPr>
          <a:xfrm>
            <a:off x="5486400" y="7104888"/>
            <a:ext cx="11384280" cy="1975104"/>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Formal qualifications are not the only route to preparedness: experience, simulation, institutional protocols and lifelong learning also build competency.</a:t>
            </a:r>
            <a:endParaRPr lang="en-US" sz="22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Discussion – Integrated Interpretation</a:t>
            </a:r>
            <a:endParaRPr lang="en-US" sz="5400" dirty="0"/>
          </a:p>
        </p:txBody>
      </p:sp>
      <p:sp>
        <p:nvSpPr>
          <p:cNvPr id="3" name="Text 1"/>
          <p:cNvSpPr txBox="1"/>
          <p:nvPr/>
        </p:nvSpPr>
        <p:spPr>
          <a:xfrm>
            <a:off x="1097280" y="2286000"/>
            <a:ext cx="15910560" cy="3931920"/>
          </a:xfrm>
          <a:prstGeom prst="rect">
            <a:avLst/>
          </a:prstGeom>
          <a:noFill/>
          <a:ln/>
        </p:spPr>
        <p:txBody>
          <a:bodyPr wrap="square" rtlCol="0" anchor="t"/>
          <a:lstStyle/>
          <a:p>
            <a:pPr marL="342900" indent="-342900">
              <a:spcAft>
                <a:spcPts val="1800"/>
              </a:spcAft>
              <a:buSzPct val="100000"/>
              <a:buChar char="•"/>
            </a:pPr>
            <a:r>
              <a:rPr lang="en-US" sz="2800" dirty="0">
                <a:solidFill>
                  <a:srgbClr val="000000"/>
                </a:solidFill>
                <a:latin typeface="Times New Roman" pitchFamily="34" charset="0"/>
                <a:ea typeface="Times New Roman" pitchFamily="34" charset="-122"/>
                <a:cs typeface="Times New Roman" pitchFamily="34" charset="-120"/>
              </a:rPr>
              <a:t>Pandemic-disaster preparedness is multidimensional and does not depend on knowledge alone.</a:t>
            </a:r>
            <a:endParaRPr lang="en-US" sz="2800" dirty="0"/>
          </a:p>
          <a:p>
            <a:pPr marL="342900" indent="-342900">
              <a:spcAft>
                <a:spcPts val="1800"/>
              </a:spcAft>
              <a:buSzPct val="100000"/>
              <a:buChar char="•"/>
            </a:pPr>
            <a:r>
              <a:rPr lang="en-US" sz="2800" dirty="0">
                <a:solidFill>
                  <a:srgbClr val="000000"/>
                </a:solidFill>
                <a:latin typeface="Times New Roman" pitchFamily="34" charset="0"/>
                <a:ea typeface="Times New Roman" pitchFamily="34" charset="-122"/>
                <a:cs typeface="Times New Roman" pitchFamily="34" charset="-120"/>
              </a:rPr>
              <a:t>Nurses who felt more confident, supported and responsible reported more preparedness behaviors; the direction of this relationship cannot be determined.</a:t>
            </a:r>
            <a:endParaRPr lang="en-US" sz="2800" dirty="0"/>
          </a:p>
          <a:p>
            <a:pPr marL="342900" indent="-342900">
              <a:spcAft>
                <a:spcPts val="1800"/>
              </a:spcAft>
              <a:buSzPct val="100000"/>
              <a:buChar char="•"/>
            </a:pPr>
            <a:r>
              <a:rPr lang="en-US" sz="2800" dirty="0">
                <a:solidFill>
                  <a:srgbClr val="000000"/>
                </a:solidFill>
                <a:latin typeface="Times New Roman" pitchFamily="34" charset="0"/>
                <a:ea typeface="Times New Roman" pitchFamily="34" charset="-122"/>
                <a:cs typeface="Times New Roman" pitchFamily="34" charset="-120"/>
              </a:rPr>
              <a:t>Preparedness programs should combine theory with drills, multidisciplinary exercises, communication readiness, psychological-skills training, leadership support and periodic competency testing.</a:t>
            </a:r>
            <a:endParaRPr lang="en-US" sz="2800" dirty="0"/>
          </a:p>
        </p:txBody>
      </p:sp>
      <p:sp>
        <p:nvSpPr>
          <p:cNvPr id="4" name="banner"/>
          <p:cNvSpPr/>
          <p:nvPr/>
        </p:nvSpPr>
        <p:spPr>
          <a:xfrm>
            <a:off x="1097280" y="6400800"/>
            <a:ext cx="15910560" cy="2194560"/>
          </a:xfrm>
          <a:prstGeom prst="rect">
            <a:avLst/>
          </a:prstGeom>
          <a:solidFill>
            <a:srgbClr val="EEF1F7"/>
          </a:solidFill>
          <a:ln w="25400">
            <a:solidFill>
              <a:srgbClr val="1A3760"/>
            </a:solidFill>
            <a:prstDash val="solid"/>
          </a:ln>
        </p:spPr>
      </p:sp>
      <p:sp>
        <p:nvSpPr>
          <p:cNvPr id="5" name="Text 3"/>
          <p:cNvSpPr txBox="1"/>
          <p:nvPr/>
        </p:nvSpPr>
        <p:spPr>
          <a:xfrm>
            <a:off x="1280160" y="6400800"/>
            <a:ext cx="15544800" cy="2194560"/>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High scores are self-assessed, not proof of objective mastery; social desirability and COVID-19 exposure may have influenced responses. Objective testing and observed simulation would strengthen the evidence.</a:t>
            </a:r>
            <a:endParaRPr lang="en-US" sz="24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Strengths and Limitations of the Study</a:t>
            </a:r>
            <a:endParaRPr lang="en-US" sz="5400" dirty="0"/>
          </a:p>
        </p:txBody>
      </p:sp>
      <p:sp>
        <p:nvSpPr>
          <p:cNvPr id="3" name="strengths"/>
          <p:cNvSpPr/>
          <p:nvPr/>
        </p:nvSpPr>
        <p:spPr>
          <a:xfrm>
            <a:off x="1097280" y="2240280"/>
            <a:ext cx="6949440" cy="6995160"/>
          </a:xfrm>
          <a:prstGeom prst="roundRect">
            <a:avLst>
              <a:gd name="adj" fmla="val 2632"/>
            </a:avLst>
          </a:prstGeom>
          <a:solidFill>
            <a:srgbClr val="D6DDEA"/>
          </a:solidFill>
          <a:ln w="12700">
            <a:solidFill>
              <a:srgbClr val="D6DDEA"/>
            </a:solidFill>
            <a:prstDash val="solid"/>
          </a:ln>
        </p:spPr>
      </p:sp>
      <p:sp>
        <p:nvSpPr>
          <p:cNvPr id="4" name="Text 2"/>
          <p:cNvSpPr txBox="1"/>
          <p:nvPr/>
        </p:nvSpPr>
        <p:spPr>
          <a:xfrm>
            <a:off x="1371600" y="2468880"/>
            <a:ext cx="6400800" cy="6583680"/>
          </a:xfrm>
          <a:prstGeom prst="rect">
            <a:avLst/>
          </a:prstGeom>
          <a:noFill/>
          <a:ln/>
        </p:spPr>
        <p:txBody>
          <a:bodyPr wrap="square" rtlCol="0" anchor="t"/>
          <a:lstStyle/>
          <a:p>
            <a:pPr indent="0" marL="0">
              <a:spcAft>
                <a:spcPts val="1200"/>
              </a:spcAft>
              <a:buNone/>
            </a:pPr>
            <a:r>
              <a:rPr lang="en-US" sz="2800" b="1" dirty="0">
                <a:solidFill>
                  <a:srgbClr val="1A3760"/>
                </a:solidFill>
                <a:latin typeface="Times New Roman" pitchFamily="34" charset="0"/>
                <a:ea typeface="Times New Roman" pitchFamily="34" charset="-122"/>
                <a:cs typeface="Times New Roman" pitchFamily="34" charset="-120"/>
              </a:rPr>
              <a:t>Strengths of the Study</a:t>
            </a:r>
            <a:endParaRPr lang="en-US" sz="2800" dirty="0"/>
          </a:p>
          <a:p>
            <a:pPr marL="342900" indent="-342900">
              <a:spcAft>
                <a:spcPts val="1000"/>
              </a:spcAft>
              <a:buSzPct val="100000"/>
              <a:buChar char="•"/>
            </a:pPr>
            <a:r>
              <a:rPr lang="en-US" sz="2300" dirty="0">
                <a:solidFill>
                  <a:srgbClr val="000000"/>
                </a:solidFill>
                <a:latin typeface="Times New Roman" pitchFamily="34" charset="0"/>
                <a:ea typeface="Times New Roman" pitchFamily="34" charset="-122"/>
                <a:cs typeface="Times New Roman" pitchFamily="34" charset="-120"/>
              </a:rPr>
              <a:t>Assessed all three domains together, with their relationships.</a:t>
            </a:r>
            <a:endParaRPr lang="en-US" sz="2800" dirty="0"/>
          </a:p>
          <a:p>
            <a:pPr marL="342900" indent="-342900">
              <a:spcAft>
                <a:spcPts val="1000"/>
              </a:spcAft>
              <a:buSzPct val="100000"/>
              <a:buChar char="•"/>
            </a:pPr>
            <a:r>
              <a:rPr lang="en-US" sz="2300" dirty="0">
                <a:solidFill>
                  <a:srgbClr val="000000"/>
                </a:solidFill>
                <a:latin typeface="Times New Roman" pitchFamily="34" charset="0"/>
                <a:ea typeface="Times New Roman" pitchFamily="34" charset="-122"/>
                <a:cs typeface="Times New Roman" pitchFamily="34" charset="-120"/>
              </a:rPr>
              <a:t>First assessment of its kind in Taif governmental hospitals.</a:t>
            </a:r>
            <a:endParaRPr lang="en-US" sz="2800" dirty="0"/>
          </a:p>
          <a:p>
            <a:pPr marL="342900" indent="-342900">
              <a:spcAft>
                <a:spcPts val="1000"/>
              </a:spcAft>
              <a:buSzPct val="100000"/>
              <a:buChar char="•"/>
            </a:pPr>
            <a:r>
              <a:rPr lang="en-US" sz="2300" dirty="0">
                <a:solidFill>
                  <a:srgbClr val="000000"/>
                </a:solidFill>
                <a:latin typeface="Times New Roman" pitchFamily="34" charset="0"/>
                <a:ea typeface="Times New Roman" pitchFamily="34" charset="-122"/>
                <a:cs typeface="Times New Roman" pitchFamily="34" charset="-120"/>
              </a:rPr>
              <a:t>Sample of 300 exceeded the minimum of 159.</a:t>
            </a:r>
            <a:endParaRPr lang="en-US" sz="2800" dirty="0"/>
          </a:p>
          <a:p>
            <a:pPr marL="342900" indent="-342900">
              <a:spcAft>
                <a:spcPts val="1000"/>
              </a:spcAft>
              <a:buSzPct val="100000"/>
              <a:buChar char="•"/>
            </a:pPr>
            <a:r>
              <a:rPr lang="en-US" sz="2300" dirty="0">
                <a:solidFill>
                  <a:srgbClr val="000000"/>
                </a:solidFill>
                <a:latin typeface="Times New Roman" pitchFamily="34" charset="0"/>
                <a:ea typeface="Times New Roman" pitchFamily="34" charset="-122"/>
                <a:cs typeface="Times New Roman" pitchFamily="34" charset="-120"/>
              </a:rPr>
              <a:t>Pilot-tested instrument with acceptable reliability (α = .73–.91).</a:t>
            </a:r>
            <a:endParaRPr lang="en-US" sz="2800" dirty="0"/>
          </a:p>
        </p:txBody>
      </p:sp>
      <p:sp>
        <p:nvSpPr>
          <p:cNvPr id="5" name="limitations"/>
          <p:cNvSpPr/>
          <p:nvPr/>
        </p:nvSpPr>
        <p:spPr>
          <a:xfrm>
            <a:off x="8412480" y="2240280"/>
            <a:ext cx="8778240" cy="6995160"/>
          </a:xfrm>
          <a:prstGeom prst="roundRect">
            <a:avLst>
              <a:gd name="adj" fmla="val 2614"/>
            </a:avLst>
          </a:prstGeom>
          <a:solidFill>
            <a:srgbClr val="EEF1F7"/>
          </a:solidFill>
          <a:ln w="12700">
            <a:solidFill>
              <a:srgbClr val="EEF1F7"/>
            </a:solidFill>
            <a:prstDash val="solid"/>
          </a:ln>
        </p:spPr>
      </p:sp>
      <p:sp>
        <p:nvSpPr>
          <p:cNvPr id="6" name="Text 4"/>
          <p:cNvSpPr txBox="1"/>
          <p:nvPr/>
        </p:nvSpPr>
        <p:spPr>
          <a:xfrm>
            <a:off x="8686800" y="2468880"/>
            <a:ext cx="8229600" cy="6583680"/>
          </a:xfrm>
          <a:prstGeom prst="rect">
            <a:avLst/>
          </a:prstGeom>
          <a:noFill/>
          <a:ln/>
        </p:spPr>
        <p:txBody>
          <a:bodyPr wrap="square" rtlCol="0" anchor="t"/>
          <a:lstStyle/>
          <a:p>
            <a:pPr indent="0" marL="0">
              <a:spcAft>
                <a:spcPts val="1200"/>
              </a:spcAft>
              <a:buNone/>
            </a:pPr>
            <a:r>
              <a:rPr lang="en-US" sz="2800" b="1" dirty="0">
                <a:solidFill>
                  <a:srgbClr val="1A3760"/>
                </a:solidFill>
                <a:latin typeface="Times New Roman" pitchFamily="34" charset="0"/>
                <a:ea typeface="Times New Roman" pitchFamily="34" charset="-122"/>
                <a:cs typeface="Times New Roman" pitchFamily="34" charset="-120"/>
              </a:rPr>
              <a:t>Limitations of the Study</a:t>
            </a:r>
            <a:endParaRPr lang="en-US" sz="2800" dirty="0"/>
          </a:p>
          <a:p>
            <a:pPr marL="342900" indent="-342900">
              <a:spcAft>
                <a:spcPts val="1000"/>
              </a:spcAft>
              <a:buSzPct val="100000"/>
              <a:buChar char="•"/>
            </a:pPr>
            <a:r>
              <a:rPr lang="en-US" sz="2300" dirty="0">
                <a:solidFill>
                  <a:srgbClr val="000000"/>
                </a:solidFill>
                <a:latin typeface="Times New Roman" pitchFamily="34" charset="0"/>
                <a:ea typeface="Times New Roman" pitchFamily="34" charset="-122"/>
                <a:cs typeface="Times New Roman" pitchFamily="34" charset="-120"/>
              </a:rPr>
              <a:t>Cross-sectional design: associations only, no causal conclusions.</a:t>
            </a:r>
            <a:endParaRPr lang="en-US" sz="2800" dirty="0"/>
          </a:p>
          <a:p>
            <a:pPr marL="342900" indent="-342900">
              <a:spcAft>
                <a:spcPts val="1000"/>
              </a:spcAft>
              <a:buSzPct val="100000"/>
              <a:buChar char="•"/>
            </a:pPr>
            <a:r>
              <a:rPr lang="en-US" sz="2300" dirty="0">
                <a:solidFill>
                  <a:srgbClr val="000000"/>
                </a:solidFill>
                <a:latin typeface="Times New Roman" pitchFamily="34" charset="0"/>
                <a:ea typeface="Times New Roman" pitchFamily="34" charset="-122"/>
                <a:cs typeface="Times New Roman" pitchFamily="34" charset="-120"/>
              </a:rPr>
              <a:t>Purposive sampling restricted to Taif governmental hospitals limits generalizability.</a:t>
            </a:r>
            <a:endParaRPr lang="en-US" sz="2800" dirty="0"/>
          </a:p>
          <a:p>
            <a:pPr marL="342900" indent="-342900">
              <a:spcAft>
                <a:spcPts val="1000"/>
              </a:spcAft>
              <a:buSzPct val="100000"/>
              <a:buChar char="•"/>
            </a:pPr>
            <a:r>
              <a:rPr lang="en-US" sz="2300" dirty="0">
                <a:solidFill>
                  <a:srgbClr val="000000"/>
                </a:solidFill>
                <a:latin typeface="Times New Roman" pitchFamily="34" charset="0"/>
                <a:ea typeface="Times New Roman" pitchFamily="34" charset="-122"/>
                <a:cs typeface="Times New Roman" pitchFamily="34" charset="-120"/>
              </a:rPr>
              <a:t>Self-report may involve recall, response and social-desirability bias.</a:t>
            </a:r>
            <a:endParaRPr lang="en-US" sz="2800" dirty="0"/>
          </a:p>
          <a:p>
            <a:pPr marL="342900" indent="-342900">
              <a:spcAft>
                <a:spcPts val="1000"/>
              </a:spcAft>
              <a:buSzPct val="100000"/>
              <a:buChar char="•"/>
            </a:pPr>
            <a:r>
              <a:rPr lang="en-US" sz="2300" dirty="0">
                <a:solidFill>
                  <a:srgbClr val="000000"/>
                </a:solidFill>
                <a:latin typeface="Times New Roman" pitchFamily="34" charset="0"/>
                <a:ea typeface="Times New Roman" pitchFamily="34" charset="-122"/>
                <a:cs typeface="Times New Roman" pitchFamily="34" charset="-120"/>
              </a:rPr>
              <a:t>Limited validity evidence: pilot supports face validity only.</a:t>
            </a:r>
            <a:endParaRPr lang="en-US" sz="2800" dirty="0"/>
          </a:p>
          <a:p>
            <a:pPr marL="342900" indent="-342900">
              <a:spcAft>
                <a:spcPts val="1000"/>
              </a:spcAft>
              <a:buSzPct val="100000"/>
              <a:buChar char="•"/>
            </a:pPr>
            <a:r>
              <a:rPr lang="en-US" sz="2300" dirty="0">
                <a:solidFill>
                  <a:srgbClr val="000000"/>
                </a:solidFill>
                <a:latin typeface="Times New Roman" pitchFamily="34" charset="0"/>
                <a:ea typeface="Times New Roman" pitchFamily="34" charset="-122"/>
                <a:cs typeface="Times New Roman" pitchFamily="34" charset="-120"/>
              </a:rPr>
              <a:t>Knowledge was self-perceived and practice self-reported, not tested or observed.</a:t>
            </a:r>
            <a:endParaRPr lang="en-US" sz="2800" dirty="0"/>
          </a:p>
          <a:p>
            <a:pPr marL="342900" indent="-342900">
              <a:spcAft>
                <a:spcPts val="1000"/>
              </a:spcAft>
              <a:buSzPct val="100000"/>
              <a:buChar char="•"/>
            </a:pPr>
            <a:r>
              <a:rPr lang="en-US" sz="2300" dirty="0">
                <a:solidFill>
                  <a:srgbClr val="000000"/>
                </a:solidFill>
                <a:latin typeface="Times New Roman" pitchFamily="34" charset="0"/>
                <a:ea typeface="Times New Roman" pitchFamily="34" charset="-122"/>
                <a:cs typeface="Times New Roman" pitchFamily="34" charset="-120"/>
              </a:rPr>
              <a:t>Unequal educational groups, especially the small MSN group.</a:t>
            </a:r>
            <a:endParaRPr lang="en-US" sz="28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Recommendations</a:t>
            </a:r>
            <a:endParaRPr lang="en-US" sz="5400" dirty="0"/>
          </a:p>
        </p:txBody>
      </p:sp>
      <p:sp>
        <p:nvSpPr>
          <p:cNvPr id="3" name="card Simulation-Based Training"/>
          <p:cNvSpPr/>
          <p:nvPr/>
        </p:nvSpPr>
        <p:spPr>
          <a:xfrm>
            <a:off x="5120640" y="2304288"/>
            <a:ext cx="11887200" cy="896112"/>
          </a:xfrm>
          <a:prstGeom prst="roundRect">
            <a:avLst>
              <a:gd name="adj" fmla="val 15306"/>
            </a:avLst>
          </a:prstGeom>
          <a:solidFill>
            <a:srgbClr val="D6DDEA"/>
          </a:solidFill>
          <a:ln w="12700">
            <a:solidFill>
              <a:srgbClr val="D6DDEA"/>
            </a:solidFill>
            <a:prstDash val="solid"/>
          </a:ln>
        </p:spPr>
      </p:sp>
      <p:sp>
        <p:nvSpPr>
          <p:cNvPr id="4" name="label Simulation-Based Training"/>
          <p:cNvSpPr/>
          <p:nvPr/>
        </p:nvSpPr>
        <p:spPr>
          <a:xfrm>
            <a:off x="1097280" y="2194560"/>
            <a:ext cx="4297680" cy="1115568"/>
          </a:xfrm>
          <a:prstGeom prst="roundRect">
            <a:avLst>
              <a:gd name="adj" fmla="val 16393"/>
            </a:avLst>
          </a:prstGeom>
          <a:solidFill>
            <a:srgbClr val="4F81BD"/>
          </a:solidFill>
          <a:ln w="19050">
            <a:solidFill>
              <a:srgbClr val="FFFFFF"/>
            </a:solidFill>
            <a:prstDash val="solid"/>
          </a:ln>
        </p:spPr>
      </p:sp>
      <p:sp>
        <p:nvSpPr>
          <p:cNvPr id="5" name="Text 3"/>
          <p:cNvSpPr txBox="1"/>
          <p:nvPr/>
        </p:nvSpPr>
        <p:spPr>
          <a:xfrm>
            <a:off x="1097280" y="2194560"/>
            <a:ext cx="4297680" cy="1115568"/>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Simulation-Based Training</a:t>
            </a:r>
            <a:endParaRPr lang="en-US" sz="2800" dirty="0"/>
          </a:p>
        </p:txBody>
      </p:sp>
      <p:sp>
        <p:nvSpPr>
          <p:cNvPr id="6" name="Text 4"/>
          <p:cNvSpPr txBox="1"/>
          <p:nvPr/>
        </p:nvSpPr>
        <p:spPr>
          <a:xfrm>
            <a:off x="5577840" y="2304288"/>
            <a:ext cx="11292840" cy="896112"/>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Strengthen realistic simulation exercises to improve decision making, communication and team coordination under pressure.</a:t>
            </a:r>
            <a:endParaRPr lang="en-US" sz="2200" dirty="0"/>
          </a:p>
        </p:txBody>
      </p:sp>
      <p:sp>
        <p:nvSpPr>
          <p:cNvPr id="7" name="card Communication Protocols"/>
          <p:cNvSpPr/>
          <p:nvPr/>
        </p:nvSpPr>
        <p:spPr>
          <a:xfrm>
            <a:off x="5120640" y="3511296"/>
            <a:ext cx="11887200" cy="896112"/>
          </a:xfrm>
          <a:prstGeom prst="roundRect">
            <a:avLst>
              <a:gd name="adj" fmla="val 15306"/>
            </a:avLst>
          </a:prstGeom>
          <a:solidFill>
            <a:srgbClr val="D6DDEA"/>
          </a:solidFill>
          <a:ln w="12700">
            <a:solidFill>
              <a:srgbClr val="D6DDEA"/>
            </a:solidFill>
            <a:prstDash val="solid"/>
          </a:ln>
        </p:spPr>
      </p:sp>
      <p:sp>
        <p:nvSpPr>
          <p:cNvPr id="8" name="label Communication Protocols"/>
          <p:cNvSpPr/>
          <p:nvPr/>
        </p:nvSpPr>
        <p:spPr>
          <a:xfrm>
            <a:off x="1097280" y="3401568"/>
            <a:ext cx="4297680" cy="1115568"/>
          </a:xfrm>
          <a:prstGeom prst="roundRect">
            <a:avLst>
              <a:gd name="adj" fmla="val 16393"/>
            </a:avLst>
          </a:prstGeom>
          <a:solidFill>
            <a:srgbClr val="4F81BD"/>
          </a:solidFill>
          <a:ln w="19050">
            <a:solidFill>
              <a:srgbClr val="FFFFFF"/>
            </a:solidFill>
            <a:prstDash val="solid"/>
          </a:ln>
        </p:spPr>
      </p:sp>
      <p:sp>
        <p:nvSpPr>
          <p:cNvPr id="9" name="Text 7"/>
          <p:cNvSpPr txBox="1"/>
          <p:nvPr/>
        </p:nvSpPr>
        <p:spPr>
          <a:xfrm>
            <a:off x="1097280" y="3401568"/>
            <a:ext cx="4297680" cy="1115568"/>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Communication Protocols</a:t>
            </a:r>
            <a:endParaRPr lang="en-US" sz="2800" dirty="0"/>
          </a:p>
        </p:txBody>
      </p:sp>
      <p:sp>
        <p:nvSpPr>
          <p:cNvPr id="10" name="Text 8"/>
          <p:cNvSpPr txBox="1"/>
          <p:nvPr/>
        </p:nvSpPr>
        <p:spPr>
          <a:xfrm>
            <a:off x="5577840" y="3511296"/>
            <a:ext cx="11292840" cy="896112"/>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Strengthen and regularly practice common communication protocols and chains of command.</a:t>
            </a:r>
            <a:endParaRPr lang="en-US" sz="2200" dirty="0"/>
          </a:p>
        </p:txBody>
      </p:sp>
      <p:sp>
        <p:nvSpPr>
          <p:cNvPr id="11" name="card Psychological Support"/>
          <p:cNvSpPr/>
          <p:nvPr/>
        </p:nvSpPr>
        <p:spPr>
          <a:xfrm>
            <a:off x="5120640" y="4718304"/>
            <a:ext cx="11887200" cy="896112"/>
          </a:xfrm>
          <a:prstGeom prst="roundRect">
            <a:avLst>
              <a:gd name="adj" fmla="val 15306"/>
            </a:avLst>
          </a:prstGeom>
          <a:solidFill>
            <a:srgbClr val="D6DDEA"/>
          </a:solidFill>
          <a:ln w="12700">
            <a:solidFill>
              <a:srgbClr val="D6DDEA"/>
            </a:solidFill>
            <a:prstDash val="solid"/>
          </a:ln>
        </p:spPr>
      </p:sp>
      <p:sp>
        <p:nvSpPr>
          <p:cNvPr id="12" name="label Psychological Support"/>
          <p:cNvSpPr/>
          <p:nvPr/>
        </p:nvSpPr>
        <p:spPr>
          <a:xfrm>
            <a:off x="1097280" y="4608576"/>
            <a:ext cx="4297680" cy="1115568"/>
          </a:xfrm>
          <a:prstGeom prst="roundRect">
            <a:avLst>
              <a:gd name="adj" fmla="val 16393"/>
            </a:avLst>
          </a:prstGeom>
          <a:solidFill>
            <a:srgbClr val="4F81BD"/>
          </a:solidFill>
          <a:ln w="19050">
            <a:solidFill>
              <a:srgbClr val="FFFFFF"/>
            </a:solidFill>
            <a:prstDash val="solid"/>
          </a:ln>
        </p:spPr>
      </p:sp>
      <p:sp>
        <p:nvSpPr>
          <p:cNvPr id="13" name="Text 11"/>
          <p:cNvSpPr txBox="1"/>
          <p:nvPr/>
        </p:nvSpPr>
        <p:spPr>
          <a:xfrm>
            <a:off x="1097280" y="4608576"/>
            <a:ext cx="4297680" cy="1115568"/>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Psychological Support</a:t>
            </a:r>
            <a:endParaRPr lang="en-US" sz="2800" dirty="0"/>
          </a:p>
        </p:txBody>
      </p:sp>
      <p:sp>
        <p:nvSpPr>
          <p:cNvPr id="14" name="Text 12"/>
          <p:cNvSpPr txBox="1"/>
          <p:nvPr/>
        </p:nvSpPr>
        <p:spPr>
          <a:xfrm>
            <a:off x="5577840" y="4718304"/>
            <a:ext cx="11292840" cy="896112"/>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Provide stress-management programs, counseling and resilience-building workshops.</a:t>
            </a:r>
            <a:endParaRPr lang="en-US" sz="2200" dirty="0"/>
          </a:p>
        </p:txBody>
      </p:sp>
      <p:sp>
        <p:nvSpPr>
          <p:cNvPr id="15" name="card Professional Development"/>
          <p:cNvSpPr/>
          <p:nvPr/>
        </p:nvSpPr>
        <p:spPr>
          <a:xfrm>
            <a:off x="5120640" y="5925312"/>
            <a:ext cx="11887200" cy="896112"/>
          </a:xfrm>
          <a:prstGeom prst="roundRect">
            <a:avLst>
              <a:gd name="adj" fmla="val 15306"/>
            </a:avLst>
          </a:prstGeom>
          <a:solidFill>
            <a:srgbClr val="D6DDEA"/>
          </a:solidFill>
          <a:ln w="12700">
            <a:solidFill>
              <a:srgbClr val="D6DDEA"/>
            </a:solidFill>
            <a:prstDash val="solid"/>
          </a:ln>
        </p:spPr>
      </p:sp>
      <p:sp>
        <p:nvSpPr>
          <p:cNvPr id="16" name="label Professional Development"/>
          <p:cNvSpPr/>
          <p:nvPr/>
        </p:nvSpPr>
        <p:spPr>
          <a:xfrm>
            <a:off x="1097280" y="5815584"/>
            <a:ext cx="4297680" cy="1115568"/>
          </a:xfrm>
          <a:prstGeom prst="roundRect">
            <a:avLst>
              <a:gd name="adj" fmla="val 16393"/>
            </a:avLst>
          </a:prstGeom>
          <a:solidFill>
            <a:srgbClr val="4F81BD"/>
          </a:solidFill>
          <a:ln w="19050">
            <a:solidFill>
              <a:srgbClr val="FFFFFF"/>
            </a:solidFill>
            <a:prstDash val="solid"/>
          </a:ln>
        </p:spPr>
      </p:sp>
      <p:sp>
        <p:nvSpPr>
          <p:cNvPr id="17" name="Text 15"/>
          <p:cNvSpPr txBox="1"/>
          <p:nvPr/>
        </p:nvSpPr>
        <p:spPr>
          <a:xfrm>
            <a:off x="1097280" y="5815584"/>
            <a:ext cx="4297680" cy="1115568"/>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Professional Development</a:t>
            </a:r>
            <a:endParaRPr lang="en-US" sz="2800" dirty="0"/>
          </a:p>
        </p:txBody>
      </p:sp>
      <p:sp>
        <p:nvSpPr>
          <p:cNvPr id="18" name="Text 16"/>
          <p:cNvSpPr txBox="1"/>
          <p:nvPr/>
        </p:nvSpPr>
        <p:spPr>
          <a:xfrm>
            <a:off x="5577840" y="5925312"/>
            <a:ext cx="11292840" cy="896112"/>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Use practical exercises, case-based learning and reflective practice rather than theory alone.</a:t>
            </a:r>
            <a:endParaRPr lang="en-US" sz="2200" dirty="0"/>
          </a:p>
        </p:txBody>
      </p:sp>
      <p:sp>
        <p:nvSpPr>
          <p:cNvPr id="19" name="card Periodic Review"/>
          <p:cNvSpPr/>
          <p:nvPr/>
        </p:nvSpPr>
        <p:spPr>
          <a:xfrm>
            <a:off x="5120640" y="7132320"/>
            <a:ext cx="11887200" cy="896112"/>
          </a:xfrm>
          <a:prstGeom prst="roundRect">
            <a:avLst>
              <a:gd name="adj" fmla="val 15306"/>
            </a:avLst>
          </a:prstGeom>
          <a:solidFill>
            <a:srgbClr val="D6DDEA"/>
          </a:solidFill>
          <a:ln w="12700">
            <a:solidFill>
              <a:srgbClr val="D6DDEA"/>
            </a:solidFill>
            <a:prstDash val="solid"/>
          </a:ln>
        </p:spPr>
      </p:sp>
      <p:sp>
        <p:nvSpPr>
          <p:cNvPr id="20" name="label Periodic Review"/>
          <p:cNvSpPr/>
          <p:nvPr/>
        </p:nvSpPr>
        <p:spPr>
          <a:xfrm>
            <a:off x="1097280" y="7022592"/>
            <a:ext cx="4297680" cy="1115568"/>
          </a:xfrm>
          <a:prstGeom prst="roundRect">
            <a:avLst>
              <a:gd name="adj" fmla="val 16393"/>
            </a:avLst>
          </a:prstGeom>
          <a:solidFill>
            <a:srgbClr val="4F81BD"/>
          </a:solidFill>
          <a:ln w="19050">
            <a:solidFill>
              <a:srgbClr val="FFFFFF"/>
            </a:solidFill>
            <a:prstDash val="solid"/>
          </a:ln>
        </p:spPr>
      </p:sp>
      <p:sp>
        <p:nvSpPr>
          <p:cNvPr id="21" name="Text 19"/>
          <p:cNvSpPr txBox="1"/>
          <p:nvPr/>
        </p:nvSpPr>
        <p:spPr>
          <a:xfrm>
            <a:off x="1097280" y="7022592"/>
            <a:ext cx="4297680" cy="1115568"/>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Periodic Review</a:t>
            </a:r>
            <a:endParaRPr lang="en-US" sz="2800" dirty="0"/>
          </a:p>
        </p:txBody>
      </p:sp>
      <p:sp>
        <p:nvSpPr>
          <p:cNvPr id="22" name="Text 20"/>
          <p:cNvSpPr txBox="1"/>
          <p:nvPr/>
        </p:nvSpPr>
        <p:spPr>
          <a:xfrm>
            <a:off x="5577840" y="7132320"/>
            <a:ext cx="11292840" cy="896112"/>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Review and give feedback after drills and actual incidents to detect weaknesses and improve.</a:t>
            </a:r>
            <a:endParaRPr lang="en-US" sz="2200" dirty="0"/>
          </a:p>
        </p:txBody>
      </p:sp>
      <p:sp>
        <p:nvSpPr>
          <p:cNvPr id="23" name="card Policy"/>
          <p:cNvSpPr/>
          <p:nvPr/>
        </p:nvSpPr>
        <p:spPr>
          <a:xfrm>
            <a:off x="5120640" y="8339328"/>
            <a:ext cx="11887200" cy="896112"/>
          </a:xfrm>
          <a:prstGeom prst="roundRect">
            <a:avLst>
              <a:gd name="adj" fmla="val 15306"/>
            </a:avLst>
          </a:prstGeom>
          <a:solidFill>
            <a:srgbClr val="D6DDEA"/>
          </a:solidFill>
          <a:ln w="12700">
            <a:solidFill>
              <a:srgbClr val="D6DDEA"/>
            </a:solidFill>
            <a:prstDash val="solid"/>
          </a:ln>
        </p:spPr>
      </p:sp>
      <p:sp>
        <p:nvSpPr>
          <p:cNvPr id="24" name="label Policy"/>
          <p:cNvSpPr/>
          <p:nvPr/>
        </p:nvSpPr>
        <p:spPr>
          <a:xfrm>
            <a:off x="1097280" y="8229600"/>
            <a:ext cx="4297680" cy="1115568"/>
          </a:xfrm>
          <a:prstGeom prst="roundRect">
            <a:avLst>
              <a:gd name="adj" fmla="val 16393"/>
            </a:avLst>
          </a:prstGeom>
          <a:solidFill>
            <a:srgbClr val="4F81BD"/>
          </a:solidFill>
          <a:ln w="19050">
            <a:solidFill>
              <a:srgbClr val="FFFFFF"/>
            </a:solidFill>
            <a:prstDash val="solid"/>
          </a:ln>
        </p:spPr>
      </p:sp>
      <p:sp>
        <p:nvSpPr>
          <p:cNvPr id="25" name="Text 23"/>
          <p:cNvSpPr txBox="1"/>
          <p:nvPr/>
        </p:nvSpPr>
        <p:spPr>
          <a:xfrm>
            <a:off x="1097280" y="8229600"/>
            <a:ext cx="4297680" cy="1115568"/>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Policy</a:t>
            </a:r>
            <a:endParaRPr lang="en-US" sz="2800" dirty="0"/>
          </a:p>
        </p:txBody>
      </p:sp>
      <p:sp>
        <p:nvSpPr>
          <p:cNvPr id="26" name="Text 24"/>
          <p:cNvSpPr txBox="1"/>
          <p:nvPr/>
        </p:nvSpPr>
        <p:spPr>
          <a:xfrm>
            <a:off x="5577840" y="8339328"/>
            <a:ext cx="11292840" cy="896112"/>
          </a:xfrm>
          <a:prstGeom prst="rect">
            <a:avLst/>
          </a:prstGeom>
          <a:noFill/>
          <a:ln/>
        </p:spPr>
        <p:txBody>
          <a:bodyPr wrap="square" lIns="50800" tIns="50800" rIns="50800" bIns="50800" rtlCol="0" anchor="ctr"/>
          <a:lstStyle/>
          <a:p>
            <a:pPr indent="0" marL="0">
              <a:buNone/>
            </a:pPr>
            <a:r>
              <a:rPr lang="en-US" sz="2200" dirty="0">
                <a:solidFill>
                  <a:srgbClr val="000000"/>
                </a:solidFill>
                <a:latin typeface="Times New Roman" pitchFamily="34" charset="0"/>
                <a:ea typeface="Times New Roman" pitchFamily="34" charset="-122"/>
                <a:cs typeface="Times New Roman" pitchFamily="34" charset="-120"/>
              </a:rPr>
              <a:t>Include disaster preparedness in compulsory institutional and national nursing competencies.</a:t>
            </a:r>
            <a:endParaRPr lang="en-US" sz="22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Recommendations for Future Research</a:t>
            </a:r>
            <a:endParaRPr lang="en-US" sz="5400" dirty="0"/>
          </a:p>
        </p:txBody>
      </p:sp>
      <p:sp>
        <p:nvSpPr>
          <p:cNvPr id="3" name="card Design"/>
          <p:cNvSpPr/>
          <p:nvPr/>
        </p:nvSpPr>
        <p:spPr>
          <a:xfrm>
            <a:off x="4663440" y="2350008"/>
            <a:ext cx="12344400" cy="1078992"/>
          </a:xfrm>
          <a:prstGeom prst="roundRect">
            <a:avLst>
              <a:gd name="adj" fmla="val 12712"/>
            </a:avLst>
          </a:prstGeom>
          <a:solidFill>
            <a:srgbClr val="D6DDEA"/>
          </a:solidFill>
          <a:ln w="12700">
            <a:solidFill>
              <a:srgbClr val="D6DDEA"/>
            </a:solidFill>
            <a:prstDash val="solid"/>
          </a:ln>
        </p:spPr>
      </p:sp>
      <p:sp>
        <p:nvSpPr>
          <p:cNvPr id="4" name="label Design"/>
          <p:cNvSpPr/>
          <p:nvPr/>
        </p:nvSpPr>
        <p:spPr>
          <a:xfrm>
            <a:off x="1097280" y="2240280"/>
            <a:ext cx="3840480" cy="1298448"/>
          </a:xfrm>
          <a:prstGeom prst="roundRect">
            <a:avLst>
              <a:gd name="adj" fmla="val 14085"/>
            </a:avLst>
          </a:prstGeom>
          <a:solidFill>
            <a:srgbClr val="4F81BD"/>
          </a:solidFill>
          <a:ln w="19050">
            <a:solidFill>
              <a:srgbClr val="FFFFFF"/>
            </a:solidFill>
            <a:prstDash val="solid"/>
          </a:ln>
        </p:spPr>
      </p:sp>
      <p:sp>
        <p:nvSpPr>
          <p:cNvPr id="5" name="Text 3"/>
          <p:cNvSpPr txBox="1"/>
          <p:nvPr/>
        </p:nvSpPr>
        <p:spPr>
          <a:xfrm>
            <a:off x="1097280" y="2240280"/>
            <a:ext cx="3840480" cy="1298448"/>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Design</a:t>
            </a:r>
            <a:endParaRPr lang="en-US" sz="2800" dirty="0"/>
          </a:p>
        </p:txBody>
      </p:sp>
      <p:sp>
        <p:nvSpPr>
          <p:cNvPr id="6" name="Text 4"/>
          <p:cNvSpPr txBox="1"/>
          <p:nvPr/>
        </p:nvSpPr>
        <p:spPr>
          <a:xfrm>
            <a:off x="5120640" y="2350008"/>
            <a:ext cx="11750040" cy="1078992"/>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Longitudinal and multicenter studies across Saudi regions, before, during and after preparedness interventions.</a:t>
            </a:r>
            <a:endParaRPr lang="en-US" sz="2300" dirty="0"/>
          </a:p>
        </p:txBody>
      </p:sp>
      <p:sp>
        <p:nvSpPr>
          <p:cNvPr id="7" name="card Interventions"/>
          <p:cNvSpPr/>
          <p:nvPr/>
        </p:nvSpPr>
        <p:spPr>
          <a:xfrm>
            <a:off x="4663440" y="3767328"/>
            <a:ext cx="12344400" cy="1078992"/>
          </a:xfrm>
          <a:prstGeom prst="roundRect">
            <a:avLst>
              <a:gd name="adj" fmla="val 12712"/>
            </a:avLst>
          </a:prstGeom>
          <a:solidFill>
            <a:srgbClr val="D6DDEA"/>
          </a:solidFill>
          <a:ln w="12700">
            <a:solidFill>
              <a:srgbClr val="D6DDEA"/>
            </a:solidFill>
            <a:prstDash val="solid"/>
          </a:ln>
        </p:spPr>
      </p:sp>
      <p:sp>
        <p:nvSpPr>
          <p:cNvPr id="8" name="label Interventions"/>
          <p:cNvSpPr/>
          <p:nvPr/>
        </p:nvSpPr>
        <p:spPr>
          <a:xfrm>
            <a:off x="1097280" y="3657600"/>
            <a:ext cx="3840480" cy="1298448"/>
          </a:xfrm>
          <a:prstGeom prst="roundRect">
            <a:avLst>
              <a:gd name="adj" fmla="val 14085"/>
            </a:avLst>
          </a:prstGeom>
          <a:solidFill>
            <a:srgbClr val="4F81BD"/>
          </a:solidFill>
          <a:ln w="19050">
            <a:solidFill>
              <a:srgbClr val="FFFFFF"/>
            </a:solidFill>
            <a:prstDash val="solid"/>
          </a:ln>
        </p:spPr>
      </p:sp>
      <p:sp>
        <p:nvSpPr>
          <p:cNvPr id="9" name="Text 7"/>
          <p:cNvSpPr txBox="1"/>
          <p:nvPr/>
        </p:nvSpPr>
        <p:spPr>
          <a:xfrm>
            <a:off x="1097280" y="3657600"/>
            <a:ext cx="3840480" cy="1298448"/>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Interventions</a:t>
            </a:r>
            <a:endParaRPr lang="en-US" sz="2800" dirty="0"/>
          </a:p>
        </p:txBody>
      </p:sp>
      <p:sp>
        <p:nvSpPr>
          <p:cNvPr id="10" name="Text 8"/>
          <p:cNvSpPr txBox="1"/>
          <p:nvPr/>
        </p:nvSpPr>
        <p:spPr>
          <a:xfrm>
            <a:off x="5120640" y="3767328"/>
            <a:ext cx="11750040" cy="1078992"/>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Experimental and quasi-experimental evaluation of simulations, interdisciplinary drills, online education and psychological-preparedness programs.</a:t>
            </a:r>
            <a:endParaRPr lang="en-US" sz="2300" dirty="0"/>
          </a:p>
        </p:txBody>
      </p:sp>
      <p:sp>
        <p:nvSpPr>
          <p:cNvPr id="11" name="card Sampling"/>
          <p:cNvSpPr/>
          <p:nvPr/>
        </p:nvSpPr>
        <p:spPr>
          <a:xfrm>
            <a:off x="4663440" y="5184648"/>
            <a:ext cx="12344400" cy="1078992"/>
          </a:xfrm>
          <a:prstGeom prst="roundRect">
            <a:avLst>
              <a:gd name="adj" fmla="val 12712"/>
            </a:avLst>
          </a:prstGeom>
          <a:solidFill>
            <a:srgbClr val="D6DDEA"/>
          </a:solidFill>
          <a:ln w="12700">
            <a:solidFill>
              <a:srgbClr val="D6DDEA"/>
            </a:solidFill>
            <a:prstDash val="solid"/>
          </a:ln>
        </p:spPr>
      </p:sp>
      <p:sp>
        <p:nvSpPr>
          <p:cNvPr id="12" name="label Sampling"/>
          <p:cNvSpPr/>
          <p:nvPr/>
        </p:nvSpPr>
        <p:spPr>
          <a:xfrm>
            <a:off x="1097280" y="5074920"/>
            <a:ext cx="3840480" cy="1298448"/>
          </a:xfrm>
          <a:prstGeom prst="roundRect">
            <a:avLst>
              <a:gd name="adj" fmla="val 14085"/>
            </a:avLst>
          </a:prstGeom>
          <a:solidFill>
            <a:srgbClr val="4F81BD"/>
          </a:solidFill>
          <a:ln w="19050">
            <a:solidFill>
              <a:srgbClr val="FFFFFF"/>
            </a:solidFill>
            <a:prstDash val="solid"/>
          </a:ln>
        </p:spPr>
      </p:sp>
      <p:sp>
        <p:nvSpPr>
          <p:cNvPr id="13" name="Text 11"/>
          <p:cNvSpPr txBox="1"/>
          <p:nvPr/>
        </p:nvSpPr>
        <p:spPr>
          <a:xfrm>
            <a:off x="1097280" y="5074920"/>
            <a:ext cx="3840480" cy="1298448"/>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Sampling</a:t>
            </a:r>
            <a:endParaRPr lang="en-US" sz="2800" dirty="0"/>
          </a:p>
        </p:txBody>
      </p:sp>
      <p:sp>
        <p:nvSpPr>
          <p:cNvPr id="14" name="Text 12"/>
          <p:cNvSpPr txBox="1"/>
          <p:nvPr/>
        </p:nvSpPr>
        <p:spPr>
          <a:xfrm>
            <a:off x="5120640" y="5184648"/>
            <a:ext cx="11750040" cy="1078992"/>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Include public and private institutions and use probability sampling.</a:t>
            </a:r>
            <a:endParaRPr lang="en-US" sz="2300" dirty="0"/>
          </a:p>
        </p:txBody>
      </p:sp>
      <p:sp>
        <p:nvSpPr>
          <p:cNvPr id="15" name="card Measurement"/>
          <p:cNvSpPr/>
          <p:nvPr/>
        </p:nvSpPr>
        <p:spPr>
          <a:xfrm>
            <a:off x="4663440" y="6601968"/>
            <a:ext cx="12344400" cy="1078992"/>
          </a:xfrm>
          <a:prstGeom prst="roundRect">
            <a:avLst>
              <a:gd name="adj" fmla="val 12712"/>
            </a:avLst>
          </a:prstGeom>
          <a:solidFill>
            <a:srgbClr val="D6DDEA"/>
          </a:solidFill>
          <a:ln w="12700">
            <a:solidFill>
              <a:srgbClr val="D6DDEA"/>
            </a:solidFill>
            <a:prstDash val="solid"/>
          </a:ln>
        </p:spPr>
      </p:sp>
      <p:sp>
        <p:nvSpPr>
          <p:cNvPr id="16" name="label Measurement"/>
          <p:cNvSpPr/>
          <p:nvPr/>
        </p:nvSpPr>
        <p:spPr>
          <a:xfrm>
            <a:off x="1097280" y="6492240"/>
            <a:ext cx="3840480" cy="1298448"/>
          </a:xfrm>
          <a:prstGeom prst="roundRect">
            <a:avLst>
              <a:gd name="adj" fmla="val 14085"/>
            </a:avLst>
          </a:prstGeom>
          <a:solidFill>
            <a:srgbClr val="4F81BD"/>
          </a:solidFill>
          <a:ln w="19050">
            <a:solidFill>
              <a:srgbClr val="FFFFFF"/>
            </a:solidFill>
            <a:prstDash val="solid"/>
          </a:ln>
        </p:spPr>
      </p:sp>
      <p:sp>
        <p:nvSpPr>
          <p:cNvPr id="17" name="Text 15"/>
          <p:cNvSpPr txBox="1"/>
          <p:nvPr/>
        </p:nvSpPr>
        <p:spPr>
          <a:xfrm>
            <a:off x="1097280" y="6492240"/>
            <a:ext cx="3840480" cy="1298448"/>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Measurement</a:t>
            </a:r>
            <a:endParaRPr lang="en-US" sz="2800" dirty="0"/>
          </a:p>
        </p:txBody>
      </p:sp>
      <p:sp>
        <p:nvSpPr>
          <p:cNvPr id="18" name="Text 16"/>
          <p:cNvSpPr txBox="1"/>
          <p:nvPr/>
        </p:nvSpPr>
        <p:spPr>
          <a:xfrm>
            <a:off x="5120640" y="6601968"/>
            <a:ext cx="11750040" cy="1078992"/>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Formal content-validity and factor analysis, objective knowledge tests, and observed practice.</a:t>
            </a:r>
            <a:endParaRPr lang="en-US" sz="2300" dirty="0"/>
          </a:p>
        </p:txBody>
      </p:sp>
      <p:sp>
        <p:nvSpPr>
          <p:cNvPr id="19" name="card Qualitative"/>
          <p:cNvSpPr/>
          <p:nvPr/>
        </p:nvSpPr>
        <p:spPr>
          <a:xfrm>
            <a:off x="4663440" y="8019288"/>
            <a:ext cx="12344400" cy="1078992"/>
          </a:xfrm>
          <a:prstGeom prst="roundRect">
            <a:avLst>
              <a:gd name="adj" fmla="val 12712"/>
            </a:avLst>
          </a:prstGeom>
          <a:solidFill>
            <a:srgbClr val="D6DDEA"/>
          </a:solidFill>
          <a:ln w="12700">
            <a:solidFill>
              <a:srgbClr val="D6DDEA"/>
            </a:solidFill>
            <a:prstDash val="solid"/>
          </a:ln>
        </p:spPr>
      </p:sp>
      <p:sp>
        <p:nvSpPr>
          <p:cNvPr id="20" name="label Qualitative"/>
          <p:cNvSpPr/>
          <p:nvPr/>
        </p:nvSpPr>
        <p:spPr>
          <a:xfrm>
            <a:off x="1097280" y="7909560"/>
            <a:ext cx="3840480" cy="1298448"/>
          </a:xfrm>
          <a:prstGeom prst="roundRect">
            <a:avLst>
              <a:gd name="adj" fmla="val 14085"/>
            </a:avLst>
          </a:prstGeom>
          <a:solidFill>
            <a:srgbClr val="4F81BD"/>
          </a:solidFill>
          <a:ln w="19050">
            <a:solidFill>
              <a:srgbClr val="FFFFFF"/>
            </a:solidFill>
            <a:prstDash val="solid"/>
          </a:ln>
        </p:spPr>
      </p:sp>
      <p:sp>
        <p:nvSpPr>
          <p:cNvPr id="21" name="Text 19"/>
          <p:cNvSpPr txBox="1"/>
          <p:nvPr/>
        </p:nvSpPr>
        <p:spPr>
          <a:xfrm>
            <a:off x="1097280" y="7909560"/>
            <a:ext cx="3840480" cy="1298448"/>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Qualitative</a:t>
            </a:r>
            <a:endParaRPr lang="en-US" sz="2800" dirty="0"/>
          </a:p>
        </p:txBody>
      </p:sp>
      <p:sp>
        <p:nvSpPr>
          <p:cNvPr id="22" name="Text 20"/>
          <p:cNvSpPr txBox="1"/>
          <p:nvPr/>
        </p:nvSpPr>
        <p:spPr>
          <a:xfrm>
            <a:off x="5120640" y="8019288"/>
            <a:ext cx="11750040" cy="1078992"/>
          </a:xfrm>
          <a:prstGeom prst="rect">
            <a:avLst/>
          </a:prstGeom>
          <a:noFill/>
          <a:ln/>
        </p:spPr>
        <p:txBody>
          <a:bodyPr wrap="square" lIns="50800" tIns="50800" rIns="50800" bIns="50800" rtlCol="0" anchor="ctr"/>
          <a:lstStyle/>
          <a:p>
            <a:pPr indent="0" marL="0">
              <a:buNone/>
            </a:pPr>
            <a:r>
              <a:rPr lang="en-US" sz="2300" dirty="0">
                <a:solidFill>
                  <a:srgbClr val="000000"/>
                </a:solidFill>
                <a:latin typeface="Times New Roman" pitchFamily="34" charset="0"/>
                <a:ea typeface="Times New Roman" pitchFamily="34" charset="-122"/>
                <a:cs typeface="Times New Roman" pitchFamily="34" charset="-120"/>
              </a:rPr>
              <a:t>Interviews exploring institutional and personal barriers to applying knowledge in practice.</a:t>
            </a:r>
            <a:endParaRPr lang="en-US" sz="23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panel"/>
          <p:cNvSpPr/>
          <p:nvPr/>
        </p:nvSpPr>
        <p:spPr>
          <a:xfrm>
            <a:off x="0" y="0"/>
            <a:ext cx="5852160" cy="10287000"/>
          </a:xfrm>
          <a:prstGeom prst="rect">
            <a:avLst/>
          </a:prstGeom>
          <a:solidFill>
            <a:srgbClr val="1A3760"/>
          </a:solidFill>
          <a:ln w="12700">
            <a:solidFill>
              <a:srgbClr val="1A3760"/>
            </a:solidFill>
            <a:prstDash val="solid"/>
          </a:ln>
        </p:spPr>
      </p:sp>
      <p:sp>
        <p:nvSpPr>
          <p:cNvPr id="3" name="deco circle"/>
          <p:cNvSpPr/>
          <p:nvPr/>
        </p:nvSpPr>
        <p:spPr>
          <a:xfrm>
            <a:off x="548640" y="2834640"/>
            <a:ext cx="4572000" cy="4572000"/>
          </a:xfrm>
          <a:prstGeom prst="ellipse">
            <a:avLst/>
          </a:prstGeom>
          <a:solidFill>
            <a:srgbClr val="FFFFFF">
              <a:alpha val="8000"/>
            </a:srgbClr>
          </a:solidFill>
          <a:ln w="12700">
            <a:solidFill>
              <a:srgbClr val="FFFFFF">
                <a:alpha val="8000"/>
              </a:srgbClr>
            </a:solidFill>
            <a:prstDash val="solid"/>
          </a:ln>
        </p:spPr>
      </p:sp>
      <p:sp>
        <p:nvSpPr>
          <p:cNvPr id="4" name="Text 2"/>
          <p:cNvSpPr txBox="1"/>
          <p:nvPr/>
        </p:nvSpPr>
        <p:spPr>
          <a:xfrm>
            <a:off x="365760" y="4206240"/>
            <a:ext cx="5120640" cy="1828800"/>
          </a:xfrm>
          <a:prstGeom prst="rect">
            <a:avLst/>
          </a:prstGeom>
          <a:noFill/>
          <a:ln/>
        </p:spPr>
        <p:txBody>
          <a:bodyPr wrap="square" rtlCol="0" anchor="ctr"/>
          <a:lstStyle/>
          <a:p>
            <a:pPr algn="ctr" indent="0" marL="0">
              <a:buNone/>
            </a:pPr>
            <a:r>
              <a:rPr lang="en-US" sz="5400" b="1" dirty="0">
                <a:solidFill>
                  <a:srgbClr val="FFFFFF"/>
                </a:solidFill>
                <a:latin typeface="Times New Roman" pitchFamily="34" charset="0"/>
                <a:ea typeface="Times New Roman" pitchFamily="34" charset="-122"/>
                <a:cs typeface="Times New Roman" pitchFamily="34" charset="-120"/>
              </a:rPr>
              <a:t>Implications</a:t>
            </a:r>
            <a:endParaRPr lang="en-US" sz="5400" dirty="0"/>
          </a:p>
        </p:txBody>
      </p:sp>
      <p:sp>
        <p:nvSpPr>
          <p:cNvPr id="5" name="Text 3"/>
          <p:cNvSpPr txBox="1"/>
          <p:nvPr/>
        </p:nvSpPr>
        <p:spPr>
          <a:xfrm>
            <a:off x="6766560" y="2194560"/>
            <a:ext cx="10424160" cy="6766560"/>
          </a:xfrm>
          <a:prstGeom prst="rect">
            <a:avLst/>
          </a:prstGeom>
          <a:noFill/>
          <a:ln/>
        </p:spPr>
        <p:txBody>
          <a:bodyPr wrap="square" rtlCol="0" anchor="ctr"/>
          <a:lstStyle/>
          <a:p>
            <a:pPr indent="0" marL="0">
              <a:spcAft>
                <a:spcPts val="2000"/>
              </a:spcAft>
              <a:buNone/>
            </a:pPr>
            <a:r>
              <a:rPr lang="en-US" sz="3000" dirty="0">
                <a:solidFill>
                  <a:srgbClr val="000000"/>
                </a:solidFill>
                <a:latin typeface="Times New Roman" pitchFamily="34" charset="0"/>
                <a:ea typeface="Times New Roman" pitchFamily="34" charset="-122"/>
                <a:cs typeface="Times New Roman" pitchFamily="34" charset="-120"/>
              </a:rPr>
              <a:t>The findings have implications for clinical practice, nursing education, hospital administration, health policy and future research.</a:t>
            </a:r>
            <a:endParaRPr lang="en-US" sz="3000" dirty="0"/>
          </a:p>
          <a:p>
            <a:pPr indent="0" marL="0">
              <a:buNone/>
            </a:pPr>
            <a:r>
              <a:rPr lang="en-US" sz="3000" dirty="0">
                <a:solidFill>
                  <a:srgbClr val="000000"/>
                </a:solidFill>
                <a:latin typeface="Times New Roman" pitchFamily="34" charset="0"/>
                <a:ea typeface="Times New Roman" pitchFamily="34" charset="-122"/>
                <a:cs typeface="Times New Roman" pitchFamily="34" charset="-120"/>
              </a:rPr>
              <a:t>Nurses are at the core of pandemic response; their readiness shapes patient outcomes, safety and the performance of the emergency-response system.</a:t>
            </a:r>
            <a:endParaRPr lang="en-US" sz="3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Implications of the Study</a:t>
            </a:r>
            <a:endParaRPr lang="en-US" sz="5400" dirty="0"/>
          </a:p>
        </p:txBody>
      </p:sp>
      <p:sp>
        <p:nvSpPr>
          <p:cNvPr id="3" name="impl Practice"/>
          <p:cNvSpPr/>
          <p:nvPr/>
        </p:nvSpPr>
        <p:spPr>
          <a:xfrm>
            <a:off x="1097280" y="2240280"/>
            <a:ext cx="7818120" cy="3291840"/>
          </a:xfrm>
          <a:prstGeom prst="roundRect">
            <a:avLst>
              <a:gd name="adj" fmla="val 5556"/>
            </a:avLst>
          </a:prstGeom>
          <a:solidFill>
            <a:srgbClr val="D6DDEA"/>
          </a:solidFill>
          <a:ln w="12700">
            <a:solidFill>
              <a:srgbClr val="D6DDEA"/>
            </a:solidFill>
            <a:prstDash val="solid"/>
          </a:ln>
        </p:spPr>
      </p:sp>
      <p:sp>
        <p:nvSpPr>
          <p:cNvPr id="4" name="Text 2"/>
          <p:cNvSpPr txBox="1"/>
          <p:nvPr/>
        </p:nvSpPr>
        <p:spPr>
          <a:xfrm>
            <a:off x="1417320" y="2514600"/>
            <a:ext cx="7223760" cy="594360"/>
          </a:xfrm>
          <a:prstGeom prst="rect">
            <a:avLst/>
          </a:prstGeom>
          <a:noFill/>
          <a:ln/>
        </p:spPr>
        <p:txBody>
          <a:bodyPr wrap="square" lIns="0" tIns="0" rIns="0" bIns="0" rtlCol="0" anchor="ctr"/>
          <a:lstStyle/>
          <a:p>
            <a:pPr indent="0" marL="0">
              <a:buNone/>
            </a:pPr>
            <a:r>
              <a:rPr lang="en-US" sz="3000" b="1" dirty="0">
                <a:solidFill>
                  <a:srgbClr val="1A3760"/>
                </a:solidFill>
                <a:latin typeface="Times New Roman" pitchFamily="34" charset="0"/>
                <a:ea typeface="Times New Roman" pitchFamily="34" charset="-122"/>
                <a:cs typeface="Times New Roman" pitchFamily="34" charset="-120"/>
              </a:rPr>
              <a:t>Implications for Practice</a:t>
            </a:r>
            <a:endParaRPr lang="en-US" sz="3000" dirty="0"/>
          </a:p>
        </p:txBody>
      </p:sp>
      <p:sp>
        <p:nvSpPr>
          <p:cNvPr id="5" name="Text 3"/>
          <p:cNvSpPr txBox="1"/>
          <p:nvPr/>
        </p:nvSpPr>
        <p:spPr>
          <a:xfrm>
            <a:off x="1417320" y="3291840"/>
            <a:ext cx="7178040" cy="2057400"/>
          </a:xfrm>
          <a:prstGeom prst="rect">
            <a:avLst/>
          </a:prstGeom>
          <a:noFill/>
          <a:ln/>
        </p:spPr>
        <p:txBody>
          <a:bodyPr wrap="square" rtlCol="0" anchor="t"/>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Enhancing nurses’ communication, decision-making and psychological preparation can improve clinical disaster readiness.</a:t>
            </a:r>
            <a:endParaRPr lang="en-US" sz="2500" dirty="0"/>
          </a:p>
        </p:txBody>
      </p:sp>
      <p:sp>
        <p:nvSpPr>
          <p:cNvPr id="6" name="impl Education"/>
          <p:cNvSpPr/>
          <p:nvPr/>
        </p:nvSpPr>
        <p:spPr>
          <a:xfrm>
            <a:off x="9189720" y="2240280"/>
            <a:ext cx="7818120" cy="3291840"/>
          </a:xfrm>
          <a:prstGeom prst="roundRect">
            <a:avLst>
              <a:gd name="adj" fmla="val 5556"/>
            </a:avLst>
          </a:prstGeom>
          <a:solidFill>
            <a:srgbClr val="EEF1F7"/>
          </a:solidFill>
          <a:ln w="12700">
            <a:solidFill>
              <a:srgbClr val="EEF1F7"/>
            </a:solidFill>
            <a:prstDash val="solid"/>
          </a:ln>
        </p:spPr>
      </p:sp>
      <p:sp>
        <p:nvSpPr>
          <p:cNvPr id="7" name="Text 5"/>
          <p:cNvSpPr txBox="1"/>
          <p:nvPr/>
        </p:nvSpPr>
        <p:spPr>
          <a:xfrm>
            <a:off x="9509760" y="2514600"/>
            <a:ext cx="7223760" cy="594360"/>
          </a:xfrm>
          <a:prstGeom prst="rect">
            <a:avLst/>
          </a:prstGeom>
          <a:noFill/>
          <a:ln/>
        </p:spPr>
        <p:txBody>
          <a:bodyPr wrap="square" lIns="0" tIns="0" rIns="0" bIns="0" rtlCol="0" anchor="ctr"/>
          <a:lstStyle/>
          <a:p>
            <a:pPr indent="0" marL="0">
              <a:buNone/>
            </a:pPr>
            <a:r>
              <a:rPr lang="en-US" sz="3000" b="1" dirty="0">
                <a:solidFill>
                  <a:srgbClr val="1A3760"/>
                </a:solidFill>
                <a:latin typeface="Times New Roman" pitchFamily="34" charset="0"/>
                <a:ea typeface="Times New Roman" pitchFamily="34" charset="-122"/>
                <a:cs typeface="Times New Roman" pitchFamily="34" charset="-120"/>
              </a:rPr>
              <a:t>Implications for Education</a:t>
            </a:r>
            <a:endParaRPr lang="en-US" sz="3000" dirty="0"/>
          </a:p>
        </p:txBody>
      </p:sp>
      <p:sp>
        <p:nvSpPr>
          <p:cNvPr id="8" name="Text 6"/>
          <p:cNvSpPr txBox="1"/>
          <p:nvPr/>
        </p:nvSpPr>
        <p:spPr>
          <a:xfrm>
            <a:off x="9509760" y="3291840"/>
            <a:ext cx="7178040" cy="2057400"/>
          </a:xfrm>
          <a:prstGeom prst="rect">
            <a:avLst/>
          </a:prstGeom>
          <a:noFill/>
          <a:ln/>
        </p:spPr>
        <p:txBody>
          <a:bodyPr wrap="square" rtlCol="0" anchor="t"/>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Integrate disaster management holistically into nursing curricula, with simulation-based learning, not theory alone.</a:t>
            </a:r>
            <a:endParaRPr lang="en-US" sz="2500" dirty="0"/>
          </a:p>
        </p:txBody>
      </p:sp>
      <p:sp>
        <p:nvSpPr>
          <p:cNvPr id="9" name="impl Management"/>
          <p:cNvSpPr/>
          <p:nvPr/>
        </p:nvSpPr>
        <p:spPr>
          <a:xfrm>
            <a:off x="1097280" y="5806440"/>
            <a:ext cx="7818120" cy="3291840"/>
          </a:xfrm>
          <a:prstGeom prst="roundRect">
            <a:avLst>
              <a:gd name="adj" fmla="val 5556"/>
            </a:avLst>
          </a:prstGeom>
          <a:solidFill>
            <a:srgbClr val="EEF1F7"/>
          </a:solidFill>
          <a:ln w="12700">
            <a:solidFill>
              <a:srgbClr val="EEF1F7"/>
            </a:solidFill>
            <a:prstDash val="solid"/>
          </a:ln>
        </p:spPr>
      </p:sp>
      <p:sp>
        <p:nvSpPr>
          <p:cNvPr id="10" name="Text 8"/>
          <p:cNvSpPr txBox="1"/>
          <p:nvPr/>
        </p:nvSpPr>
        <p:spPr>
          <a:xfrm>
            <a:off x="1417320" y="6080760"/>
            <a:ext cx="7223760" cy="594360"/>
          </a:xfrm>
          <a:prstGeom prst="rect">
            <a:avLst/>
          </a:prstGeom>
          <a:noFill/>
          <a:ln/>
        </p:spPr>
        <p:txBody>
          <a:bodyPr wrap="square" lIns="0" tIns="0" rIns="0" bIns="0" rtlCol="0" anchor="ctr"/>
          <a:lstStyle/>
          <a:p>
            <a:pPr indent="0" marL="0">
              <a:buNone/>
            </a:pPr>
            <a:r>
              <a:rPr lang="en-US" sz="3000" b="1" dirty="0">
                <a:solidFill>
                  <a:srgbClr val="1A3760"/>
                </a:solidFill>
                <a:latin typeface="Times New Roman" pitchFamily="34" charset="0"/>
                <a:ea typeface="Times New Roman" pitchFamily="34" charset="-122"/>
                <a:cs typeface="Times New Roman" pitchFamily="34" charset="-120"/>
              </a:rPr>
              <a:t>Implications for Management</a:t>
            </a:r>
            <a:endParaRPr lang="en-US" sz="3000" dirty="0"/>
          </a:p>
        </p:txBody>
      </p:sp>
      <p:sp>
        <p:nvSpPr>
          <p:cNvPr id="11" name="Text 9"/>
          <p:cNvSpPr txBox="1"/>
          <p:nvPr/>
        </p:nvSpPr>
        <p:spPr>
          <a:xfrm>
            <a:off x="1417320" y="6858000"/>
            <a:ext cx="7178040" cy="2057400"/>
          </a:xfrm>
          <a:prstGeom prst="rect">
            <a:avLst/>
          </a:prstGeom>
          <a:noFill/>
          <a:ln/>
        </p:spPr>
        <p:txBody>
          <a:bodyPr wrap="square" rtlCol="0" anchor="t"/>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Provide continuous preparedness training with sufficient resources, time and interdisciplinary collaboration.</a:t>
            </a:r>
            <a:endParaRPr lang="en-US" sz="2500" dirty="0"/>
          </a:p>
        </p:txBody>
      </p:sp>
      <p:sp>
        <p:nvSpPr>
          <p:cNvPr id="12" name="impl Policy"/>
          <p:cNvSpPr/>
          <p:nvPr/>
        </p:nvSpPr>
        <p:spPr>
          <a:xfrm>
            <a:off x="9189720" y="5806440"/>
            <a:ext cx="7818120" cy="3291840"/>
          </a:xfrm>
          <a:prstGeom prst="roundRect">
            <a:avLst>
              <a:gd name="adj" fmla="val 5556"/>
            </a:avLst>
          </a:prstGeom>
          <a:solidFill>
            <a:srgbClr val="D6DDEA"/>
          </a:solidFill>
          <a:ln w="12700">
            <a:solidFill>
              <a:srgbClr val="D6DDEA"/>
            </a:solidFill>
            <a:prstDash val="solid"/>
          </a:ln>
        </p:spPr>
      </p:sp>
      <p:sp>
        <p:nvSpPr>
          <p:cNvPr id="13" name="Text 11"/>
          <p:cNvSpPr txBox="1"/>
          <p:nvPr/>
        </p:nvSpPr>
        <p:spPr>
          <a:xfrm>
            <a:off x="9509760" y="6080760"/>
            <a:ext cx="7223760" cy="594360"/>
          </a:xfrm>
          <a:prstGeom prst="rect">
            <a:avLst/>
          </a:prstGeom>
          <a:noFill/>
          <a:ln/>
        </p:spPr>
        <p:txBody>
          <a:bodyPr wrap="square" lIns="0" tIns="0" rIns="0" bIns="0" rtlCol="0" anchor="ctr"/>
          <a:lstStyle/>
          <a:p>
            <a:pPr indent="0" marL="0">
              <a:buNone/>
            </a:pPr>
            <a:r>
              <a:rPr lang="en-US" sz="3000" b="1" dirty="0">
                <a:solidFill>
                  <a:srgbClr val="1A3760"/>
                </a:solidFill>
                <a:latin typeface="Times New Roman" pitchFamily="34" charset="0"/>
                <a:ea typeface="Times New Roman" pitchFamily="34" charset="-122"/>
                <a:cs typeface="Times New Roman" pitchFamily="34" charset="-120"/>
              </a:rPr>
              <a:t>Implications for Policy</a:t>
            </a:r>
            <a:endParaRPr lang="en-US" sz="3000" dirty="0"/>
          </a:p>
        </p:txBody>
      </p:sp>
      <p:sp>
        <p:nvSpPr>
          <p:cNvPr id="14" name="Text 12"/>
          <p:cNvSpPr txBox="1"/>
          <p:nvPr/>
        </p:nvSpPr>
        <p:spPr>
          <a:xfrm>
            <a:off x="9509760" y="6858000"/>
            <a:ext cx="7178040" cy="2057400"/>
          </a:xfrm>
          <a:prstGeom prst="rect">
            <a:avLst/>
          </a:prstGeom>
          <a:noFill/>
          <a:ln/>
        </p:spPr>
        <p:txBody>
          <a:bodyPr wrap="square" rtlCol="0" anchor="t"/>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Develop uniform national guidance on disaster-preparedness training for nurses in all healthcare settings.</a:t>
            </a:r>
            <a:endParaRPr lang="en-US" sz="25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Conclusions</a:t>
            </a:r>
            <a:endParaRPr lang="en-US" sz="5400" dirty="0"/>
          </a:p>
        </p:txBody>
      </p:sp>
      <p:sp>
        <p:nvSpPr>
          <p:cNvPr id="3" name="Text 1"/>
          <p:cNvSpPr txBox="1"/>
          <p:nvPr/>
        </p:nvSpPr>
        <p:spPr>
          <a:xfrm>
            <a:off x="1097280" y="2286000"/>
            <a:ext cx="15910560" cy="7040880"/>
          </a:xfrm>
          <a:prstGeom prst="rect">
            <a:avLst/>
          </a:prstGeom>
          <a:noFill/>
          <a:ln/>
        </p:spPr>
        <p:txBody>
          <a:bodyPr wrap="square" rtlCol="0" anchor="t"/>
          <a:lstStyle/>
          <a:p>
            <a:pPr marL="342900" indent="-342900">
              <a:spcAft>
                <a:spcPts val="1800"/>
              </a:spcAft>
              <a:buSzPct val="100000"/>
              <a:buChar char="•"/>
            </a:pPr>
            <a:r>
              <a:rPr lang="en-US" sz="2700" dirty="0">
                <a:solidFill>
                  <a:srgbClr val="000000"/>
                </a:solidFill>
                <a:latin typeface="Times New Roman" pitchFamily="34" charset="0"/>
                <a:ea typeface="Times New Roman" pitchFamily="34" charset="-122"/>
                <a:cs typeface="Times New Roman" pitchFamily="34" charset="-120"/>
              </a:rPr>
              <a:t>Nurses in governmental hospitals in the Taif Region reported relatively high self-perceived knowledge (M = 61.64), positive perceptions (M = 57.69) and high self-reported practice (M = 57.25) regarding pandemic disasters.</a:t>
            </a:r>
            <a:endParaRPr lang="en-US" sz="2700" dirty="0"/>
          </a:p>
          <a:p>
            <a:pPr marL="342900" indent="-342900">
              <a:spcAft>
                <a:spcPts val="1800"/>
              </a:spcAft>
              <a:buSzPct val="100000"/>
              <a:buChar char="•"/>
            </a:pPr>
            <a:r>
              <a:rPr lang="en-US" sz="2700" dirty="0">
                <a:solidFill>
                  <a:srgbClr val="000000"/>
                </a:solidFill>
                <a:latin typeface="Times New Roman" pitchFamily="34" charset="0"/>
                <a:ea typeface="Times New Roman" pitchFamily="34" charset="-122"/>
                <a:cs typeface="Times New Roman" pitchFamily="34" charset="-120"/>
              </a:rPr>
              <a:t>The three domains were positively associated, and self-perceived knowledge statistically predicted perceptions and self-reported practice.</a:t>
            </a:r>
            <a:endParaRPr lang="en-US" sz="2700" dirty="0"/>
          </a:p>
          <a:p>
            <a:pPr marL="342900" indent="-342900">
              <a:spcAft>
                <a:spcPts val="1800"/>
              </a:spcAft>
              <a:buSzPct val="100000"/>
              <a:buChar char="•"/>
            </a:pPr>
            <a:r>
              <a:rPr lang="en-US" sz="2700" dirty="0">
                <a:solidFill>
                  <a:srgbClr val="000000"/>
                </a:solidFill>
                <a:latin typeface="Times New Roman" pitchFamily="34" charset="0"/>
                <a:ea typeface="Times New Roman" pitchFamily="34" charset="-122"/>
                <a:cs typeface="Times New Roman" pitchFamily="34" charset="-120"/>
              </a:rPr>
              <a:t>Small but significant differences were found by gender and educational level.</a:t>
            </a:r>
            <a:endParaRPr lang="en-US" sz="2700" dirty="0"/>
          </a:p>
          <a:p>
            <a:pPr marL="342900" indent="-342900">
              <a:spcAft>
                <a:spcPts val="1800"/>
              </a:spcAft>
              <a:buSzPct val="100000"/>
              <a:buChar char="•"/>
            </a:pPr>
            <a:r>
              <a:rPr lang="en-US" sz="2700" dirty="0">
                <a:solidFill>
                  <a:srgbClr val="000000"/>
                </a:solidFill>
                <a:latin typeface="Times New Roman" pitchFamily="34" charset="0"/>
                <a:ea typeface="Times New Roman" pitchFamily="34" charset="-122"/>
                <a:cs typeface="Times New Roman" pitchFamily="34" charset="-120"/>
              </a:rPr>
              <a:t>Emergency communication, psychological preparedness and ongoing review of pandemic-response protocols need further development, supported by continuous education, simulation and institutional support.</a:t>
            </a:r>
            <a:endParaRPr lang="en-US" sz="27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References</a:t>
            </a:r>
            <a:endParaRPr lang="en-US" sz="5400" dirty="0"/>
          </a:p>
        </p:txBody>
      </p:sp>
      <p:sp>
        <p:nvSpPr>
          <p:cNvPr id="3" name="Text 1"/>
          <p:cNvSpPr txBox="1"/>
          <p:nvPr/>
        </p:nvSpPr>
        <p:spPr>
          <a:xfrm>
            <a:off x="1097280" y="2194560"/>
            <a:ext cx="16093440" cy="7223760"/>
          </a:xfrm>
          <a:prstGeom prst="rect">
            <a:avLst/>
          </a:prstGeom>
          <a:noFill/>
          <a:ln/>
        </p:spPr>
        <p:txBody>
          <a:bodyPr wrap="square" rtlCol="0" anchor="t"/>
          <a:lstStyle/>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Al Thobaity, A., &amp; Alshammari, F. (2020). Nurses on the frontline against the COVID-19 pandemic: an integrative review. Dubai Medical Journal, 3(3), 87-92.</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Alan, H., Eskici, G. T., Sen, H. T., &amp; Bacaksiz, F. E. (2022). Nurses’ disaster core competencies and resilience during the COVID-19 pandemic: A cross-sectional study from Turkey. Journal of Nursing Management, 30(3), 622–632. https://doi.org/10.1111/jonm.13552.</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AlOtaibi, S. S., Almutairi, H. A., Alotaibi, M. K., Alharbi, K., &amp; Bahari, G. (2024). Enhancing nurses’ disaster management and preparedness: Evaluating the effectiveness of an online educational program through a quasi-experimental study. Risk Management and Healthcare Policy, 17, 101–111. https://doi.org/10.2147/RMHP.S446704.</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Alrowili, M. R., Almoajel, A. M., Alneam, F. M., &amp; Alhazmi, R. A. (2025). Disaster preparedness in saudi arabia’s primary healthcare workers for human well-being and sustainability. Sustainability, 17(14), 6562.</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Cariaso-Sugay, J., Hultgren, M., Browder, B., &amp; Chen, J. (2021). Nurse Leaders' Knowledge and Confidence Managing Disasters in the Acute Care Setting. Nursing Administration Quarterly, 45, 142–151. https://doi.org/10.1097/naq.0000000000000468.</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Chegini, Z., Arab-Zozani, M., Kakemam, E., Lotfi, M., Nobakht, A., &amp; Aziz Karkan, H. (2022). Disaster preparedness and core competencies among emergency nurses: A cross-sectional study. Nursing open, 9(2), 1294-1302.</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Gandhi, S., Sahu, M., Govindan, R., Nattala, P., Gandhi, S., Sudhir, P. M., &amp; Balachandran, R. (2021). Psychological preparedness for pandemic (COVID-19) management: Perceptions of nurses and nursing students in India. Plos one, 16(8), e0255772.</a:t>
            </a:r>
            <a:endParaRPr lang="en-US" sz="21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References</a:t>
            </a:r>
            <a:endParaRPr lang="en-US" sz="5400" dirty="0"/>
          </a:p>
        </p:txBody>
      </p:sp>
      <p:sp>
        <p:nvSpPr>
          <p:cNvPr id="3" name="Text 1"/>
          <p:cNvSpPr txBox="1"/>
          <p:nvPr/>
        </p:nvSpPr>
        <p:spPr>
          <a:xfrm>
            <a:off x="1097280" y="2194560"/>
            <a:ext cx="16093440" cy="7223760"/>
          </a:xfrm>
          <a:prstGeom prst="rect">
            <a:avLst/>
          </a:prstGeom>
          <a:noFill/>
          <a:ln/>
        </p:spPr>
        <p:txBody>
          <a:bodyPr wrap="square" rtlCol="0" anchor="t"/>
          <a:lstStyle/>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Hong, E., Jung, A., &amp; Woo, K. (2022). A cross-sectional study on public health nurses' disaster competencies and influencing factors during the COVID-19 pandemic in Korea. BMC Public Health, 22(1), 731.</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Hung, M. S. Y., Lam, S. K. K., Chow, M. C. M., Ng, W. W. M., &amp; Pau, O. K. (2021). The effectiveness of disaster education for undergraduate nursing students’ knowledge, willingness, and perceived ability: An evaluation study. International journal of environmental research and public health, 18(19), 10545.</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Karnjuš, I., Prosen, M., &amp; Ličen, S. (2021). Nurses’ core disaster-response competencies for combating COVID-19—a cross-sectional study. Plos one, 16(6), e0252934.</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Küçük, U., Sari, C., &amp; Demirbağ, B. C. (2023). Nurse perceptions of knowledge and preparedness for disasters. Disaster medicine and public health preparedness, 17, e519.</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Said, N. B., &amp; Chiang, V. C. (2020). The knowledge, skill competencies, and psychological preparedness of nurses for disasters: a systematic review. International emergency nursing, 48, 100806.</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Saidam, M. N., &amp; Eljedi, A. Y. (2020). Palestinian emergency nurses’ knowledge and role perception about disaster management: a need for immediate actions. International Journal of Community Medicine and Public Health, 7(3), 831-836.</a:t>
            </a:r>
            <a:endParaRPr lang="en-US" sz="21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5400" b="1" dirty="0">
                <a:solidFill>
                  <a:srgbClr val="000000"/>
                </a:solidFill>
                <a:latin typeface="Times New Roman" pitchFamily="34" charset="0"/>
                <a:ea typeface="Times New Roman" pitchFamily="34" charset="-122"/>
                <a:cs typeface="Times New Roman" pitchFamily="34" charset="-120"/>
              </a:rPr>
              <a:t>References</a:t>
            </a:r>
            <a:endParaRPr lang="en-US" sz="5400" dirty="0"/>
          </a:p>
        </p:txBody>
      </p:sp>
      <p:sp>
        <p:nvSpPr>
          <p:cNvPr id="3" name="Text 1"/>
          <p:cNvSpPr txBox="1"/>
          <p:nvPr/>
        </p:nvSpPr>
        <p:spPr>
          <a:xfrm>
            <a:off x="1097280" y="2194560"/>
            <a:ext cx="16093440" cy="7223760"/>
          </a:xfrm>
          <a:prstGeom prst="rect">
            <a:avLst/>
          </a:prstGeom>
          <a:noFill/>
          <a:ln/>
        </p:spPr>
        <p:txBody>
          <a:bodyPr wrap="square" rtlCol="0" anchor="t"/>
          <a:lstStyle/>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Song, S., Li, X., Bell, S. A., Yang, X., &amp; Zhang, W. (2021). Emergency response: a cross-sectional study of core competencies for nurses regarding major infectious disease outbreaks. Journal of Emergency Nursing, 47(6), 902-913.</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Songwathana, P., &amp; Timalsina, R. (2021). Disaster preparedness among nurses of developing countries: An integrative review. International emergency nursing, 55, 100955. https://doi.org/10.1016/j.ienj.2020.100955.</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Tas, F., &amp; Cakir, M. (2022). Nurses' knowledge levels and preparedness for disasters: A systematic review. International Journal of Disaster Risk Reduction, 80, 103230.</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Thirunavukkarasu, A., Alsaidan, A. A., Aldhafeeri, S. T., Abdel-Salam, D. M., Aldhafeeri, N. T., Alanazi, M. A., &amp; Al-Zahrany, W. (2025). Evaluation of awareness, attitudes, and practices towards disaster preparedness among Saudi healthcare professionals: implications for enhancing emergency response and training. PeerJ, 13, e20464.</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Vishba, &amp; Shaheen. (2025). Knowledge, attitude and practice of nurses about disaster management in Mayo Hospital, Lahore, Pakistan. Insights-Journal of Health and Rehabilitation, 3(3), 140–150.</a:t>
            </a:r>
            <a:endParaRPr lang="en-US" sz="2100" dirty="0"/>
          </a:p>
          <a:p>
            <a:pPr indent="0" marL="0">
              <a:spcAft>
                <a:spcPts val="1200"/>
              </a:spcAft>
              <a:buNone/>
            </a:pPr>
            <a:r>
              <a:rPr lang="en-US" sz="2100" dirty="0">
                <a:solidFill>
                  <a:srgbClr val="000000"/>
                </a:solidFill>
                <a:latin typeface="Times New Roman" pitchFamily="34" charset="0"/>
                <a:ea typeface="Times New Roman" pitchFamily="34" charset="-122"/>
                <a:cs typeface="Times New Roman" pitchFamily="34" charset="-120"/>
              </a:rPr>
              <a:t>Younis, N. M., Ahmed, M. M., &amp; Hussein, A. A. (2020). Nurses’ knowledge, attitude and practice towards preparedness of disaster management in emergency of Mosul teaching hospitals. Medico-Legal Update, 20(3), 775–779. https://doi.org/10.37506/mlu.v20i3.1611.</a:t>
            </a:r>
            <a:endParaRPr lang="en-US" sz="21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tmp/claude-0/-home-user-CIPC/1ef487fd-4d6c-5dcb-aba6-fa5466b3c339/scratchpad/build/assets/band.png">    </p:cNvPr>
          <p:cNvPicPr>
            <a:picLocks noChangeAspect="1"/>
          </p:cNvPicPr>
          <p:nvPr/>
        </p:nvPicPr>
        <p:blipFill>
          <a:blip r:embed="rId1"/>
          <a:stretch>
            <a:fillRect/>
          </a:stretch>
        </p:blipFill>
        <p:spPr>
          <a:xfrm>
            <a:off x="0" y="9601200"/>
            <a:ext cx="18288000" cy="685800"/>
          </a:xfrm>
          <a:prstGeom prst="rect">
            <a:avLst/>
          </a:prstGeom>
        </p:spPr>
      </p:pic>
      <p:sp>
        <p:nvSpPr>
          <p:cNvPr id="3" name="Text 0"/>
          <p:cNvSpPr txBox="1"/>
          <p:nvPr/>
        </p:nvSpPr>
        <p:spPr>
          <a:xfrm>
            <a:off x="1828800" y="2926080"/>
            <a:ext cx="14630400" cy="2194560"/>
          </a:xfrm>
          <a:prstGeom prst="rect">
            <a:avLst/>
          </a:prstGeom>
          <a:noFill/>
          <a:ln/>
        </p:spPr>
        <p:txBody>
          <a:bodyPr wrap="square" rtlCol="0" anchor="ctr"/>
          <a:lstStyle/>
          <a:p>
            <a:pPr algn="ctr" indent="0" marL="0">
              <a:buNone/>
            </a:pPr>
            <a:r>
              <a:rPr lang="en-US" sz="11000" b="1" dirty="0">
                <a:solidFill>
                  <a:srgbClr val="1A3760"/>
                </a:solidFill>
                <a:latin typeface="Times New Roman" pitchFamily="34" charset="0"/>
                <a:ea typeface="Times New Roman" pitchFamily="34" charset="-122"/>
                <a:cs typeface="Times New Roman" pitchFamily="34" charset="-120"/>
              </a:rPr>
              <a:t>Thank You</a:t>
            </a:r>
            <a:endParaRPr lang="en-US" sz="11000" dirty="0"/>
          </a:p>
        </p:txBody>
      </p:sp>
      <p:sp>
        <p:nvSpPr>
          <p:cNvPr id="4" name="Text 1"/>
          <p:cNvSpPr txBox="1"/>
          <p:nvPr/>
        </p:nvSpPr>
        <p:spPr>
          <a:xfrm>
            <a:off x="1828800" y="5303520"/>
            <a:ext cx="14630400" cy="914400"/>
          </a:xfrm>
          <a:prstGeom prst="rect">
            <a:avLst/>
          </a:prstGeom>
          <a:noFill/>
          <a:ln/>
        </p:spPr>
        <p:txBody>
          <a:bodyPr wrap="square" rtlCol="0" anchor="ctr"/>
          <a:lstStyle/>
          <a:p>
            <a:pPr algn="ctr" indent="0" marL="0">
              <a:buNone/>
            </a:pPr>
            <a:r>
              <a:rPr lang="en-US" sz="3600" i="1" dirty="0">
                <a:solidFill>
                  <a:srgbClr val="595959"/>
                </a:solidFill>
                <a:latin typeface="Times New Roman" pitchFamily="34" charset="0"/>
                <a:ea typeface="Times New Roman" pitchFamily="34" charset="-122"/>
                <a:cs typeface="Times New Roman" pitchFamily="34" charset="-120"/>
              </a:rPr>
              <a:t>Questions and Discussion</a:t>
            </a:r>
            <a:endParaRPr lang="en-US" sz="3600" dirty="0"/>
          </a:p>
        </p:txBody>
      </p:sp>
      <p:sp>
        <p:nvSpPr>
          <p:cNvPr id="5" name="Text 2"/>
          <p:cNvSpPr txBox="1"/>
          <p:nvPr/>
        </p:nvSpPr>
        <p:spPr>
          <a:xfrm>
            <a:off x="1828800" y="6949440"/>
            <a:ext cx="14630400" cy="731520"/>
          </a:xfrm>
          <a:prstGeom prst="rect">
            <a:avLst/>
          </a:prstGeom>
          <a:noFill/>
          <a:ln/>
        </p:spPr>
        <p:txBody>
          <a:bodyPr wrap="square" rtlCol="0" anchor="ctr"/>
          <a:lstStyle/>
          <a:p>
            <a:pPr algn="ctr" indent="0" marL="0">
              <a:buNone/>
            </a:pPr>
            <a:r>
              <a:rPr lang="en-US" sz="2600" dirty="0">
                <a:solidFill>
                  <a:srgbClr val="000000"/>
                </a:solidFill>
                <a:latin typeface="Times New Roman" pitchFamily="34" charset="0"/>
                <a:ea typeface="Times New Roman" pitchFamily="34" charset="-122"/>
                <a:cs typeface="Times New Roman" pitchFamily="34" charset="-120"/>
              </a:rPr>
              <a:t>Samirah Alkhaldi · College of Nursing · King Saud University</a:t>
            </a:r>
            <a:endParaRPr lang="en-US" sz="2600" dirty="0"/>
          </a:p>
        </p:txBody>
      </p:sp>
    </p:spTree>
  </p:cSld>
  <p:clrMapOvr>
    <a:masterClrMapping/>
  </p:clrMapOvr>
</p:sld>
</file>

<file path=ppt/theme/theme1.xml><?xml version="1.0" encoding="utf-8"?>
<a:theme xmlns:a="http://schemas.openxmlformats.org/drawingml/2006/main" name="KSU Thesis">
  <a:themeElements>
    <a:clrScheme name="KSU Thesis">
      <a:dk1>
        <a:srgbClr val="000000"/>
      </a:dk1>
      <a:lt1>
        <a:srgbClr val="FFFFFF"/>
      </a:lt1>
      <a:dk2>
        <a:srgbClr val="1A3760"/>
      </a:dk2>
      <a:lt2>
        <a:srgbClr val="EEF1F7"/>
      </a:lt2>
      <a:accent1>
        <a:srgbClr val="4F81BD"/>
      </a:accent1>
      <a:accent2>
        <a:srgbClr val="F2B800"/>
      </a:accent2>
      <a:accent3>
        <a:srgbClr val="9BBB59"/>
      </a:accent3>
      <a:accent4>
        <a:srgbClr val="8064A2"/>
      </a:accent4>
      <a:accent5>
        <a:srgbClr val="4BACC6"/>
      </a:accent5>
      <a:accent6>
        <a:srgbClr val="F79646"/>
      </a:accent6>
      <a:hlink>
        <a:srgbClr val="0000FF"/>
      </a:hlink>
      <a:folHlink>
        <a:srgbClr val="800080"/>
      </a:folHlink>
    </a:clrScheme>
    <a:fontScheme name="KSU Thesis">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Assessing Nurses' Knowledge, Perception, and Practice About Pandemic Disasters</dc:title>
  <dc:subject>PptxGenJS Presentation</dc:subject>
  <dc:creator>Samirah Alkhaldi</dc:creator>
  <cp:lastModifiedBy>Samirah Alkhaldi</cp:lastModifiedBy>
  <cp:revision>1</cp:revision>
  <dcterms:created xsi:type="dcterms:W3CDTF">2026-10-06T23:43:54Z</dcterms:created>
  <dcterms:modified xsi:type="dcterms:W3CDTF">2026-10-06T23:43:54Z</dcterms:modified>
</cp:coreProperties>
</file>