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40f3e49-bcd7-890a-2119-cc693026b380}">
          <p14:sldIdLst>
            <p14:sldId id="256"/>
            <p14:sldId id="257"/>
            <p14:sldId id="258"/>
            <p14:sldId id="259"/>
            <p14:sldId id="260"/>
            <p14:sldId id="261"/>
          </p14:sldIdLst>
        </p14:section>
        <p14:section name="Methodology" id="{a4e9227a-a82e-e011-9151-9403531aad3c}">
          <p14:sldIdLst>
            <p14:sldId id="262"/>
            <p14:sldId id="263"/>
            <p14:sldId id="264"/>
          </p14:sldIdLst>
        </p14:section>
        <p14:section name="Results" id="{a93711ad-b0a0-d2c3-cf42-a0c5fbcdd889}">
          <p14:sldIdLst>
            <p14:sldId id="265"/>
            <p14:sldId id="266"/>
            <p14:sldId id="267"/>
            <p14:sldId id="268"/>
            <p14:sldId id="269"/>
          </p14:sldIdLst>
        </p14:section>
        <p14:section name="Discussion" id="{933b1c87-d1bf-f728-7072-643011ec7431}">
          <p14:sldIdLst>
            <p14:sldId id="270"/>
            <p14:sldId id="271"/>
            <p14:sldId id="272"/>
          </p14:sldIdLst>
        </p14:section>
        <p14:section name="Conclusion" id="{a8d43ebd-5b43-3027-1ef6-0e1f214c5afc}">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SU Title">
    <p:bg>
      <p:bgPr>
        <a:solidFill>
          <a:srgbClr val="FFFFFF"/>
        </a:solidFill>
      </p:bgPr>
    </p:bg>
    <p:spTree>
      <p:nvGrpSpPr>
        <p:cNvPr id="1" name=""/>
        <p:cNvGrpSpPr/>
        <p:nvPr/>
      </p:nvGrpSpPr>
      <p:grpSpPr>
        <a:xfrm>
          <a:off x="0" y="0"/>
          <a:ext cx="0" cy="0"/>
          <a:chOff x="0" y="0"/>
          <a:chExt cx="0" cy="0"/>
        </a:xfrm>
      </p:grpSpPr>
      <p:pic>
        <p:nvPicPr>
          <p:cNvPr id="2" name="Image 0" descr="/tmp/claude-0/-home-user-CIPC/1ef487fd-4d6c-5dcb-aba6-fa5466b3c339/scratchpad/build/assets/ksu_logo.jpeg">    </p:cNvPr>
          <p:cNvPicPr>
            <a:picLocks noChangeAspect="1"/>
          </p:cNvPicPr>
          <p:nvPr/>
        </p:nvPicPr>
        <p:blipFill>
          <a:blip r:embed="rId1"/>
          <a:stretch>
            <a:fillRect/>
          </a:stretch>
        </p:blipFill>
        <p:spPr>
          <a:xfrm>
            <a:off x="14776704" y="0"/>
            <a:ext cx="3483864" cy="1545336"/>
          </a:xfrm>
          <a:prstGeom prst="rect">
            <a:avLst/>
          </a:prstGeom>
        </p:spPr>
      </p:pic>
      <p:sp>
        <p:nvSpPr>
          <p:cNvPr id="3" name="Shape 0"/>
          <p:cNvSpPr/>
          <p:nvPr/>
        </p:nvSpPr>
        <p:spPr>
          <a:xfrm>
            <a:off x="0" y="9646920"/>
            <a:ext cx="18288000" cy="0"/>
          </a:xfrm>
          <a:prstGeom prst="line">
            <a:avLst/>
          </a:prstGeom>
          <a:noFill/>
          <a:ln w="19050">
            <a:solidFill>
              <a:srgbClr val="333333"/>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SU Content">
    <p:bg>
      <p:bgPr>
        <a:solidFill>
          <a:srgbClr val="FFFFFF"/>
        </a:solidFill>
      </p:bgPr>
    </p:bg>
    <p:spTree>
      <p:nvGrpSpPr>
        <p:cNvPr id="1" name=""/>
        <p:cNvGrpSpPr/>
        <p:nvPr/>
      </p:nvGrpSpPr>
      <p:grpSpPr>
        <a:xfrm>
          <a:off x="0" y="0"/>
          <a:ext cx="0" cy="0"/>
          <a:chOff x="0" y="0"/>
          <a:chExt cx="0" cy="0"/>
        </a:xfrm>
      </p:grpSpPr>
      <p:pic>
        <p:nvPicPr>
          <p:cNvPr id="2" name="Image 0" descr="/tmp/claude-0/-home-user-CIPC/1ef487fd-4d6c-5dcb-aba6-fa5466b3c339/scratchpad/build/assets/ksu_logo.jpeg">    </p:cNvPr>
          <p:cNvPicPr>
            <a:picLocks noChangeAspect="1"/>
          </p:cNvPicPr>
          <p:nvPr/>
        </p:nvPicPr>
        <p:blipFill>
          <a:blip r:embed="rId1"/>
          <a:stretch>
            <a:fillRect/>
          </a:stretch>
        </p:blipFill>
        <p:spPr>
          <a:xfrm>
            <a:off x="14776704" y="0"/>
            <a:ext cx="3483864" cy="1545336"/>
          </a:xfrm>
          <a:prstGeom prst="rect">
            <a:avLst/>
          </a:prstGeom>
        </p:spPr>
      </p:pic>
      <p:pic>
        <p:nvPicPr>
          <p:cNvPr id="3" name="Image 1" descr="/tmp/claude-0/-home-user-CIPC/1ef487fd-4d6c-5dcb-aba6-fa5466b3c339/scratchpad/build/assets/band.png">    </p:cNvPr>
          <p:cNvPicPr>
            <a:picLocks noChangeAspect="1"/>
          </p:cNvPicPr>
          <p:nvPr/>
        </p:nvPicPr>
        <p:blipFill>
          <a:blip r:embed="rId2"/>
          <a:stretch>
            <a:fillRect/>
          </a:stretch>
        </p:blipFill>
        <p:spPr>
          <a:xfrm>
            <a:off x="0" y="9601200"/>
            <a:ext cx="18288000" cy="685800"/>
          </a:xfrm>
          <a:prstGeom prst="rect">
            <a:avLst/>
          </a:prstGeom>
        </p:spPr>
      </p:pic>
      <p:sp>
        <p:nvSpPr>
          <p:cNvPr id="4" name="Shape 0"/>
          <p:cNvSpPr/>
          <p:nvPr/>
        </p:nvSpPr>
        <p:spPr>
          <a:xfrm>
            <a:off x="0" y="868680"/>
            <a:ext cx="685800" cy="960120"/>
          </a:xfrm>
          <a:prstGeom prst="rect">
            <a:avLst/>
          </a:prstGeom>
          <a:solidFill>
            <a:srgbClr val="1A3760"/>
          </a:solidFill>
          <a:ln/>
        </p:spPr>
      </p:sp>
      <p:sp>
        <p:nvSpPr>
          <p:cNvPr id="5" name="Text 1"/>
          <p:cNvSpPr/>
          <p:nvPr>
            <p:ph idx="103" type="title" hasCustomPrompt="1"/>
          </p:nvPr>
        </p:nvSpPr>
        <p:spPr>
          <a:xfrm>
            <a:off x="1097280" y="777240"/>
            <a:ext cx="13350240" cy="1143000"/>
          </a:xfrm>
          <a:prstGeom prst="rect">
            <a:avLst/>
          </a:prstGeom>
          <a:noFill/>
          <a:ln/>
        </p:spPr>
        <p:txBody>
          <a:bodyPr wrap="square" rtlCol="0"/>
          <a:lstStyle>
            <a:lvl1pPr algn="l" indent="0" marL="0">
              <a:buNone/>
              <a:defRPr lang="en-US" sz="60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60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frame"/>
          <p:cNvSpPr/>
          <p:nvPr/>
        </p:nvSpPr>
        <p:spPr>
          <a:xfrm>
            <a:off x="1097280" y="594360"/>
            <a:ext cx="13350240" cy="2606040"/>
          </a:xfrm>
          <a:prstGeom prst="rect">
            <a:avLst/>
          </a:prstGeom>
          <a:solidFill>
            <a:srgbClr val="FFFFFF"/>
          </a:solidFill>
          <a:ln w="12700">
            <a:solidFill>
              <a:srgbClr val="333333"/>
            </a:solidFill>
            <a:prstDash val="solid"/>
          </a:ln>
        </p:spPr>
      </p:sp>
      <p:sp>
        <p:nvSpPr>
          <p:cNvPr id="3" name="Text 1"/>
          <p:cNvSpPr txBox="1"/>
          <p:nvPr/>
        </p:nvSpPr>
        <p:spPr>
          <a:xfrm>
            <a:off x="1371600" y="685800"/>
            <a:ext cx="12801600" cy="2423160"/>
          </a:xfrm>
          <a:prstGeom prst="rect">
            <a:avLst/>
          </a:prstGeom>
          <a:noFill/>
          <a:ln/>
        </p:spPr>
        <p:txBody>
          <a:bodyPr wrap="square" rtlCol="0" anchor="ctr"/>
          <a:lstStyle/>
          <a:p>
            <a:pPr algn="ctr" indent="0" marL="0">
              <a:buNone/>
            </a:pPr>
            <a:r>
              <a:rPr lang="en-US" sz="5000" b="1" dirty="0">
                <a:solidFill>
                  <a:srgbClr val="000000"/>
                </a:solidFill>
                <a:latin typeface="Times New Roman" pitchFamily="34" charset="0"/>
                <a:ea typeface="Times New Roman" pitchFamily="34" charset="-122"/>
                <a:cs typeface="Times New Roman" pitchFamily="34" charset="-120"/>
              </a:rPr>
              <a:t>Assessing Nurses’ Knowledge, Perception, and Practice About Pandemic Disasters</a:t>
            </a:r>
            <a:endParaRPr lang="en-US" sz="5000" dirty="0"/>
          </a:p>
        </p:txBody>
      </p:sp>
      <p:sp>
        <p:nvSpPr>
          <p:cNvPr id="4" name="Text 2"/>
          <p:cNvSpPr txBox="1"/>
          <p:nvPr/>
        </p:nvSpPr>
        <p:spPr>
          <a:xfrm>
            <a:off x="2743200" y="3749040"/>
            <a:ext cx="12801600" cy="5120640"/>
          </a:xfrm>
          <a:prstGeom prst="rect">
            <a:avLst/>
          </a:prstGeom>
          <a:noFill/>
          <a:ln/>
        </p:spPr>
        <p:txBody>
          <a:bodyPr wrap="square" rtlCol="0" anchor="t"/>
          <a:lstStyle/>
          <a:p>
            <a:pPr algn="ctr" indent="0" marL="0">
              <a:spcAft>
                <a:spcPts val="400"/>
              </a:spcAft>
              <a:buNone/>
            </a:pPr>
            <a:r>
              <a:rPr lang="en-US" sz="4500" b="1" dirty="0">
                <a:solidFill>
                  <a:srgbClr val="000000"/>
                </a:solidFill>
                <a:latin typeface="Times New Roman" pitchFamily="34" charset="0"/>
                <a:ea typeface="Times New Roman" pitchFamily="34" charset="-122"/>
                <a:cs typeface="Times New Roman" pitchFamily="34" charset="-120"/>
              </a:rPr>
              <a:t>Samirah Alkhaldi</a:t>
            </a:r>
            <a:endParaRPr lang="en-US" sz="4500" dirty="0"/>
          </a:p>
          <a:p>
            <a:pPr algn="ctr" indent="0" marL="0">
              <a:spcAft>
                <a:spcPts val="400"/>
              </a:spcAft>
              <a:buNone/>
            </a:pPr>
            <a:r>
              <a:rPr lang="en-US" sz="3500" dirty="0">
                <a:solidFill>
                  <a:srgbClr val="000000"/>
                </a:solidFill>
                <a:latin typeface="Times New Roman" pitchFamily="34" charset="0"/>
                <a:ea typeface="Times New Roman" pitchFamily="34" charset="-122"/>
                <a:cs typeface="Times New Roman" pitchFamily="34" charset="-120"/>
              </a:rPr>
              <a:t>ID: 446200992</a:t>
            </a:r>
            <a:endParaRPr lang="en-US" sz="4500" dirty="0"/>
          </a:p>
          <a:p>
            <a:pPr algn="ctr" indent="0" marL="0">
              <a:spcAft>
                <a:spcPts val="400"/>
              </a:spcAft>
              <a:buNone/>
            </a:pPr>
            <a:r>
              <a:rPr lang="en-US" sz="3500" dirty="0">
                <a:solidFill>
                  <a:srgbClr val="000000"/>
                </a:solidFill>
                <a:latin typeface="Times New Roman" pitchFamily="34" charset="0"/>
                <a:ea typeface="Times New Roman" pitchFamily="34" charset="-122"/>
                <a:cs typeface="Times New Roman" pitchFamily="34" charset="-120"/>
              </a:rPr>
              <a:t>Master Thesis Defense</a:t>
            </a:r>
            <a:endParaRPr lang="en-US" sz="4500" dirty="0"/>
          </a:p>
          <a:p>
            <a:pPr algn="ctr" indent="0" marL="0">
              <a:spcAft>
                <a:spcPts val="400"/>
              </a:spcAft>
              <a:buNone/>
            </a:pPr>
            <a:r>
              <a:rPr lang="en-US" sz="3500" dirty="0">
                <a:solidFill>
                  <a:srgbClr val="000000"/>
                </a:solidFill>
                <a:latin typeface="Times New Roman" pitchFamily="34" charset="0"/>
                <a:ea typeface="Times New Roman" pitchFamily="34" charset="-122"/>
                <a:cs typeface="Times New Roman" pitchFamily="34" charset="-120"/>
              </a:rPr>
              <a:t>College of Nursing</a:t>
            </a:r>
            <a:endParaRPr lang="en-US" sz="4500" dirty="0"/>
          </a:p>
          <a:p>
            <a:pPr algn="ctr" indent="0" marL="0">
              <a:spcAft>
                <a:spcPts val="400"/>
              </a:spcAft>
              <a:buNone/>
            </a:pPr>
            <a:r>
              <a:rPr lang="en-US" sz="3500" dirty="0">
                <a:solidFill>
                  <a:srgbClr val="000000"/>
                </a:solidFill>
                <a:latin typeface="Times New Roman" pitchFamily="34" charset="0"/>
                <a:ea typeface="Times New Roman" pitchFamily="34" charset="-122"/>
                <a:cs typeface="Times New Roman" pitchFamily="34" charset="-120"/>
              </a:rPr>
              <a:t>King Saud University</a:t>
            </a:r>
            <a:endParaRPr lang="en-US" sz="4500" dirty="0"/>
          </a:p>
          <a:p>
            <a:pPr algn="ctr" indent="0" marL="0">
              <a:spcAft>
                <a:spcPts val="400"/>
              </a:spcAft>
              <a:buNone/>
            </a:pPr>
            <a:r>
              <a:rPr lang="en-US" sz="3000" dirty="0">
                <a:solidFill>
                  <a:srgbClr val="404040"/>
                </a:solidFill>
                <a:latin typeface="Times New Roman" pitchFamily="34" charset="0"/>
                <a:ea typeface="Times New Roman" pitchFamily="34" charset="-122"/>
                <a:cs typeface="Times New Roman" pitchFamily="34" charset="-120"/>
              </a:rPr>
              <a:t>(1446H) — (2025G)</a:t>
            </a:r>
            <a:endParaRPr lang="en-US" sz="4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Background</a:t>
            </a:r>
            <a:endParaRPr lang="en-US" sz="6000" dirty="0"/>
          </a:p>
        </p:txBody>
      </p:sp>
      <p:sp>
        <p:nvSpPr>
          <p:cNvPr id="3" name="Text 1"/>
          <p:cNvSpPr txBox="1"/>
          <p:nvPr/>
        </p:nvSpPr>
        <p:spPr>
          <a:xfrm>
            <a:off x="1097280" y="2286000"/>
            <a:ext cx="9875520" cy="6949440"/>
          </a:xfrm>
          <a:prstGeom prst="rect">
            <a:avLst/>
          </a:prstGeom>
          <a:noFill/>
          <a:ln/>
        </p:spPr>
        <p:txBody>
          <a:bodyPr wrap="square" rtlCol="0" anchor="t"/>
          <a:lstStyle/>
          <a:p>
            <a:pPr marL="342900" indent="-342900">
              <a:spcAft>
                <a:spcPts val="1600"/>
              </a:spcAft>
              <a:buSzPct val="100000"/>
              <a:buChar char="•"/>
            </a:pPr>
            <a:r>
              <a:rPr lang="en-US" sz="2600" dirty="0">
                <a:solidFill>
                  <a:srgbClr val="000000"/>
                </a:solidFill>
                <a:latin typeface="Times New Roman" pitchFamily="34" charset="0"/>
                <a:ea typeface="Times New Roman" pitchFamily="34" charset="-122"/>
                <a:cs typeface="Times New Roman" pitchFamily="34" charset="-120"/>
              </a:rPr>
              <a:t>Pandemic disasters are emerging as defining challenges to global public health in the 21st century, and have revealed gaps across health systems in preparation for and response to pandemics.</a:t>
            </a:r>
            <a:endParaRPr lang="en-US" sz="2600" dirty="0"/>
          </a:p>
          <a:p>
            <a:pPr marL="342900" indent="-342900">
              <a:spcAft>
                <a:spcPts val="1600"/>
              </a:spcAft>
              <a:buSzPct val="100000"/>
              <a:buChar char="•"/>
            </a:pPr>
            <a:r>
              <a:rPr lang="en-US" sz="2600" dirty="0">
                <a:solidFill>
                  <a:srgbClr val="000000"/>
                </a:solidFill>
                <a:latin typeface="Times New Roman" pitchFamily="34" charset="0"/>
                <a:ea typeface="Times New Roman" pitchFamily="34" charset="-122"/>
                <a:cs typeface="Times New Roman" pitchFamily="34" charset="-120"/>
              </a:rPr>
              <a:t>Nurses, being the largest workforce category, shoulder the burden to the maximum — overseeing infection prevention, coordinating patient triage, and communicating with patients and families under tremendous psychological and physical stress.</a:t>
            </a:r>
            <a:endParaRPr lang="en-US" sz="2600" dirty="0"/>
          </a:p>
          <a:p>
            <a:pPr marL="342900" indent="-342900">
              <a:spcAft>
                <a:spcPts val="1600"/>
              </a:spcAft>
              <a:buSzPct val="100000"/>
              <a:buChar char="•"/>
            </a:pPr>
            <a:r>
              <a:rPr lang="en-US" sz="2600" dirty="0">
                <a:solidFill>
                  <a:srgbClr val="000000"/>
                </a:solidFill>
                <a:latin typeface="Times New Roman" pitchFamily="34" charset="0"/>
                <a:ea typeface="Times New Roman" pitchFamily="34" charset="-122"/>
                <a:cs typeface="Times New Roman" pitchFamily="34" charset="-120"/>
              </a:rPr>
              <a:t>The COVID-19 pandemic has pointed out that frontline preparedness is uneven, and that overall assessment of the triad — knowledge, perception and practice — is important to bolster nurses’ capacity to manage pandemic disasters.</a:t>
            </a:r>
            <a:endParaRPr lang="en-US" sz="2600" dirty="0"/>
          </a:p>
        </p:txBody>
      </p:sp>
      <p:sp>
        <p:nvSpPr>
          <p:cNvPr id="4" name="triad card"/>
          <p:cNvSpPr/>
          <p:nvPr/>
        </p:nvSpPr>
        <p:spPr>
          <a:xfrm>
            <a:off x="11430000" y="2743200"/>
            <a:ext cx="5852160" cy="5669280"/>
          </a:xfrm>
          <a:prstGeom prst="roundRect">
            <a:avLst>
              <a:gd name="adj" fmla="val 3226"/>
            </a:avLst>
          </a:prstGeom>
          <a:solidFill>
            <a:srgbClr val="D6DDEA"/>
          </a:solidFill>
          <a:ln w="12700">
            <a:solidFill>
              <a:srgbClr val="D6DDEA"/>
            </a:solidFill>
            <a:prstDash val="solid"/>
          </a:ln>
        </p:spPr>
      </p:sp>
      <p:sp>
        <p:nvSpPr>
          <p:cNvPr id="5" name="triad Knowledge"/>
          <p:cNvSpPr/>
          <p:nvPr/>
        </p:nvSpPr>
        <p:spPr>
          <a:xfrm>
            <a:off x="12070080" y="3108960"/>
            <a:ext cx="4572000" cy="731520"/>
          </a:xfrm>
          <a:prstGeom prst="roundRect">
            <a:avLst>
              <a:gd name="adj" fmla="val 18750"/>
            </a:avLst>
          </a:prstGeom>
          <a:solidFill>
            <a:srgbClr val="4F81BD"/>
          </a:solidFill>
          <a:ln w="19050">
            <a:solidFill>
              <a:srgbClr val="FFFFFF"/>
            </a:solidFill>
            <a:prstDash val="solid"/>
          </a:ln>
        </p:spPr>
      </p:sp>
      <p:sp>
        <p:nvSpPr>
          <p:cNvPr id="6" name="Text 4"/>
          <p:cNvSpPr txBox="1"/>
          <p:nvPr/>
        </p:nvSpPr>
        <p:spPr>
          <a:xfrm>
            <a:off x="12070080" y="3108960"/>
            <a:ext cx="4572000" cy="731520"/>
          </a:xfrm>
          <a:prstGeom prst="rect">
            <a:avLst/>
          </a:prstGeom>
          <a:noFill/>
          <a:ln/>
        </p:spPr>
        <p:txBody>
          <a:bodyPr wrap="square"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Knowledge</a:t>
            </a:r>
            <a:endParaRPr lang="en-US" sz="3000" dirty="0"/>
          </a:p>
        </p:txBody>
      </p:sp>
      <p:sp>
        <p:nvSpPr>
          <p:cNvPr id="7" name="triad Perception"/>
          <p:cNvSpPr/>
          <p:nvPr/>
        </p:nvSpPr>
        <p:spPr>
          <a:xfrm>
            <a:off x="12070080" y="4023360"/>
            <a:ext cx="4572000" cy="731520"/>
          </a:xfrm>
          <a:prstGeom prst="roundRect">
            <a:avLst>
              <a:gd name="adj" fmla="val 18750"/>
            </a:avLst>
          </a:prstGeom>
          <a:solidFill>
            <a:srgbClr val="4F81BD"/>
          </a:solidFill>
          <a:ln w="19050">
            <a:solidFill>
              <a:srgbClr val="FFFFFF"/>
            </a:solidFill>
            <a:prstDash val="solid"/>
          </a:ln>
        </p:spPr>
      </p:sp>
      <p:sp>
        <p:nvSpPr>
          <p:cNvPr id="8" name="Text 6"/>
          <p:cNvSpPr txBox="1"/>
          <p:nvPr/>
        </p:nvSpPr>
        <p:spPr>
          <a:xfrm>
            <a:off x="12070080" y="4023360"/>
            <a:ext cx="4572000" cy="731520"/>
          </a:xfrm>
          <a:prstGeom prst="rect">
            <a:avLst/>
          </a:prstGeom>
          <a:noFill/>
          <a:ln/>
        </p:spPr>
        <p:txBody>
          <a:bodyPr wrap="square"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Perception</a:t>
            </a:r>
            <a:endParaRPr lang="en-US" sz="3000" dirty="0"/>
          </a:p>
        </p:txBody>
      </p:sp>
      <p:sp>
        <p:nvSpPr>
          <p:cNvPr id="9" name="triad Practice"/>
          <p:cNvSpPr/>
          <p:nvPr/>
        </p:nvSpPr>
        <p:spPr>
          <a:xfrm>
            <a:off x="12070080" y="4937760"/>
            <a:ext cx="4572000" cy="731520"/>
          </a:xfrm>
          <a:prstGeom prst="roundRect">
            <a:avLst>
              <a:gd name="adj" fmla="val 18750"/>
            </a:avLst>
          </a:prstGeom>
          <a:solidFill>
            <a:srgbClr val="4F81BD"/>
          </a:solidFill>
          <a:ln w="19050">
            <a:solidFill>
              <a:srgbClr val="FFFFFF"/>
            </a:solidFill>
            <a:prstDash val="solid"/>
          </a:ln>
        </p:spPr>
      </p:sp>
      <p:sp>
        <p:nvSpPr>
          <p:cNvPr id="10" name="Text 8"/>
          <p:cNvSpPr txBox="1"/>
          <p:nvPr/>
        </p:nvSpPr>
        <p:spPr>
          <a:xfrm>
            <a:off x="12070080" y="4937760"/>
            <a:ext cx="4572000" cy="731520"/>
          </a:xfrm>
          <a:prstGeom prst="rect">
            <a:avLst/>
          </a:prstGeom>
          <a:noFill/>
          <a:ln/>
        </p:spPr>
        <p:txBody>
          <a:bodyPr wrap="square"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Practice</a:t>
            </a:r>
            <a:endParaRPr lang="en-US" sz="3000" dirty="0"/>
          </a:p>
        </p:txBody>
      </p:sp>
      <p:sp>
        <p:nvSpPr>
          <p:cNvPr id="11" name="Text 9"/>
          <p:cNvSpPr txBox="1"/>
          <p:nvPr/>
        </p:nvSpPr>
        <p:spPr>
          <a:xfrm>
            <a:off x="11887200" y="5989320"/>
            <a:ext cx="4937760" cy="2286000"/>
          </a:xfrm>
          <a:prstGeom prst="rect">
            <a:avLst/>
          </a:prstGeom>
          <a:noFill/>
          <a:ln/>
        </p:spPr>
        <p:txBody>
          <a:bodyPr wrap="square" rtlCol="0" anchor="ctr"/>
          <a:lstStyle/>
          <a:p>
            <a:pPr algn="ctr" indent="0" marL="0">
              <a:buNone/>
            </a:pPr>
            <a:r>
              <a:rPr lang="en-US" sz="2500" i="1" dirty="0">
                <a:solidFill>
                  <a:srgbClr val="000000"/>
                </a:solidFill>
                <a:latin typeface="Times New Roman" pitchFamily="34" charset="0"/>
                <a:ea typeface="Times New Roman" pitchFamily="34" charset="-122"/>
                <a:cs typeface="Times New Roman" pitchFamily="34" charset="-120"/>
              </a:rPr>
              <a:t>An interrelated structure influencing nurses’ response to pandemic disasters. A lack in any one can challenge comprehensive preparedness.</a:t>
            </a:r>
            <a:endParaRPr lang="en-US" sz="25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Problem Statement</a:t>
            </a:r>
            <a:endParaRPr lang="en-US" sz="6000" dirty="0"/>
          </a:p>
        </p:txBody>
      </p:sp>
      <p:sp>
        <p:nvSpPr>
          <p:cNvPr id="3" name="Text 1"/>
          <p:cNvSpPr txBox="1"/>
          <p:nvPr/>
        </p:nvSpPr>
        <p:spPr>
          <a:xfrm>
            <a:off x="1097280" y="2377440"/>
            <a:ext cx="15910560" cy="4846320"/>
          </a:xfrm>
          <a:prstGeom prst="rect">
            <a:avLst/>
          </a:prstGeom>
          <a:noFill/>
          <a:ln/>
        </p:spPr>
        <p:txBody>
          <a:bodyPr wrap="square" rtlCol="0" anchor="t"/>
          <a:lstStyle/>
          <a:p>
            <a:pPr marL="342900" indent="-342900">
              <a:lnSpc>
                <a:spcPct val="110000"/>
              </a:lnSpc>
              <a:spcAft>
                <a:spcPts val="2000"/>
              </a:spcAft>
              <a:buSzPct val="100000"/>
              <a:buChar char="•"/>
            </a:pPr>
            <a:r>
              <a:rPr lang="en-US" sz="3000" dirty="0">
                <a:solidFill>
                  <a:srgbClr val="000000"/>
                </a:solidFill>
                <a:latin typeface="Times New Roman" pitchFamily="34" charset="0"/>
                <a:ea typeface="Times New Roman" pitchFamily="34" charset="-122"/>
                <a:cs typeface="Times New Roman" pitchFamily="34" charset="-120"/>
              </a:rPr>
              <a:t>Research has consistently indicated that nurses’ knowledge, attitude and practice are not aligned. Although nurses possess satisfactory theoretical information, it does not necessarily lead to optimistic perceptions regarding preparedness and uniformity in clinical practices.</a:t>
            </a:r>
            <a:endParaRPr lang="en-US" sz="3000" dirty="0"/>
          </a:p>
          <a:p>
            <a:pPr marL="342900" indent="-342900">
              <a:lnSpc>
                <a:spcPct val="110000"/>
              </a:lnSpc>
              <a:spcAft>
                <a:spcPts val="2000"/>
              </a:spcAft>
              <a:buSzPct val="100000"/>
              <a:buChar char="•"/>
            </a:pPr>
            <a:r>
              <a:rPr lang="en-US" sz="3000" dirty="0">
                <a:solidFill>
                  <a:srgbClr val="000000"/>
                </a:solidFill>
                <a:latin typeface="Times New Roman" pitchFamily="34" charset="0"/>
                <a:ea typeface="Times New Roman" pitchFamily="34" charset="-122"/>
                <a:cs typeface="Times New Roman" pitchFamily="34" charset="-120"/>
              </a:rPr>
              <a:t>Nurses may possess theoretical knowledge but lack confidence or preparedness to carry it out, or they may perceive that they are prepared but do not apply evidence-based care.</a:t>
            </a:r>
            <a:endParaRPr lang="en-US" sz="3000" dirty="0"/>
          </a:p>
          <a:p>
            <a:pPr marL="342900" indent="-342900">
              <a:lnSpc>
                <a:spcPct val="110000"/>
              </a:lnSpc>
              <a:spcAft>
                <a:spcPts val="2000"/>
              </a:spcAft>
              <a:buSzPct val="100000"/>
              <a:buChar char="•"/>
            </a:pPr>
            <a:r>
              <a:rPr lang="en-US" sz="3000" dirty="0">
                <a:solidFill>
                  <a:srgbClr val="000000"/>
                </a:solidFill>
                <a:latin typeface="Times New Roman" pitchFamily="34" charset="0"/>
                <a:ea typeface="Times New Roman" pitchFamily="34" charset="-122"/>
                <a:cs typeface="Times New Roman" pitchFamily="34" charset="-120"/>
              </a:rPr>
              <a:t>This dissonance leads to vulnerability in health systems when front-line staff are slow to act, perform poorly, or act erratically in crises.</a:t>
            </a:r>
            <a:endParaRPr lang="en-US" sz="3000" dirty="0"/>
          </a:p>
        </p:txBody>
      </p:sp>
      <p:sp>
        <p:nvSpPr>
          <p:cNvPr id="4" name="banner"/>
          <p:cNvSpPr/>
          <p:nvPr/>
        </p:nvSpPr>
        <p:spPr>
          <a:xfrm>
            <a:off x="1097280" y="7452360"/>
            <a:ext cx="15910560" cy="1691640"/>
          </a:xfrm>
          <a:prstGeom prst="rect">
            <a:avLst/>
          </a:prstGeom>
          <a:solidFill>
            <a:srgbClr val="EEF1F7"/>
          </a:solidFill>
          <a:ln w="25400">
            <a:solidFill>
              <a:srgbClr val="1A3760"/>
            </a:solidFill>
            <a:prstDash val="solid"/>
          </a:ln>
        </p:spPr>
      </p:sp>
      <p:sp>
        <p:nvSpPr>
          <p:cNvPr id="5" name="Text 3"/>
          <p:cNvSpPr txBox="1"/>
          <p:nvPr/>
        </p:nvSpPr>
        <p:spPr>
          <a:xfrm>
            <a:off x="1280160" y="7452360"/>
            <a:ext cx="15544800" cy="1691640"/>
          </a:xfrm>
          <a:prstGeom prst="rect">
            <a:avLst/>
          </a:prstGeom>
          <a:noFill/>
          <a:ln/>
        </p:spPr>
        <p:txBody>
          <a:bodyPr wrap="square" lIns="50800" tIns="50800" rIns="50800" bIns="50800" rtlCol="0" anchor="ctr"/>
          <a:lstStyle/>
          <a:p>
            <a:pPr indent="0" marL="0">
              <a:buNone/>
            </a:pPr>
            <a:r>
              <a:rPr lang="en-US" sz="2800" dirty="0">
                <a:solidFill>
                  <a:srgbClr val="000000"/>
                </a:solidFill>
                <a:latin typeface="Times New Roman" pitchFamily="34" charset="0"/>
                <a:ea typeface="Times New Roman" pitchFamily="34" charset="-122"/>
                <a:cs typeface="Times New Roman" pitchFamily="34" charset="-120"/>
              </a:rPr>
              <a:t>In the absence of systematic evaluation of these dimensions, critical gaps remain unaddressed — compromising pandemic preparedness and risking the safety of healthcare workers and patient outcomes.</a:t>
            </a:r>
            <a:endParaRPr lang="en-US" sz="28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Significance of the Study</a:t>
            </a:r>
            <a:endParaRPr lang="en-US" sz="6000" dirty="0"/>
          </a:p>
        </p:txBody>
      </p:sp>
      <p:sp>
        <p:nvSpPr>
          <p:cNvPr id="3" name="sig card 1"/>
          <p:cNvSpPr/>
          <p:nvPr/>
        </p:nvSpPr>
        <p:spPr>
          <a:xfrm>
            <a:off x="1097280" y="2331720"/>
            <a:ext cx="7818120" cy="3246120"/>
          </a:xfrm>
          <a:prstGeom prst="roundRect">
            <a:avLst>
              <a:gd name="adj" fmla="val 4225"/>
            </a:avLst>
          </a:prstGeom>
          <a:solidFill>
            <a:srgbClr val="D6DDEA"/>
          </a:solidFill>
          <a:ln w="12700">
            <a:solidFill>
              <a:srgbClr val="D6DDEA"/>
            </a:solidFill>
            <a:prstDash val="solid"/>
          </a:ln>
        </p:spPr>
      </p:sp>
      <p:sp>
        <p:nvSpPr>
          <p:cNvPr id="4" name="sig num 1"/>
          <p:cNvSpPr/>
          <p:nvPr/>
        </p:nvSpPr>
        <p:spPr>
          <a:xfrm>
            <a:off x="1371600" y="2606040"/>
            <a:ext cx="731520" cy="731520"/>
          </a:xfrm>
          <a:prstGeom prst="ellipse">
            <a:avLst/>
          </a:prstGeom>
          <a:solidFill>
            <a:srgbClr val="1A3760"/>
          </a:solidFill>
          <a:ln w="12700">
            <a:solidFill>
              <a:srgbClr val="1A3760"/>
            </a:solidFill>
            <a:prstDash val="solid"/>
          </a:ln>
        </p:spPr>
      </p:sp>
      <p:sp>
        <p:nvSpPr>
          <p:cNvPr id="5" name="Text 3"/>
          <p:cNvSpPr txBox="1"/>
          <p:nvPr/>
        </p:nvSpPr>
        <p:spPr>
          <a:xfrm>
            <a:off x="1371600" y="2606040"/>
            <a:ext cx="731520" cy="731520"/>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01</a:t>
            </a:r>
            <a:endParaRPr lang="en-US" sz="2500" dirty="0"/>
          </a:p>
        </p:txBody>
      </p:sp>
      <p:sp>
        <p:nvSpPr>
          <p:cNvPr id="6" name="Text 4"/>
          <p:cNvSpPr txBox="1"/>
          <p:nvPr/>
        </p:nvSpPr>
        <p:spPr>
          <a:xfrm>
            <a:off x="2286000" y="2606040"/>
            <a:ext cx="6400800" cy="731520"/>
          </a:xfrm>
          <a:prstGeom prst="rect">
            <a:avLst/>
          </a:prstGeom>
          <a:noFill/>
          <a:ln/>
        </p:spPr>
        <p:txBody>
          <a:bodyPr wrap="square" lIns="0" tIns="0" rIns="0" bIns="0" rtlCol="0" anchor="ctr"/>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Integrated View</a:t>
            </a:r>
            <a:endParaRPr lang="en-US" sz="3200" dirty="0"/>
          </a:p>
        </p:txBody>
      </p:sp>
      <p:sp>
        <p:nvSpPr>
          <p:cNvPr id="7" name="Text 5"/>
          <p:cNvSpPr txBox="1"/>
          <p:nvPr/>
        </p:nvSpPr>
        <p:spPr>
          <a:xfrm>
            <a:off x="1371600" y="3474720"/>
            <a:ext cx="7269480" cy="1920240"/>
          </a:xfrm>
          <a:prstGeom prst="rect">
            <a:avLst/>
          </a:prstGeom>
          <a:noFill/>
          <a:ln/>
        </p:spPr>
        <p:txBody>
          <a:bodyPr wrap="square" rtlCol="0" anchor="t"/>
          <a:lstStyle/>
          <a:p>
            <a:pPr indent="0" marL="0">
              <a:buNone/>
            </a:pPr>
            <a:r>
              <a:rPr lang="en-US" sz="2600" dirty="0">
                <a:solidFill>
                  <a:srgbClr val="000000"/>
                </a:solidFill>
                <a:latin typeface="Times New Roman" pitchFamily="34" charset="0"/>
                <a:ea typeface="Times New Roman" pitchFamily="34" charset="-122"/>
                <a:cs typeface="Times New Roman" pitchFamily="34" charset="-120"/>
              </a:rPr>
              <a:t>Combines three important but usually independently examined variables of disaster response preparedness (DRP): knowledge, perception and practice.</a:t>
            </a:r>
            <a:endParaRPr lang="en-US" sz="2600" dirty="0"/>
          </a:p>
        </p:txBody>
      </p:sp>
      <p:sp>
        <p:nvSpPr>
          <p:cNvPr id="8" name="sig card 2"/>
          <p:cNvSpPr/>
          <p:nvPr/>
        </p:nvSpPr>
        <p:spPr>
          <a:xfrm>
            <a:off x="9189720" y="2331720"/>
            <a:ext cx="7818120" cy="3246120"/>
          </a:xfrm>
          <a:prstGeom prst="roundRect">
            <a:avLst>
              <a:gd name="adj" fmla="val 4225"/>
            </a:avLst>
          </a:prstGeom>
          <a:solidFill>
            <a:srgbClr val="D6DDEA"/>
          </a:solidFill>
          <a:ln w="12700">
            <a:solidFill>
              <a:srgbClr val="D6DDEA"/>
            </a:solidFill>
            <a:prstDash val="solid"/>
          </a:ln>
        </p:spPr>
      </p:sp>
      <p:sp>
        <p:nvSpPr>
          <p:cNvPr id="9" name="sig num 2"/>
          <p:cNvSpPr/>
          <p:nvPr/>
        </p:nvSpPr>
        <p:spPr>
          <a:xfrm>
            <a:off x="9464040" y="2606040"/>
            <a:ext cx="731520" cy="731520"/>
          </a:xfrm>
          <a:prstGeom prst="ellipse">
            <a:avLst/>
          </a:prstGeom>
          <a:solidFill>
            <a:srgbClr val="1A3760"/>
          </a:solidFill>
          <a:ln w="12700">
            <a:solidFill>
              <a:srgbClr val="1A3760"/>
            </a:solidFill>
            <a:prstDash val="solid"/>
          </a:ln>
        </p:spPr>
      </p:sp>
      <p:sp>
        <p:nvSpPr>
          <p:cNvPr id="10" name="Text 8"/>
          <p:cNvSpPr txBox="1"/>
          <p:nvPr/>
        </p:nvSpPr>
        <p:spPr>
          <a:xfrm>
            <a:off x="9464040" y="2606040"/>
            <a:ext cx="731520" cy="731520"/>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02</a:t>
            </a:r>
            <a:endParaRPr lang="en-US" sz="2500" dirty="0"/>
          </a:p>
        </p:txBody>
      </p:sp>
      <p:sp>
        <p:nvSpPr>
          <p:cNvPr id="11" name="Text 9"/>
          <p:cNvSpPr txBox="1"/>
          <p:nvPr/>
        </p:nvSpPr>
        <p:spPr>
          <a:xfrm>
            <a:off x="10378440" y="2606040"/>
            <a:ext cx="6400800" cy="731520"/>
          </a:xfrm>
          <a:prstGeom prst="rect">
            <a:avLst/>
          </a:prstGeom>
          <a:noFill/>
          <a:ln/>
        </p:spPr>
        <p:txBody>
          <a:bodyPr wrap="square" lIns="0" tIns="0" rIns="0" bIns="0" rtlCol="0" anchor="ctr"/>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Filling a Gap</a:t>
            </a:r>
            <a:endParaRPr lang="en-US" sz="3200" dirty="0"/>
          </a:p>
        </p:txBody>
      </p:sp>
      <p:sp>
        <p:nvSpPr>
          <p:cNvPr id="12" name="Text 10"/>
          <p:cNvSpPr txBox="1"/>
          <p:nvPr/>
        </p:nvSpPr>
        <p:spPr>
          <a:xfrm>
            <a:off x="9464040" y="3474720"/>
            <a:ext cx="7269480" cy="1920240"/>
          </a:xfrm>
          <a:prstGeom prst="rect">
            <a:avLst/>
          </a:prstGeom>
          <a:noFill/>
          <a:ln/>
        </p:spPr>
        <p:txBody>
          <a:bodyPr wrap="square" rtlCol="0" anchor="t"/>
          <a:lstStyle/>
          <a:p>
            <a:pPr indent="0" marL="0">
              <a:buNone/>
            </a:pPr>
            <a:r>
              <a:rPr lang="en-US" sz="2600" dirty="0">
                <a:solidFill>
                  <a:srgbClr val="000000"/>
                </a:solidFill>
                <a:latin typeface="Times New Roman" pitchFamily="34" charset="0"/>
                <a:ea typeface="Times New Roman" pitchFamily="34" charset="-122"/>
                <a:cs typeface="Times New Roman" pitchFamily="34" charset="-120"/>
              </a:rPr>
              <a:t>Past studies addressed each aspect separately — knowledge of protocols, perceptions of risk and preparedness, or compliance with disaster management practices.</a:t>
            </a:r>
            <a:endParaRPr lang="en-US" sz="2600" dirty="0"/>
          </a:p>
        </p:txBody>
      </p:sp>
      <p:sp>
        <p:nvSpPr>
          <p:cNvPr id="13" name="sig card 3"/>
          <p:cNvSpPr/>
          <p:nvPr/>
        </p:nvSpPr>
        <p:spPr>
          <a:xfrm>
            <a:off x="1097280" y="5852160"/>
            <a:ext cx="7818120" cy="3246120"/>
          </a:xfrm>
          <a:prstGeom prst="roundRect">
            <a:avLst>
              <a:gd name="adj" fmla="val 4225"/>
            </a:avLst>
          </a:prstGeom>
          <a:solidFill>
            <a:srgbClr val="D6DDEA"/>
          </a:solidFill>
          <a:ln w="12700">
            <a:solidFill>
              <a:srgbClr val="D6DDEA"/>
            </a:solidFill>
            <a:prstDash val="solid"/>
          </a:ln>
        </p:spPr>
      </p:sp>
      <p:sp>
        <p:nvSpPr>
          <p:cNvPr id="14" name="sig num 3"/>
          <p:cNvSpPr/>
          <p:nvPr/>
        </p:nvSpPr>
        <p:spPr>
          <a:xfrm>
            <a:off x="1371600" y="6126480"/>
            <a:ext cx="731520" cy="731520"/>
          </a:xfrm>
          <a:prstGeom prst="ellipse">
            <a:avLst/>
          </a:prstGeom>
          <a:solidFill>
            <a:srgbClr val="1A3760"/>
          </a:solidFill>
          <a:ln w="12700">
            <a:solidFill>
              <a:srgbClr val="1A3760"/>
            </a:solidFill>
            <a:prstDash val="solid"/>
          </a:ln>
        </p:spPr>
      </p:sp>
      <p:sp>
        <p:nvSpPr>
          <p:cNvPr id="15" name="Text 13"/>
          <p:cNvSpPr txBox="1"/>
          <p:nvPr/>
        </p:nvSpPr>
        <p:spPr>
          <a:xfrm>
            <a:off x="1371600" y="6126480"/>
            <a:ext cx="731520" cy="731520"/>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03</a:t>
            </a:r>
            <a:endParaRPr lang="en-US" sz="2500" dirty="0"/>
          </a:p>
        </p:txBody>
      </p:sp>
      <p:sp>
        <p:nvSpPr>
          <p:cNvPr id="16" name="Text 14"/>
          <p:cNvSpPr txBox="1"/>
          <p:nvPr/>
        </p:nvSpPr>
        <p:spPr>
          <a:xfrm>
            <a:off x="2286000" y="6126480"/>
            <a:ext cx="6400800" cy="731520"/>
          </a:xfrm>
          <a:prstGeom prst="rect">
            <a:avLst/>
          </a:prstGeom>
          <a:noFill/>
          <a:ln/>
        </p:spPr>
        <p:txBody>
          <a:bodyPr wrap="square" lIns="0" tIns="0" rIns="0" bIns="0" rtlCol="0" anchor="ctr"/>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Practical Impact</a:t>
            </a:r>
            <a:endParaRPr lang="en-US" sz="3200" dirty="0"/>
          </a:p>
        </p:txBody>
      </p:sp>
      <p:sp>
        <p:nvSpPr>
          <p:cNvPr id="17" name="Text 15"/>
          <p:cNvSpPr txBox="1"/>
          <p:nvPr/>
        </p:nvSpPr>
        <p:spPr>
          <a:xfrm>
            <a:off x="1371600" y="6995160"/>
            <a:ext cx="7269480" cy="1920240"/>
          </a:xfrm>
          <a:prstGeom prst="rect">
            <a:avLst/>
          </a:prstGeom>
          <a:noFill/>
          <a:ln/>
        </p:spPr>
        <p:txBody>
          <a:bodyPr wrap="square" rtlCol="0" anchor="t"/>
          <a:lstStyle/>
          <a:p>
            <a:pPr indent="0" marL="0">
              <a:buNone/>
            </a:pPr>
            <a:r>
              <a:rPr lang="en-US" sz="2600" dirty="0">
                <a:solidFill>
                  <a:srgbClr val="000000"/>
                </a:solidFill>
                <a:latin typeface="Times New Roman" pitchFamily="34" charset="0"/>
                <a:ea typeface="Times New Roman" pitchFamily="34" charset="-122"/>
                <a:cs typeface="Times New Roman" pitchFamily="34" charset="-120"/>
              </a:rPr>
              <a:t>Results can inform nursing education, healthcare administration and policy formulation, including disaster-specific curricula.</a:t>
            </a:r>
            <a:endParaRPr lang="en-US" sz="2600" dirty="0"/>
          </a:p>
        </p:txBody>
      </p:sp>
      <p:sp>
        <p:nvSpPr>
          <p:cNvPr id="18" name="sig card 4"/>
          <p:cNvSpPr/>
          <p:nvPr/>
        </p:nvSpPr>
        <p:spPr>
          <a:xfrm>
            <a:off x="9189720" y="5852160"/>
            <a:ext cx="7818120" cy="3246120"/>
          </a:xfrm>
          <a:prstGeom prst="roundRect">
            <a:avLst>
              <a:gd name="adj" fmla="val 4225"/>
            </a:avLst>
          </a:prstGeom>
          <a:solidFill>
            <a:srgbClr val="D6DDEA"/>
          </a:solidFill>
          <a:ln w="12700">
            <a:solidFill>
              <a:srgbClr val="D6DDEA"/>
            </a:solidFill>
            <a:prstDash val="solid"/>
          </a:ln>
        </p:spPr>
      </p:sp>
      <p:sp>
        <p:nvSpPr>
          <p:cNvPr id="19" name="sig num 4"/>
          <p:cNvSpPr/>
          <p:nvPr/>
        </p:nvSpPr>
        <p:spPr>
          <a:xfrm>
            <a:off x="9464040" y="6126480"/>
            <a:ext cx="731520" cy="731520"/>
          </a:xfrm>
          <a:prstGeom prst="ellipse">
            <a:avLst/>
          </a:prstGeom>
          <a:solidFill>
            <a:srgbClr val="1A3760"/>
          </a:solidFill>
          <a:ln w="12700">
            <a:solidFill>
              <a:srgbClr val="1A3760"/>
            </a:solidFill>
            <a:prstDash val="solid"/>
          </a:ln>
        </p:spPr>
      </p:sp>
      <p:sp>
        <p:nvSpPr>
          <p:cNvPr id="20" name="Text 18"/>
          <p:cNvSpPr txBox="1"/>
          <p:nvPr/>
        </p:nvSpPr>
        <p:spPr>
          <a:xfrm>
            <a:off x="9464040" y="6126480"/>
            <a:ext cx="731520" cy="731520"/>
          </a:xfrm>
          <a:prstGeom prst="rect">
            <a:avLst/>
          </a:prstGeom>
          <a:noFill/>
          <a:ln/>
        </p:spPr>
        <p:txBody>
          <a:bodyPr wrap="square" lIns="0" tIns="0" rIns="0" bIns="0"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04</a:t>
            </a:r>
            <a:endParaRPr lang="en-US" sz="2500" dirty="0"/>
          </a:p>
        </p:txBody>
      </p:sp>
      <p:sp>
        <p:nvSpPr>
          <p:cNvPr id="21" name="Text 19"/>
          <p:cNvSpPr txBox="1"/>
          <p:nvPr/>
        </p:nvSpPr>
        <p:spPr>
          <a:xfrm>
            <a:off x="10378440" y="6126480"/>
            <a:ext cx="6400800" cy="731520"/>
          </a:xfrm>
          <a:prstGeom prst="rect">
            <a:avLst/>
          </a:prstGeom>
          <a:noFill/>
          <a:ln/>
        </p:spPr>
        <p:txBody>
          <a:bodyPr wrap="square" lIns="0" tIns="0" rIns="0" bIns="0" rtlCol="0" anchor="ctr"/>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Continuous Preparedness</a:t>
            </a:r>
            <a:endParaRPr lang="en-US" sz="3200" dirty="0"/>
          </a:p>
        </p:txBody>
      </p:sp>
      <p:sp>
        <p:nvSpPr>
          <p:cNvPr id="22" name="Text 20"/>
          <p:cNvSpPr txBox="1"/>
          <p:nvPr/>
        </p:nvSpPr>
        <p:spPr>
          <a:xfrm>
            <a:off x="9464040" y="6995160"/>
            <a:ext cx="7269480" cy="1920240"/>
          </a:xfrm>
          <a:prstGeom prst="rect">
            <a:avLst/>
          </a:prstGeom>
          <a:noFill/>
          <a:ln/>
        </p:spPr>
        <p:txBody>
          <a:bodyPr wrap="square" rtlCol="0" anchor="t"/>
          <a:lstStyle/>
          <a:p>
            <a:pPr indent="0" marL="0">
              <a:buNone/>
            </a:pPr>
            <a:r>
              <a:rPr lang="en-US" sz="2600" dirty="0">
                <a:solidFill>
                  <a:srgbClr val="000000"/>
                </a:solidFill>
                <a:latin typeface="Times New Roman" pitchFamily="34" charset="0"/>
                <a:ea typeface="Times New Roman" pitchFamily="34" charset="-122"/>
                <a:cs typeface="Times New Roman" pitchFamily="34" charset="-120"/>
              </a:rPr>
              <a:t>Preparedness is a continuous process requiring ongoing education and skill development; the insights can aid the creation of training models.</a:t>
            </a:r>
            <a:endParaRPr lang="en-US" sz="26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Purpose &amp; Research Questions</a:t>
            </a:r>
            <a:endParaRPr lang="en-US" sz="6000" dirty="0"/>
          </a:p>
        </p:txBody>
      </p:sp>
      <p:sp>
        <p:nvSpPr>
          <p:cNvPr id="3" name="outer frame"/>
          <p:cNvSpPr/>
          <p:nvPr/>
        </p:nvSpPr>
        <p:spPr>
          <a:xfrm>
            <a:off x="1097280" y="2331720"/>
            <a:ext cx="15910560" cy="6903720"/>
          </a:xfrm>
          <a:prstGeom prst="rect">
            <a:avLst/>
          </a:prstGeom>
          <a:solidFill>
            <a:srgbClr val="FFFFFF"/>
          </a:solidFill>
          <a:ln w="12700">
            <a:solidFill>
              <a:srgbClr val="333333"/>
            </a:solidFill>
            <a:prstDash val="solid"/>
          </a:ln>
        </p:spPr>
      </p:sp>
      <p:sp>
        <p:nvSpPr>
          <p:cNvPr id="4" name="purpose frame"/>
          <p:cNvSpPr/>
          <p:nvPr/>
        </p:nvSpPr>
        <p:spPr>
          <a:xfrm>
            <a:off x="1463040" y="2697480"/>
            <a:ext cx="4023360" cy="6172200"/>
          </a:xfrm>
          <a:prstGeom prst="rect">
            <a:avLst/>
          </a:prstGeom>
          <a:solidFill>
            <a:srgbClr val="FFFFFF"/>
          </a:solidFill>
          <a:ln w="12700">
            <a:solidFill>
              <a:srgbClr val="333333"/>
            </a:solidFill>
            <a:prstDash val="solid"/>
          </a:ln>
        </p:spPr>
      </p:sp>
      <p:sp>
        <p:nvSpPr>
          <p:cNvPr id="5" name="Text 3"/>
          <p:cNvSpPr txBox="1"/>
          <p:nvPr/>
        </p:nvSpPr>
        <p:spPr>
          <a:xfrm>
            <a:off x="1554480" y="2697480"/>
            <a:ext cx="3840480" cy="6172200"/>
          </a:xfrm>
          <a:prstGeom prst="rect">
            <a:avLst/>
          </a:prstGeom>
          <a:noFill/>
          <a:ln/>
        </p:spPr>
        <p:txBody>
          <a:bodyPr wrap="square" rtlCol="0" anchor="ctr"/>
          <a:lstStyle/>
          <a:p>
            <a:pPr algn="ctr" indent="0" marL="0">
              <a:buNone/>
            </a:pPr>
            <a:r>
              <a:rPr lang="en-US" sz="4200" b="1" dirty="0">
                <a:solidFill>
                  <a:srgbClr val="000000"/>
                </a:solidFill>
                <a:latin typeface="Times New Roman" pitchFamily="34" charset="0"/>
                <a:ea typeface="Times New Roman" pitchFamily="34" charset="-122"/>
                <a:cs typeface="Times New Roman" pitchFamily="34" charset="-120"/>
              </a:rPr>
              <a:t>Purpose Statement</a:t>
            </a:r>
            <a:endParaRPr lang="en-US" sz="4200" dirty="0"/>
          </a:p>
        </p:txBody>
      </p:sp>
      <p:sp>
        <p:nvSpPr>
          <p:cNvPr id="6" name="Text 4"/>
          <p:cNvSpPr txBox="1"/>
          <p:nvPr/>
        </p:nvSpPr>
        <p:spPr>
          <a:xfrm>
            <a:off x="5943600" y="2697480"/>
            <a:ext cx="10698480" cy="6172200"/>
          </a:xfrm>
          <a:prstGeom prst="rect">
            <a:avLst/>
          </a:prstGeom>
          <a:noFill/>
          <a:ln/>
        </p:spPr>
        <p:txBody>
          <a:bodyPr wrap="square" rtlCol="0" anchor="ctr"/>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Aim of the Study</a:t>
            </a:r>
            <a:endParaRPr lang="en-US" sz="3200" dirty="0"/>
          </a:p>
          <a:p>
            <a:pPr indent="0" marL="0">
              <a:spcAft>
                <a:spcPts val="1600"/>
              </a:spcAft>
              <a:buNone/>
            </a:pPr>
            <a:r>
              <a:rPr lang="en-US" sz="2800" dirty="0">
                <a:solidFill>
                  <a:srgbClr val="000000"/>
                </a:solidFill>
                <a:latin typeface="Times New Roman" pitchFamily="34" charset="0"/>
                <a:ea typeface="Times New Roman" pitchFamily="34" charset="-122"/>
                <a:cs typeface="Times New Roman" pitchFamily="34" charset="-120"/>
              </a:rPr>
              <a:t>To assess nurses’ preparedness and readiness for disasters among nurses working in the Taif region, targeting three areas: knowledge, perception and practices.</a:t>
            </a:r>
            <a:endParaRPr lang="en-US" sz="3200" dirty="0"/>
          </a:p>
          <a:p>
            <a:pPr indent="0" marL="0">
              <a:buNone/>
            </a:pPr>
            <a:r>
              <a:rPr lang="en-US" sz="3200" b="1" dirty="0">
                <a:solidFill>
                  <a:srgbClr val="1A3760"/>
                </a:solidFill>
                <a:latin typeface="Times New Roman" pitchFamily="34" charset="0"/>
                <a:ea typeface="Times New Roman" pitchFamily="34" charset="-122"/>
                <a:cs typeface="Times New Roman" pitchFamily="34" charset="-120"/>
              </a:rPr>
              <a:t>Research Questions</a:t>
            </a:r>
            <a:endParaRPr lang="en-US" sz="3200" dirty="0"/>
          </a:p>
          <a:p>
            <a:pPr indent="0" marL="0">
              <a:spcAft>
                <a:spcPts val="800"/>
              </a:spcAft>
              <a:buNone/>
            </a:pPr>
            <a:r>
              <a:rPr lang="en-US" sz="2800" dirty="0">
                <a:solidFill>
                  <a:srgbClr val="000000"/>
                </a:solidFill>
                <a:latin typeface="Times New Roman" pitchFamily="34" charset="0"/>
                <a:ea typeface="Times New Roman" pitchFamily="34" charset="-122"/>
                <a:cs typeface="Times New Roman" pitchFamily="34" charset="-120"/>
              </a:rPr>
              <a:t>1.  What is the level of nurses’ </a:t>
            </a:r>
            <a:pPr indent="0" marL="0">
              <a:buNone/>
            </a:pPr>
            <a:r>
              <a:rPr lang="en-US" sz="2800" b="1" dirty="0">
                <a:solidFill>
                  <a:srgbClr val="000000"/>
                </a:solidFill>
                <a:latin typeface="Times New Roman" pitchFamily="34" charset="0"/>
                <a:ea typeface="Times New Roman" pitchFamily="34" charset="-122"/>
                <a:cs typeface="Times New Roman" pitchFamily="34" charset="-120"/>
              </a:rPr>
              <a:t>Knowledge</a:t>
            </a:r>
            <a:pPr indent="0" marL="0">
              <a:buNone/>
            </a:pPr>
            <a:r>
              <a:rPr lang="en-US" sz="2800" dirty="0">
                <a:solidFill>
                  <a:srgbClr val="000000"/>
                </a:solidFill>
                <a:latin typeface="Times New Roman" pitchFamily="34" charset="0"/>
                <a:ea typeface="Times New Roman" pitchFamily="34" charset="-122"/>
                <a:cs typeface="Times New Roman" pitchFamily="34" charset="-120"/>
              </a:rPr>
              <a:t> about pandemic disasters among nurses working in the Taif Region?</a:t>
            </a:r>
            <a:endParaRPr lang="en-US" sz="3200" dirty="0"/>
          </a:p>
          <a:p>
            <a:pPr indent="0" marL="0">
              <a:spcAft>
                <a:spcPts val="800"/>
              </a:spcAft>
              <a:buNone/>
            </a:pPr>
            <a:r>
              <a:rPr lang="en-US" sz="2800" dirty="0">
                <a:solidFill>
                  <a:srgbClr val="000000"/>
                </a:solidFill>
                <a:latin typeface="Times New Roman" pitchFamily="34" charset="0"/>
                <a:ea typeface="Times New Roman" pitchFamily="34" charset="-122"/>
                <a:cs typeface="Times New Roman" pitchFamily="34" charset="-120"/>
              </a:rPr>
              <a:t>2.  What is the level of nurses’ </a:t>
            </a:r>
            <a:pPr indent="0" marL="0">
              <a:buNone/>
            </a:pPr>
            <a:r>
              <a:rPr lang="en-US" sz="2800" b="1" dirty="0">
                <a:solidFill>
                  <a:srgbClr val="000000"/>
                </a:solidFill>
                <a:latin typeface="Times New Roman" pitchFamily="34" charset="0"/>
                <a:ea typeface="Times New Roman" pitchFamily="34" charset="-122"/>
                <a:cs typeface="Times New Roman" pitchFamily="34" charset="-120"/>
              </a:rPr>
              <a:t>Perception</a:t>
            </a:r>
            <a:pPr indent="0" marL="0">
              <a:buNone/>
            </a:pPr>
            <a:r>
              <a:rPr lang="en-US" sz="2800" dirty="0">
                <a:solidFill>
                  <a:srgbClr val="000000"/>
                </a:solidFill>
                <a:latin typeface="Times New Roman" pitchFamily="34" charset="0"/>
                <a:ea typeface="Times New Roman" pitchFamily="34" charset="-122"/>
                <a:cs typeface="Times New Roman" pitchFamily="34" charset="-120"/>
              </a:rPr>
              <a:t> about pandemic disasters among nurses working in the Taif Region?</a:t>
            </a:r>
            <a:endParaRPr lang="en-US" sz="3200" dirty="0"/>
          </a:p>
          <a:p>
            <a:pPr indent="0" marL="0">
              <a:spcAft>
                <a:spcPts val="800"/>
              </a:spcAft>
              <a:buNone/>
            </a:pPr>
            <a:r>
              <a:rPr lang="en-US" sz="2800" dirty="0">
                <a:solidFill>
                  <a:srgbClr val="000000"/>
                </a:solidFill>
                <a:latin typeface="Times New Roman" pitchFamily="34" charset="0"/>
                <a:ea typeface="Times New Roman" pitchFamily="34" charset="-122"/>
                <a:cs typeface="Times New Roman" pitchFamily="34" charset="-120"/>
              </a:rPr>
              <a:t>3.  What is the level of nurses’ </a:t>
            </a:r>
            <a:pPr indent="0" marL="0">
              <a:buNone/>
            </a:pPr>
            <a:r>
              <a:rPr lang="en-US" sz="2800" b="1" dirty="0">
                <a:solidFill>
                  <a:srgbClr val="000000"/>
                </a:solidFill>
                <a:latin typeface="Times New Roman" pitchFamily="34" charset="0"/>
                <a:ea typeface="Times New Roman" pitchFamily="34" charset="-122"/>
                <a:cs typeface="Times New Roman" pitchFamily="34" charset="-120"/>
              </a:rPr>
              <a:t>Practices</a:t>
            </a:r>
            <a:pPr indent="0" marL="0">
              <a:buNone/>
            </a:pPr>
            <a:r>
              <a:rPr lang="en-US" sz="2800" dirty="0">
                <a:solidFill>
                  <a:srgbClr val="000000"/>
                </a:solidFill>
                <a:latin typeface="Times New Roman" pitchFamily="34" charset="0"/>
                <a:ea typeface="Times New Roman" pitchFamily="34" charset="-122"/>
                <a:cs typeface="Times New Roman" pitchFamily="34" charset="-120"/>
              </a:rPr>
              <a:t> about pandemic disasters among nurses working in the Taif Region?</a:t>
            </a:r>
            <a:endParaRPr lang="en-US" sz="32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Hypotheses &amp; Theoretical Framework</a:t>
            </a:r>
            <a:endParaRPr lang="en-US" sz="6000" dirty="0"/>
          </a:p>
        </p:txBody>
      </p:sp>
      <p:sp>
        <p:nvSpPr>
          <p:cNvPr id="3" name="card H1"/>
          <p:cNvSpPr/>
          <p:nvPr/>
        </p:nvSpPr>
        <p:spPr>
          <a:xfrm>
            <a:off x="2651760" y="2441448"/>
            <a:ext cx="7498080" cy="1197864"/>
          </a:xfrm>
          <a:prstGeom prst="roundRect">
            <a:avLst>
              <a:gd name="adj" fmla="val 11450"/>
            </a:avLst>
          </a:prstGeom>
          <a:solidFill>
            <a:srgbClr val="D6DDEA"/>
          </a:solidFill>
          <a:ln w="12700">
            <a:solidFill>
              <a:srgbClr val="D6DDEA"/>
            </a:solidFill>
            <a:prstDash val="solid"/>
          </a:ln>
        </p:spPr>
      </p:sp>
      <p:sp>
        <p:nvSpPr>
          <p:cNvPr id="4" name="label H1"/>
          <p:cNvSpPr/>
          <p:nvPr/>
        </p:nvSpPr>
        <p:spPr>
          <a:xfrm>
            <a:off x="1097280" y="2331720"/>
            <a:ext cx="1828800" cy="1417320"/>
          </a:xfrm>
          <a:prstGeom prst="roundRect">
            <a:avLst>
              <a:gd name="adj" fmla="val 12903"/>
            </a:avLst>
          </a:prstGeom>
          <a:solidFill>
            <a:srgbClr val="4F81BD"/>
          </a:solidFill>
          <a:ln w="19050">
            <a:solidFill>
              <a:srgbClr val="FFFFFF"/>
            </a:solidFill>
            <a:prstDash val="solid"/>
          </a:ln>
        </p:spPr>
      </p:sp>
      <p:sp>
        <p:nvSpPr>
          <p:cNvPr id="5" name="Text 3"/>
          <p:cNvSpPr txBox="1"/>
          <p:nvPr/>
        </p:nvSpPr>
        <p:spPr>
          <a:xfrm>
            <a:off x="1097280" y="2331720"/>
            <a:ext cx="1828800" cy="14173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H1</a:t>
            </a:r>
            <a:endParaRPr lang="en-US" sz="2800" dirty="0"/>
          </a:p>
        </p:txBody>
      </p:sp>
      <p:sp>
        <p:nvSpPr>
          <p:cNvPr id="6" name="Text 4"/>
          <p:cNvSpPr txBox="1"/>
          <p:nvPr/>
        </p:nvSpPr>
        <p:spPr>
          <a:xfrm>
            <a:off x="3108960" y="2441448"/>
            <a:ext cx="6903720" cy="11978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The level of nurses’ Knowledge about pandemic disasters among nurses working in the Taif Region is expected to be high.</a:t>
            </a:r>
            <a:endParaRPr lang="en-US" sz="2500" dirty="0"/>
          </a:p>
        </p:txBody>
      </p:sp>
      <p:sp>
        <p:nvSpPr>
          <p:cNvPr id="7" name="card H2"/>
          <p:cNvSpPr/>
          <p:nvPr/>
        </p:nvSpPr>
        <p:spPr>
          <a:xfrm>
            <a:off x="2651760" y="4041648"/>
            <a:ext cx="7498080" cy="1197864"/>
          </a:xfrm>
          <a:prstGeom prst="roundRect">
            <a:avLst>
              <a:gd name="adj" fmla="val 11450"/>
            </a:avLst>
          </a:prstGeom>
          <a:solidFill>
            <a:srgbClr val="D6DDEA"/>
          </a:solidFill>
          <a:ln w="12700">
            <a:solidFill>
              <a:srgbClr val="D6DDEA"/>
            </a:solidFill>
            <a:prstDash val="solid"/>
          </a:ln>
        </p:spPr>
      </p:sp>
      <p:sp>
        <p:nvSpPr>
          <p:cNvPr id="8" name="label H2"/>
          <p:cNvSpPr/>
          <p:nvPr/>
        </p:nvSpPr>
        <p:spPr>
          <a:xfrm>
            <a:off x="1097280" y="3931920"/>
            <a:ext cx="1828800" cy="1417320"/>
          </a:xfrm>
          <a:prstGeom prst="roundRect">
            <a:avLst>
              <a:gd name="adj" fmla="val 12903"/>
            </a:avLst>
          </a:prstGeom>
          <a:solidFill>
            <a:srgbClr val="4F81BD"/>
          </a:solidFill>
          <a:ln w="19050">
            <a:solidFill>
              <a:srgbClr val="FFFFFF"/>
            </a:solidFill>
            <a:prstDash val="solid"/>
          </a:ln>
        </p:spPr>
      </p:sp>
      <p:sp>
        <p:nvSpPr>
          <p:cNvPr id="9" name="Text 7"/>
          <p:cNvSpPr txBox="1"/>
          <p:nvPr/>
        </p:nvSpPr>
        <p:spPr>
          <a:xfrm>
            <a:off x="1097280" y="3931920"/>
            <a:ext cx="1828800" cy="14173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H2</a:t>
            </a:r>
            <a:endParaRPr lang="en-US" sz="2800" dirty="0"/>
          </a:p>
        </p:txBody>
      </p:sp>
      <p:sp>
        <p:nvSpPr>
          <p:cNvPr id="10" name="Text 8"/>
          <p:cNvSpPr txBox="1"/>
          <p:nvPr/>
        </p:nvSpPr>
        <p:spPr>
          <a:xfrm>
            <a:off x="3108960" y="4041648"/>
            <a:ext cx="6903720" cy="11978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The level of nurses’ Perception about pandemic disasters among nurses working in the Taif Region is expected to be high.</a:t>
            </a:r>
            <a:endParaRPr lang="en-US" sz="2500" dirty="0"/>
          </a:p>
        </p:txBody>
      </p:sp>
      <p:sp>
        <p:nvSpPr>
          <p:cNvPr id="11" name="card H3"/>
          <p:cNvSpPr/>
          <p:nvPr/>
        </p:nvSpPr>
        <p:spPr>
          <a:xfrm>
            <a:off x="2651760" y="5641848"/>
            <a:ext cx="7498080" cy="1197864"/>
          </a:xfrm>
          <a:prstGeom prst="roundRect">
            <a:avLst>
              <a:gd name="adj" fmla="val 11450"/>
            </a:avLst>
          </a:prstGeom>
          <a:solidFill>
            <a:srgbClr val="D6DDEA"/>
          </a:solidFill>
          <a:ln w="12700">
            <a:solidFill>
              <a:srgbClr val="D6DDEA"/>
            </a:solidFill>
            <a:prstDash val="solid"/>
          </a:ln>
        </p:spPr>
      </p:sp>
      <p:sp>
        <p:nvSpPr>
          <p:cNvPr id="12" name="label H3"/>
          <p:cNvSpPr/>
          <p:nvPr/>
        </p:nvSpPr>
        <p:spPr>
          <a:xfrm>
            <a:off x="1097280" y="5532120"/>
            <a:ext cx="1828800" cy="1417320"/>
          </a:xfrm>
          <a:prstGeom prst="roundRect">
            <a:avLst>
              <a:gd name="adj" fmla="val 12903"/>
            </a:avLst>
          </a:prstGeom>
          <a:solidFill>
            <a:srgbClr val="4F81BD"/>
          </a:solidFill>
          <a:ln w="19050">
            <a:solidFill>
              <a:srgbClr val="FFFFFF"/>
            </a:solidFill>
            <a:prstDash val="solid"/>
          </a:ln>
        </p:spPr>
      </p:sp>
      <p:sp>
        <p:nvSpPr>
          <p:cNvPr id="13" name="Text 11"/>
          <p:cNvSpPr txBox="1"/>
          <p:nvPr/>
        </p:nvSpPr>
        <p:spPr>
          <a:xfrm>
            <a:off x="1097280" y="5532120"/>
            <a:ext cx="1828800" cy="14173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H3</a:t>
            </a:r>
            <a:endParaRPr lang="en-US" sz="2800" dirty="0"/>
          </a:p>
        </p:txBody>
      </p:sp>
      <p:sp>
        <p:nvSpPr>
          <p:cNvPr id="14" name="Text 12"/>
          <p:cNvSpPr txBox="1"/>
          <p:nvPr/>
        </p:nvSpPr>
        <p:spPr>
          <a:xfrm>
            <a:off x="3108960" y="5641848"/>
            <a:ext cx="6903720" cy="11978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The level of nurses’ Practices about pandemic disasters among nurses working in the Taif Region is expected to be high.</a:t>
            </a:r>
            <a:endParaRPr lang="en-US" sz="2500" dirty="0"/>
          </a:p>
        </p:txBody>
      </p:sp>
      <p:sp>
        <p:nvSpPr>
          <p:cNvPr id="15" name="Text 13"/>
          <p:cNvSpPr txBox="1"/>
          <p:nvPr/>
        </p:nvSpPr>
        <p:spPr>
          <a:xfrm>
            <a:off x="10607040" y="2240280"/>
            <a:ext cx="6583680" cy="548640"/>
          </a:xfrm>
          <a:prstGeom prst="rect">
            <a:avLst/>
          </a:prstGeom>
          <a:noFill/>
          <a:ln/>
        </p:spPr>
        <p:txBody>
          <a:bodyPr wrap="square" lIns="0" tIns="0" rIns="0" bIns="0" rtlCol="0" anchor="t"/>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Theoretical Framework (KAP Model)</a:t>
            </a:r>
            <a:endParaRPr lang="en-US" sz="3200" dirty="0"/>
          </a:p>
        </p:txBody>
      </p:sp>
      <p:sp>
        <p:nvSpPr>
          <p:cNvPr id="16" name="Text 14"/>
          <p:cNvSpPr txBox="1"/>
          <p:nvPr/>
        </p:nvSpPr>
        <p:spPr>
          <a:xfrm>
            <a:off x="10607040" y="2834640"/>
            <a:ext cx="6583680" cy="2194560"/>
          </a:xfrm>
          <a:prstGeom prst="rect">
            <a:avLst/>
          </a:prstGeom>
          <a:noFill/>
          <a:ln/>
        </p:spPr>
        <p:txBody>
          <a:bodyPr wrap="square" lIns="0" tIns="0" rIns="0" bIns="0" rtlCol="0" anchor="t"/>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The KAP (Knowledge, Attitude and Practice) model is widely used for evaluating health behavior and readiness: knowledge is the cognitive basis, attitudes/perception influence motivation, and practice represents actual behaviors.</a:t>
            </a:r>
            <a:endParaRPr lang="en-US" sz="2400" dirty="0"/>
          </a:p>
        </p:txBody>
      </p:sp>
      <p:sp>
        <p:nvSpPr>
          <p:cNvPr id="17" name="kap Knowledge"/>
          <p:cNvSpPr/>
          <p:nvPr/>
        </p:nvSpPr>
        <p:spPr>
          <a:xfrm>
            <a:off x="10607040" y="5257800"/>
            <a:ext cx="3108960" cy="685800"/>
          </a:xfrm>
          <a:prstGeom prst="roundRect">
            <a:avLst>
              <a:gd name="adj" fmla="val 16000"/>
            </a:avLst>
          </a:prstGeom>
          <a:solidFill>
            <a:srgbClr val="4F81BD"/>
          </a:solidFill>
          <a:ln w="12700">
            <a:solidFill>
              <a:srgbClr val="4F81BD"/>
            </a:solidFill>
            <a:prstDash val="solid"/>
          </a:ln>
        </p:spPr>
      </p:sp>
      <p:sp>
        <p:nvSpPr>
          <p:cNvPr id="18" name="Text 16"/>
          <p:cNvSpPr txBox="1"/>
          <p:nvPr/>
        </p:nvSpPr>
        <p:spPr>
          <a:xfrm>
            <a:off x="10607040" y="5257800"/>
            <a:ext cx="3108960" cy="685800"/>
          </a:xfrm>
          <a:prstGeom prst="rect">
            <a:avLst/>
          </a:prstGeom>
          <a:noFill/>
          <a:ln/>
        </p:spPr>
        <p:txBody>
          <a:bodyPr wrap="square"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Knowledge</a:t>
            </a:r>
            <a:endParaRPr lang="en-US" sz="2500" dirty="0"/>
          </a:p>
        </p:txBody>
      </p:sp>
      <p:sp>
        <p:nvSpPr>
          <p:cNvPr id="19" name="kap arrow Knowledge"/>
          <p:cNvSpPr/>
          <p:nvPr/>
        </p:nvSpPr>
        <p:spPr>
          <a:xfrm>
            <a:off x="13761720" y="5600700"/>
            <a:ext cx="594360" cy="0"/>
          </a:xfrm>
          <a:prstGeom prst="line">
            <a:avLst/>
          </a:prstGeom>
          <a:noFill/>
          <a:ln w="25400">
            <a:solidFill>
              <a:srgbClr val="1A3760"/>
            </a:solidFill>
            <a:prstDash val="solid"/>
            <a:tailEnd type="triangle"/>
          </a:ln>
        </p:spPr>
      </p:sp>
      <p:sp>
        <p:nvSpPr>
          <p:cNvPr id="20" name="kap Perception"/>
          <p:cNvSpPr/>
          <p:nvPr/>
        </p:nvSpPr>
        <p:spPr>
          <a:xfrm>
            <a:off x="10607040" y="6126480"/>
            <a:ext cx="3108960" cy="685800"/>
          </a:xfrm>
          <a:prstGeom prst="roundRect">
            <a:avLst>
              <a:gd name="adj" fmla="val 16000"/>
            </a:avLst>
          </a:prstGeom>
          <a:solidFill>
            <a:srgbClr val="4F81BD"/>
          </a:solidFill>
          <a:ln w="12700">
            <a:solidFill>
              <a:srgbClr val="4F81BD"/>
            </a:solidFill>
            <a:prstDash val="solid"/>
          </a:ln>
        </p:spPr>
      </p:sp>
      <p:sp>
        <p:nvSpPr>
          <p:cNvPr id="21" name="Text 19"/>
          <p:cNvSpPr txBox="1"/>
          <p:nvPr/>
        </p:nvSpPr>
        <p:spPr>
          <a:xfrm>
            <a:off x="10607040" y="6126480"/>
            <a:ext cx="3108960" cy="685800"/>
          </a:xfrm>
          <a:prstGeom prst="rect">
            <a:avLst/>
          </a:prstGeom>
          <a:noFill/>
          <a:ln/>
        </p:spPr>
        <p:txBody>
          <a:bodyPr wrap="square"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Perception</a:t>
            </a:r>
            <a:endParaRPr lang="en-US" sz="2500" dirty="0"/>
          </a:p>
        </p:txBody>
      </p:sp>
      <p:sp>
        <p:nvSpPr>
          <p:cNvPr id="22" name="kap arrow Perception"/>
          <p:cNvSpPr/>
          <p:nvPr/>
        </p:nvSpPr>
        <p:spPr>
          <a:xfrm>
            <a:off x="13761720" y="6469380"/>
            <a:ext cx="594360" cy="0"/>
          </a:xfrm>
          <a:prstGeom prst="line">
            <a:avLst/>
          </a:prstGeom>
          <a:noFill/>
          <a:ln w="25400">
            <a:solidFill>
              <a:srgbClr val="1A3760"/>
            </a:solidFill>
            <a:prstDash val="solid"/>
            <a:tailEnd type="triangle"/>
          </a:ln>
        </p:spPr>
      </p:sp>
      <p:sp>
        <p:nvSpPr>
          <p:cNvPr id="23" name="kap Practice"/>
          <p:cNvSpPr/>
          <p:nvPr/>
        </p:nvSpPr>
        <p:spPr>
          <a:xfrm>
            <a:off x="10607040" y="6995160"/>
            <a:ext cx="3108960" cy="685800"/>
          </a:xfrm>
          <a:prstGeom prst="roundRect">
            <a:avLst>
              <a:gd name="adj" fmla="val 16000"/>
            </a:avLst>
          </a:prstGeom>
          <a:solidFill>
            <a:srgbClr val="4F81BD"/>
          </a:solidFill>
          <a:ln w="12700">
            <a:solidFill>
              <a:srgbClr val="4F81BD"/>
            </a:solidFill>
            <a:prstDash val="solid"/>
          </a:ln>
        </p:spPr>
      </p:sp>
      <p:sp>
        <p:nvSpPr>
          <p:cNvPr id="24" name="Text 22"/>
          <p:cNvSpPr txBox="1"/>
          <p:nvPr/>
        </p:nvSpPr>
        <p:spPr>
          <a:xfrm>
            <a:off x="10607040" y="6995160"/>
            <a:ext cx="3108960" cy="685800"/>
          </a:xfrm>
          <a:prstGeom prst="rect">
            <a:avLst/>
          </a:prstGeom>
          <a:noFill/>
          <a:ln/>
        </p:spPr>
        <p:txBody>
          <a:bodyPr wrap="square"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Practice</a:t>
            </a:r>
            <a:endParaRPr lang="en-US" sz="2500" dirty="0"/>
          </a:p>
        </p:txBody>
      </p:sp>
      <p:sp>
        <p:nvSpPr>
          <p:cNvPr id="25" name="kap arrow Practice"/>
          <p:cNvSpPr/>
          <p:nvPr/>
        </p:nvSpPr>
        <p:spPr>
          <a:xfrm>
            <a:off x="13761720" y="7338060"/>
            <a:ext cx="594360" cy="0"/>
          </a:xfrm>
          <a:prstGeom prst="line">
            <a:avLst/>
          </a:prstGeom>
          <a:noFill/>
          <a:ln w="25400">
            <a:solidFill>
              <a:srgbClr val="1A3760"/>
            </a:solidFill>
            <a:prstDash val="solid"/>
            <a:tailEnd type="triangle"/>
          </a:ln>
        </p:spPr>
      </p:sp>
      <p:sp>
        <p:nvSpPr>
          <p:cNvPr id="26" name="kap outcome"/>
          <p:cNvSpPr/>
          <p:nvPr/>
        </p:nvSpPr>
        <p:spPr>
          <a:xfrm>
            <a:off x="14401800" y="5257800"/>
            <a:ext cx="2788920" cy="2423160"/>
          </a:xfrm>
          <a:prstGeom prst="roundRect">
            <a:avLst>
              <a:gd name="adj" fmla="val 4528"/>
            </a:avLst>
          </a:prstGeom>
          <a:solidFill>
            <a:srgbClr val="1A3760"/>
          </a:solidFill>
          <a:ln w="12700">
            <a:solidFill>
              <a:srgbClr val="1A3760"/>
            </a:solidFill>
            <a:prstDash val="solid"/>
          </a:ln>
        </p:spPr>
      </p:sp>
      <p:sp>
        <p:nvSpPr>
          <p:cNvPr id="27" name="Text 25"/>
          <p:cNvSpPr txBox="1"/>
          <p:nvPr/>
        </p:nvSpPr>
        <p:spPr>
          <a:xfrm>
            <a:off x="14401800" y="5257800"/>
            <a:ext cx="2788920" cy="2423160"/>
          </a:xfrm>
          <a:prstGeom prst="rect">
            <a:avLst/>
          </a:prstGeom>
          <a:noFill/>
          <a:ln/>
        </p:spPr>
        <p:txBody>
          <a:bodyPr wrap="square" rtlCol="0" anchor="ctr"/>
          <a:lstStyle/>
          <a:p>
            <a:pPr algn="ctr" indent="0" marL="0">
              <a:buNone/>
            </a:pPr>
            <a:r>
              <a:rPr lang="en-US" sz="2500" b="1" dirty="0">
                <a:solidFill>
                  <a:srgbClr val="FFFFFF"/>
                </a:solidFill>
                <a:latin typeface="Times New Roman" pitchFamily="34" charset="0"/>
                <a:ea typeface="Times New Roman" pitchFamily="34" charset="-122"/>
                <a:cs typeface="Times New Roman" pitchFamily="34" charset="-120"/>
              </a:rPr>
              <a:t>Total Disaster Preparedness</a:t>
            </a:r>
            <a:endParaRPr lang="en-US" sz="25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Research Methodology</a:t>
            </a:r>
            <a:endParaRPr lang="en-US" sz="6000" dirty="0"/>
          </a:p>
        </p:txBody>
      </p:sp>
      <p:sp>
        <p:nvSpPr>
          <p:cNvPr id="3" name="method card 1"/>
          <p:cNvSpPr/>
          <p:nvPr/>
        </p:nvSpPr>
        <p:spPr>
          <a:xfrm>
            <a:off x="1097280" y="2743200"/>
            <a:ext cx="7818120" cy="2834640"/>
          </a:xfrm>
          <a:prstGeom prst="roundRect">
            <a:avLst>
              <a:gd name="adj" fmla="val 9677"/>
            </a:avLst>
          </a:prstGeom>
          <a:solidFill>
            <a:srgbClr val="D6DDEA"/>
          </a:solidFill>
          <a:ln w="12700">
            <a:solidFill>
              <a:srgbClr val="D6DDEA"/>
            </a:solidFill>
            <a:prstDash val="solid"/>
          </a:ln>
        </p:spPr>
      </p:sp>
      <p:sp>
        <p:nvSpPr>
          <p:cNvPr id="4" name="method num 1"/>
          <p:cNvSpPr/>
          <p:nvPr/>
        </p:nvSpPr>
        <p:spPr>
          <a:xfrm>
            <a:off x="1417320" y="2331720"/>
            <a:ext cx="868680" cy="868680"/>
          </a:xfrm>
          <a:prstGeom prst="ellipse">
            <a:avLst/>
          </a:prstGeom>
          <a:solidFill>
            <a:srgbClr val="FFFFFF"/>
          </a:solidFill>
          <a:ln w="38100">
            <a:solidFill>
              <a:srgbClr val="F2B800"/>
            </a:solidFill>
            <a:prstDash val="solid"/>
          </a:ln>
        </p:spPr>
      </p:sp>
      <p:sp>
        <p:nvSpPr>
          <p:cNvPr id="5" name="Text 3"/>
          <p:cNvSpPr txBox="1"/>
          <p:nvPr/>
        </p:nvSpPr>
        <p:spPr>
          <a:xfrm>
            <a:off x="1417320" y="2331720"/>
            <a:ext cx="868680" cy="868680"/>
          </a:xfrm>
          <a:prstGeom prst="rect">
            <a:avLst/>
          </a:prstGeom>
          <a:noFill/>
          <a:ln/>
        </p:spPr>
        <p:txBody>
          <a:bodyPr wrap="square" lIns="0" tIns="0" rIns="0" bIns="0" rtlCol="0" anchor="ctr"/>
          <a:lstStyle/>
          <a:p>
            <a:pPr algn="ctr" indent="0" marL="0">
              <a:buNone/>
            </a:pPr>
            <a:r>
              <a:rPr lang="en-US" sz="2800" b="1" dirty="0">
                <a:solidFill>
                  <a:srgbClr val="000000"/>
                </a:solidFill>
                <a:latin typeface="Times New Roman" pitchFamily="34" charset="0"/>
                <a:ea typeface="Times New Roman" pitchFamily="34" charset="-122"/>
                <a:cs typeface="Times New Roman" pitchFamily="34" charset="-120"/>
              </a:rPr>
              <a:t>01</a:t>
            </a:r>
            <a:endParaRPr lang="en-US" sz="2800" dirty="0"/>
          </a:p>
        </p:txBody>
      </p:sp>
      <p:sp>
        <p:nvSpPr>
          <p:cNvPr id="6" name="Text 4"/>
          <p:cNvSpPr txBox="1"/>
          <p:nvPr/>
        </p:nvSpPr>
        <p:spPr>
          <a:xfrm>
            <a:off x="2468880" y="2834640"/>
            <a:ext cx="6217920" cy="640080"/>
          </a:xfrm>
          <a:prstGeom prst="rect">
            <a:avLst/>
          </a:prstGeom>
          <a:noFill/>
          <a:ln/>
        </p:spPr>
        <p:txBody>
          <a:bodyPr wrap="square" lIns="0" tIns="0" rIns="0" bIns="0" rtlCol="0" anchor="ctr"/>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Research Design</a:t>
            </a:r>
            <a:endParaRPr lang="en-US" sz="3200" dirty="0"/>
          </a:p>
        </p:txBody>
      </p:sp>
      <p:sp>
        <p:nvSpPr>
          <p:cNvPr id="7" name="Text 5"/>
          <p:cNvSpPr txBox="1"/>
          <p:nvPr/>
        </p:nvSpPr>
        <p:spPr>
          <a:xfrm>
            <a:off x="1463040" y="3566160"/>
            <a:ext cx="7132320" cy="1874520"/>
          </a:xfrm>
          <a:prstGeom prst="rect">
            <a:avLst/>
          </a:prstGeom>
          <a:noFill/>
          <a:ln/>
        </p:spPr>
        <p:txBody>
          <a:bodyPr wrap="square" rtlCol="0" anchor="t"/>
          <a:lstStyle/>
          <a:p>
            <a:pPr indent="0" marL="0">
              <a:buNone/>
            </a:pPr>
            <a:r>
              <a:rPr lang="en-US" sz="2600" dirty="0">
                <a:solidFill>
                  <a:srgbClr val="000000"/>
                </a:solidFill>
                <a:latin typeface="Times New Roman" pitchFamily="34" charset="0"/>
                <a:ea typeface="Times New Roman" pitchFamily="34" charset="-122"/>
                <a:cs typeface="Times New Roman" pitchFamily="34" charset="-120"/>
              </a:rPr>
              <a:t>Quantitative, cross-sectional design measuring nurses’ knowledge, perception and practice regarding disaster during pandemics.</a:t>
            </a:r>
            <a:endParaRPr lang="en-US" sz="2600" dirty="0"/>
          </a:p>
        </p:txBody>
      </p:sp>
      <p:sp>
        <p:nvSpPr>
          <p:cNvPr id="8" name="method card 2"/>
          <p:cNvSpPr/>
          <p:nvPr/>
        </p:nvSpPr>
        <p:spPr>
          <a:xfrm>
            <a:off x="9189720" y="2743200"/>
            <a:ext cx="7818120" cy="2834640"/>
          </a:xfrm>
          <a:prstGeom prst="roundRect">
            <a:avLst>
              <a:gd name="adj" fmla="val 9677"/>
            </a:avLst>
          </a:prstGeom>
          <a:solidFill>
            <a:srgbClr val="D6DDEA"/>
          </a:solidFill>
          <a:ln w="12700">
            <a:solidFill>
              <a:srgbClr val="D6DDEA"/>
            </a:solidFill>
            <a:prstDash val="solid"/>
          </a:ln>
        </p:spPr>
      </p:sp>
      <p:sp>
        <p:nvSpPr>
          <p:cNvPr id="9" name="method num 2"/>
          <p:cNvSpPr/>
          <p:nvPr/>
        </p:nvSpPr>
        <p:spPr>
          <a:xfrm>
            <a:off x="9509760" y="2331720"/>
            <a:ext cx="868680" cy="868680"/>
          </a:xfrm>
          <a:prstGeom prst="ellipse">
            <a:avLst/>
          </a:prstGeom>
          <a:solidFill>
            <a:srgbClr val="FFFFFF"/>
          </a:solidFill>
          <a:ln w="38100">
            <a:solidFill>
              <a:srgbClr val="F2B800"/>
            </a:solidFill>
            <a:prstDash val="solid"/>
          </a:ln>
        </p:spPr>
      </p:sp>
      <p:sp>
        <p:nvSpPr>
          <p:cNvPr id="10" name="Text 8"/>
          <p:cNvSpPr txBox="1"/>
          <p:nvPr/>
        </p:nvSpPr>
        <p:spPr>
          <a:xfrm>
            <a:off x="9509760" y="2331720"/>
            <a:ext cx="868680" cy="868680"/>
          </a:xfrm>
          <a:prstGeom prst="rect">
            <a:avLst/>
          </a:prstGeom>
          <a:noFill/>
          <a:ln/>
        </p:spPr>
        <p:txBody>
          <a:bodyPr wrap="square" lIns="0" tIns="0" rIns="0" bIns="0" rtlCol="0" anchor="ctr"/>
          <a:lstStyle/>
          <a:p>
            <a:pPr algn="ctr" indent="0" marL="0">
              <a:buNone/>
            </a:pPr>
            <a:r>
              <a:rPr lang="en-US" sz="2800" b="1" dirty="0">
                <a:solidFill>
                  <a:srgbClr val="000000"/>
                </a:solidFill>
                <a:latin typeface="Times New Roman" pitchFamily="34" charset="0"/>
                <a:ea typeface="Times New Roman" pitchFamily="34" charset="-122"/>
                <a:cs typeface="Times New Roman" pitchFamily="34" charset="-120"/>
              </a:rPr>
              <a:t>02</a:t>
            </a:r>
            <a:endParaRPr lang="en-US" sz="2800" dirty="0"/>
          </a:p>
        </p:txBody>
      </p:sp>
      <p:sp>
        <p:nvSpPr>
          <p:cNvPr id="11" name="Text 9"/>
          <p:cNvSpPr txBox="1"/>
          <p:nvPr/>
        </p:nvSpPr>
        <p:spPr>
          <a:xfrm>
            <a:off x="10561320" y="2834640"/>
            <a:ext cx="6217920" cy="640080"/>
          </a:xfrm>
          <a:prstGeom prst="rect">
            <a:avLst/>
          </a:prstGeom>
          <a:noFill/>
          <a:ln/>
        </p:spPr>
        <p:txBody>
          <a:bodyPr wrap="square" lIns="0" tIns="0" rIns="0" bIns="0" rtlCol="0" anchor="ctr"/>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Study Setting</a:t>
            </a:r>
            <a:endParaRPr lang="en-US" sz="3200" dirty="0"/>
          </a:p>
        </p:txBody>
      </p:sp>
      <p:sp>
        <p:nvSpPr>
          <p:cNvPr id="12" name="Text 10"/>
          <p:cNvSpPr txBox="1"/>
          <p:nvPr/>
        </p:nvSpPr>
        <p:spPr>
          <a:xfrm>
            <a:off x="9555480" y="3566160"/>
            <a:ext cx="7132320" cy="1874520"/>
          </a:xfrm>
          <a:prstGeom prst="rect">
            <a:avLst/>
          </a:prstGeom>
          <a:noFill/>
          <a:ln/>
        </p:spPr>
        <p:txBody>
          <a:bodyPr wrap="square" rtlCol="0" anchor="t"/>
          <a:lstStyle/>
          <a:p>
            <a:pPr indent="0" marL="0">
              <a:buNone/>
            </a:pPr>
            <a:r>
              <a:rPr lang="en-US" sz="2600" dirty="0">
                <a:solidFill>
                  <a:srgbClr val="000000"/>
                </a:solidFill>
                <a:latin typeface="Times New Roman" pitchFamily="34" charset="0"/>
                <a:ea typeface="Times New Roman" pitchFamily="34" charset="-122"/>
                <a:cs typeface="Times New Roman" pitchFamily="34" charset="-120"/>
              </a:rPr>
              <a:t>Taif region of Saudi Arabia, across a combination of public and private hospitals providing healthcare services.</a:t>
            </a:r>
            <a:endParaRPr lang="en-US" sz="2600" dirty="0"/>
          </a:p>
        </p:txBody>
      </p:sp>
      <p:sp>
        <p:nvSpPr>
          <p:cNvPr id="13" name="method card 3"/>
          <p:cNvSpPr/>
          <p:nvPr/>
        </p:nvSpPr>
        <p:spPr>
          <a:xfrm>
            <a:off x="1097280" y="6263640"/>
            <a:ext cx="7818120" cy="2834640"/>
          </a:xfrm>
          <a:prstGeom prst="roundRect">
            <a:avLst>
              <a:gd name="adj" fmla="val 9677"/>
            </a:avLst>
          </a:prstGeom>
          <a:solidFill>
            <a:srgbClr val="D6DDEA"/>
          </a:solidFill>
          <a:ln w="12700">
            <a:solidFill>
              <a:srgbClr val="D6DDEA"/>
            </a:solidFill>
            <a:prstDash val="solid"/>
          </a:ln>
        </p:spPr>
      </p:sp>
      <p:sp>
        <p:nvSpPr>
          <p:cNvPr id="14" name="method num 3"/>
          <p:cNvSpPr/>
          <p:nvPr/>
        </p:nvSpPr>
        <p:spPr>
          <a:xfrm>
            <a:off x="1417320" y="5852160"/>
            <a:ext cx="868680" cy="868680"/>
          </a:xfrm>
          <a:prstGeom prst="ellipse">
            <a:avLst/>
          </a:prstGeom>
          <a:solidFill>
            <a:srgbClr val="FFFFFF"/>
          </a:solidFill>
          <a:ln w="38100">
            <a:solidFill>
              <a:srgbClr val="F2B800"/>
            </a:solidFill>
            <a:prstDash val="solid"/>
          </a:ln>
        </p:spPr>
      </p:sp>
      <p:sp>
        <p:nvSpPr>
          <p:cNvPr id="15" name="Text 13"/>
          <p:cNvSpPr txBox="1"/>
          <p:nvPr/>
        </p:nvSpPr>
        <p:spPr>
          <a:xfrm>
            <a:off x="1417320" y="5852160"/>
            <a:ext cx="868680" cy="868680"/>
          </a:xfrm>
          <a:prstGeom prst="rect">
            <a:avLst/>
          </a:prstGeom>
          <a:noFill/>
          <a:ln/>
        </p:spPr>
        <p:txBody>
          <a:bodyPr wrap="square" lIns="0" tIns="0" rIns="0" bIns="0" rtlCol="0" anchor="ctr"/>
          <a:lstStyle/>
          <a:p>
            <a:pPr algn="ctr" indent="0" marL="0">
              <a:buNone/>
            </a:pPr>
            <a:r>
              <a:rPr lang="en-US" sz="2800" b="1" dirty="0">
                <a:solidFill>
                  <a:srgbClr val="000000"/>
                </a:solidFill>
                <a:latin typeface="Times New Roman" pitchFamily="34" charset="0"/>
                <a:ea typeface="Times New Roman" pitchFamily="34" charset="-122"/>
                <a:cs typeface="Times New Roman" pitchFamily="34" charset="-120"/>
              </a:rPr>
              <a:t>03</a:t>
            </a:r>
            <a:endParaRPr lang="en-US" sz="2800" dirty="0"/>
          </a:p>
        </p:txBody>
      </p:sp>
      <p:sp>
        <p:nvSpPr>
          <p:cNvPr id="16" name="Text 14"/>
          <p:cNvSpPr txBox="1"/>
          <p:nvPr/>
        </p:nvSpPr>
        <p:spPr>
          <a:xfrm>
            <a:off x="2468880" y="6355080"/>
            <a:ext cx="6217920" cy="640080"/>
          </a:xfrm>
          <a:prstGeom prst="rect">
            <a:avLst/>
          </a:prstGeom>
          <a:noFill/>
          <a:ln/>
        </p:spPr>
        <p:txBody>
          <a:bodyPr wrap="square" lIns="0" tIns="0" rIns="0" bIns="0" rtlCol="0" anchor="ctr"/>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Sample Size</a:t>
            </a:r>
            <a:endParaRPr lang="en-US" sz="3200" dirty="0"/>
          </a:p>
        </p:txBody>
      </p:sp>
      <p:sp>
        <p:nvSpPr>
          <p:cNvPr id="17" name="Text 15"/>
          <p:cNvSpPr txBox="1"/>
          <p:nvPr/>
        </p:nvSpPr>
        <p:spPr>
          <a:xfrm>
            <a:off x="1463040" y="7086600"/>
            <a:ext cx="7132320" cy="1874520"/>
          </a:xfrm>
          <a:prstGeom prst="rect">
            <a:avLst/>
          </a:prstGeom>
          <a:noFill/>
          <a:ln/>
        </p:spPr>
        <p:txBody>
          <a:bodyPr wrap="square" rtlCol="0" anchor="t"/>
          <a:lstStyle/>
          <a:p>
            <a:pPr indent="0" marL="0">
              <a:buNone/>
            </a:pPr>
            <a:r>
              <a:rPr lang="en-US" sz="2600" dirty="0">
                <a:solidFill>
                  <a:srgbClr val="000000"/>
                </a:solidFill>
                <a:latin typeface="Times New Roman" pitchFamily="34" charset="0"/>
                <a:ea typeface="Times New Roman" pitchFamily="34" charset="-122"/>
                <a:cs typeface="Times New Roman" pitchFamily="34" charset="-120"/>
              </a:rPr>
              <a:t>300 staff nurses, calculated with the G*Power sample size calculator to ensure sufficient statistical power.</a:t>
            </a:r>
            <a:endParaRPr lang="en-US" sz="2600" dirty="0"/>
          </a:p>
        </p:txBody>
      </p:sp>
      <p:sp>
        <p:nvSpPr>
          <p:cNvPr id="18" name="method card 4"/>
          <p:cNvSpPr/>
          <p:nvPr/>
        </p:nvSpPr>
        <p:spPr>
          <a:xfrm>
            <a:off x="9189720" y="6263640"/>
            <a:ext cx="7818120" cy="2834640"/>
          </a:xfrm>
          <a:prstGeom prst="roundRect">
            <a:avLst>
              <a:gd name="adj" fmla="val 9677"/>
            </a:avLst>
          </a:prstGeom>
          <a:solidFill>
            <a:srgbClr val="D6DDEA"/>
          </a:solidFill>
          <a:ln w="12700">
            <a:solidFill>
              <a:srgbClr val="D6DDEA"/>
            </a:solidFill>
            <a:prstDash val="solid"/>
          </a:ln>
        </p:spPr>
      </p:sp>
      <p:sp>
        <p:nvSpPr>
          <p:cNvPr id="19" name="method num 4"/>
          <p:cNvSpPr/>
          <p:nvPr/>
        </p:nvSpPr>
        <p:spPr>
          <a:xfrm>
            <a:off x="9509760" y="5852160"/>
            <a:ext cx="868680" cy="868680"/>
          </a:xfrm>
          <a:prstGeom prst="ellipse">
            <a:avLst/>
          </a:prstGeom>
          <a:solidFill>
            <a:srgbClr val="FFFFFF"/>
          </a:solidFill>
          <a:ln w="38100">
            <a:solidFill>
              <a:srgbClr val="F2B800"/>
            </a:solidFill>
            <a:prstDash val="solid"/>
          </a:ln>
        </p:spPr>
      </p:sp>
      <p:sp>
        <p:nvSpPr>
          <p:cNvPr id="20" name="Text 18"/>
          <p:cNvSpPr txBox="1"/>
          <p:nvPr/>
        </p:nvSpPr>
        <p:spPr>
          <a:xfrm>
            <a:off x="9509760" y="5852160"/>
            <a:ext cx="868680" cy="868680"/>
          </a:xfrm>
          <a:prstGeom prst="rect">
            <a:avLst/>
          </a:prstGeom>
          <a:noFill/>
          <a:ln/>
        </p:spPr>
        <p:txBody>
          <a:bodyPr wrap="square" lIns="0" tIns="0" rIns="0" bIns="0" rtlCol="0" anchor="ctr"/>
          <a:lstStyle/>
          <a:p>
            <a:pPr algn="ctr" indent="0" marL="0">
              <a:buNone/>
            </a:pPr>
            <a:r>
              <a:rPr lang="en-US" sz="2800" b="1" dirty="0">
                <a:solidFill>
                  <a:srgbClr val="000000"/>
                </a:solidFill>
                <a:latin typeface="Times New Roman" pitchFamily="34" charset="0"/>
                <a:ea typeface="Times New Roman" pitchFamily="34" charset="-122"/>
                <a:cs typeface="Times New Roman" pitchFamily="34" charset="-120"/>
              </a:rPr>
              <a:t>04</a:t>
            </a:r>
            <a:endParaRPr lang="en-US" sz="2800" dirty="0"/>
          </a:p>
        </p:txBody>
      </p:sp>
      <p:sp>
        <p:nvSpPr>
          <p:cNvPr id="21" name="Text 19"/>
          <p:cNvSpPr txBox="1"/>
          <p:nvPr/>
        </p:nvSpPr>
        <p:spPr>
          <a:xfrm>
            <a:off x="10561320" y="6355080"/>
            <a:ext cx="6217920" cy="640080"/>
          </a:xfrm>
          <a:prstGeom prst="rect">
            <a:avLst/>
          </a:prstGeom>
          <a:noFill/>
          <a:ln/>
        </p:spPr>
        <p:txBody>
          <a:bodyPr wrap="square" lIns="0" tIns="0" rIns="0" bIns="0" rtlCol="0" anchor="ctr"/>
          <a:lstStyle/>
          <a:p>
            <a:pPr indent="0" marL="0">
              <a:buNone/>
            </a:pPr>
            <a:r>
              <a:rPr lang="en-US" sz="3200" b="1" dirty="0">
                <a:solidFill>
                  <a:srgbClr val="1A3760"/>
                </a:solidFill>
                <a:latin typeface="Times New Roman" pitchFamily="34" charset="0"/>
                <a:ea typeface="Times New Roman" pitchFamily="34" charset="-122"/>
                <a:cs typeface="Times New Roman" pitchFamily="34" charset="-120"/>
              </a:rPr>
              <a:t>Sampling Method</a:t>
            </a:r>
            <a:endParaRPr lang="en-US" sz="3200" dirty="0"/>
          </a:p>
        </p:txBody>
      </p:sp>
      <p:sp>
        <p:nvSpPr>
          <p:cNvPr id="22" name="Text 20"/>
          <p:cNvSpPr txBox="1"/>
          <p:nvPr/>
        </p:nvSpPr>
        <p:spPr>
          <a:xfrm>
            <a:off x="9555480" y="7086600"/>
            <a:ext cx="7132320" cy="1874520"/>
          </a:xfrm>
          <a:prstGeom prst="rect">
            <a:avLst/>
          </a:prstGeom>
          <a:noFill/>
          <a:ln/>
        </p:spPr>
        <p:txBody>
          <a:bodyPr wrap="square" rtlCol="0" anchor="t"/>
          <a:lstStyle/>
          <a:p>
            <a:pPr indent="0" marL="0">
              <a:buNone/>
            </a:pPr>
            <a:r>
              <a:rPr lang="en-US" sz="2600" dirty="0">
                <a:solidFill>
                  <a:srgbClr val="000000"/>
                </a:solidFill>
                <a:latin typeface="Times New Roman" pitchFamily="34" charset="0"/>
                <a:ea typeface="Times New Roman" pitchFamily="34" charset="-122"/>
                <a:cs typeface="Times New Roman" pitchFamily="34" charset="-120"/>
              </a:rPr>
              <a:t>Purposive non-probability sampling, selecting participants who met criteria relevant to the research objectives.</a:t>
            </a:r>
            <a:endParaRPr lang="en-US" sz="26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Instrument &amp; Ethical Considerations</a:t>
            </a:r>
            <a:endParaRPr lang="en-US" sz="6000" dirty="0"/>
          </a:p>
        </p:txBody>
      </p:sp>
      <p:sp>
        <p:nvSpPr>
          <p:cNvPr id="3" name="Text 1"/>
          <p:cNvSpPr txBox="1"/>
          <p:nvPr/>
        </p:nvSpPr>
        <p:spPr>
          <a:xfrm>
            <a:off x="1097280" y="2240280"/>
            <a:ext cx="8229600" cy="548640"/>
          </a:xfrm>
          <a:prstGeom prst="rect">
            <a:avLst/>
          </a:prstGeom>
          <a:noFill/>
          <a:ln/>
        </p:spPr>
        <p:txBody>
          <a:bodyPr wrap="square" lIns="0" tIns="0" rIns="0" bIns="0" rtlCol="0" anchor="t"/>
          <a:lstStyle/>
          <a:p>
            <a:pPr indent="0" marL="0">
              <a:buNone/>
            </a:pPr>
            <a:r>
              <a:rPr lang="en-US" sz="3500" b="1" dirty="0">
                <a:solidFill>
                  <a:srgbClr val="1A3760"/>
                </a:solidFill>
                <a:latin typeface="Times New Roman" pitchFamily="34" charset="0"/>
                <a:ea typeface="Times New Roman" pitchFamily="34" charset="-122"/>
                <a:cs typeface="Times New Roman" pitchFamily="34" charset="-120"/>
              </a:rPr>
              <a:t>Instrument</a:t>
            </a:r>
            <a:endParaRPr lang="en-US" sz="3500" dirty="0"/>
          </a:p>
        </p:txBody>
      </p:sp>
      <p:sp>
        <p:nvSpPr>
          <p:cNvPr id="4" name="Text 2"/>
          <p:cNvSpPr txBox="1"/>
          <p:nvPr/>
        </p:nvSpPr>
        <p:spPr>
          <a:xfrm>
            <a:off x="1097280" y="2880360"/>
            <a:ext cx="8412480" cy="2743200"/>
          </a:xfrm>
          <a:prstGeom prst="rect">
            <a:avLst/>
          </a:prstGeom>
          <a:noFill/>
          <a:ln/>
        </p:spPr>
        <p:txBody>
          <a:bodyPr wrap="square" rtlCol="0" anchor="t"/>
          <a:lstStyle/>
          <a:p>
            <a:pPr marL="342900" indent="-342900">
              <a:spcAft>
                <a:spcPts val="1000"/>
              </a:spcAft>
              <a:buSzPct val="100000"/>
              <a:buChar char="•"/>
            </a:pPr>
            <a:r>
              <a:rPr lang="en-US" sz="2600" dirty="0">
                <a:solidFill>
                  <a:srgbClr val="000000"/>
                </a:solidFill>
                <a:latin typeface="Times New Roman" pitchFamily="34" charset="0"/>
                <a:ea typeface="Times New Roman" pitchFamily="34" charset="-122"/>
                <a:cs typeface="Times New Roman" pitchFamily="34" charset="-120"/>
              </a:rPr>
              <a:t>Self-prepared 43-item questionnaire by Vishba and Shaheen (2024) for assessment of disaster preparedness.</a:t>
            </a:r>
            <a:endParaRPr lang="en-US" sz="2600" dirty="0"/>
          </a:p>
          <a:p>
            <a:pPr marL="342900" indent="-342900">
              <a:spcAft>
                <a:spcPts val="1000"/>
              </a:spcAft>
              <a:buSzPct val="100000"/>
              <a:buChar char="•"/>
            </a:pPr>
            <a:r>
              <a:rPr lang="en-US" sz="2600" dirty="0">
                <a:solidFill>
                  <a:srgbClr val="000000"/>
                </a:solidFill>
                <a:latin typeface="Times New Roman" pitchFamily="34" charset="0"/>
                <a:ea typeface="Times New Roman" pitchFamily="34" charset="-122"/>
                <a:cs typeface="Times New Roman" pitchFamily="34" charset="-120"/>
              </a:rPr>
              <a:t>Each item scored on a 1–5 Likert scale, from 1 (Not at all true) to 5 (It is completely true).</a:t>
            </a:r>
            <a:endParaRPr lang="en-US" sz="2600" dirty="0"/>
          </a:p>
        </p:txBody>
      </p:sp>
      <p:sp>
        <p:nvSpPr>
          <p:cNvPr id="5" name="stat 15"/>
          <p:cNvSpPr/>
          <p:nvPr/>
        </p:nvSpPr>
        <p:spPr>
          <a:xfrm>
            <a:off x="1097280" y="5897880"/>
            <a:ext cx="2651760" cy="3108960"/>
          </a:xfrm>
          <a:prstGeom prst="roundRect">
            <a:avLst>
              <a:gd name="adj" fmla="val 5172"/>
            </a:avLst>
          </a:prstGeom>
          <a:solidFill>
            <a:srgbClr val="1A3760"/>
          </a:solidFill>
          <a:ln w="12700">
            <a:solidFill>
              <a:srgbClr val="1A3760"/>
            </a:solidFill>
            <a:prstDash val="solid"/>
          </a:ln>
        </p:spPr>
      </p:sp>
      <p:sp>
        <p:nvSpPr>
          <p:cNvPr id="6" name="Text 4"/>
          <p:cNvSpPr txBox="1"/>
          <p:nvPr/>
        </p:nvSpPr>
        <p:spPr>
          <a:xfrm>
            <a:off x="1097280" y="5897880"/>
            <a:ext cx="2651760" cy="310896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15</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Knowledge items</a:t>
            </a:r>
            <a:endParaRPr lang="en-US" sz="6800" dirty="0"/>
          </a:p>
        </p:txBody>
      </p:sp>
      <p:sp>
        <p:nvSpPr>
          <p:cNvPr id="7" name="stat 14"/>
          <p:cNvSpPr/>
          <p:nvPr/>
        </p:nvSpPr>
        <p:spPr>
          <a:xfrm>
            <a:off x="3931920" y="5897880"/>
            <a:ext cx="2651760" cy="3108960"/>
          </a:xfrm>
          <a:prstGeom prst="roundRect">
            <a:avLst>
              <a:gd name="adj" fmla="val 5172"/>
            </a:avLst>
          </a:prstGeom>
          <a:solidFill>
            <a:srgbClr val="1A3760"/>
          </a:solidFill>
          <a:ln w="12700">
            <a:solidFill>
              <a:srgbClr val="1A3760"/>
            </a:solidFill>
            <a:prstDash val="solid"/>
          </a:ln>
        </p:spPr>
      </p:sp>
      <p:sp>
        <p:nvSpPr>
          <p:cNvPr id="8" name="Text 6"/>
          <p:cNvSpPr txBox="1"/>
          <p:nvPr/>
        </p:nvSpPr>
        <p:spPr>
          <a:xfrm>
            <a:off x="3931920" y="5897880"/>
            <a:ext cx="2651760" cy="310896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14</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Attitude (Perception) items</a:t>
            </a:r>
            <a:endParaRPr lang="en-US" sz="6800" dirty="0"/>
          </a:p>
        </p:txBody>
      </p:sp>
      <p:sp>
        <p:nvSpPr>
          <p:cNvPr id="9" name="stat 14"/>
          <p:cNvSpPr/>
          <p:nvPr/>
        </p:nvSpPr>
        <p:spPr>
          <a:xfrm>
            <a:off x="6766560" y="5897880"/>
            <a:ext cx="2651760" cy="3108960"/>
          </a:xfrm>
          <a:prstGeom prst="roundRect">
            <a:avLst>
              <a:gd name="adj" fmla="val 5172"/>
            </a:avLst>
          </a:prstGeom>
          <a:solidFill>
            <a:srgbClr val="1A3760"/>
          </a:solidFill>
          <a:ln w="12700">
            <a:solidFill>
              <a:srgbClr val="1A3760"/>
            </a:solidFill>
            <a:prstDash val="solid"/>
          </a:ln>
        </p:spPr>
      </p:sp>
      <p:sp>
        <p:nvSpPr>
          <p:cNvPr id="10" name="Text 8"/>
          <p:cNvSpPr txBox="1"/>
          <p:nvPr/>
        </p:nvSpPr>
        <p:spPr>
          <a:xfrm>
            <a:off x="6766560" y="5897880"/>
            <a:ext cx="2651760" cy="310896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14</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Practice items</a:t>
            </a:r>
            <a:endParaRPr lang="en-US" sz="6800" dirty="0"/>
          </a:p>
        </p:txBody>
      </p:sp>
      <p:sp>
        <p:nvSpPr>
          <p:cNvPr id="11" name="ethics card"/>
          <p:cNvSpPr/>
          <p:nvPr/>
        </p:nvSpPr>
        <p:spPr>
          <a:xfrm>
            <a:off x="10058400" y="2240280"/>
            <a:ext cx="7132320" cy="6766560"/>
          </a:xfrm>
          <a:prstGeom prst="roundRect">
            <a:avLst>
              <a:gd name="adj" fmla="val 2703"/>
            </a:avLst>
          </a:prstGeom>
          <a:solidFill>
            <a:srgbClr val="D6DDEA"/>
          </a:solidFill>
          <a:ln w="12700">
            <a:solidFill>
              <a:srgbClr val="D6DDEA"/>
            </a:solidFill>
            <a:prstDash val="solid"/>
          </a:ln>
        </p:spPr>
      </p:sp>
      <p:sp>
        <p:nvSpPr>
          <p:cNvPr id="12" name="Text 10"/>
          <p:cNvSpPr txBox="1"/>
          <p:nvPr/>
        </p:nvSpPr>
        <p:spPr>
          <a:xfrm>
            <a:off x="10424160" y="2514600"/>
            <a:ext cx="6400800" cy="548640"/>
          </a:xfrm>
          <a:prstGeom prst="rect">
            <a:avLst/>
          </a:prstGeom>
          <a:noFill/>
          <a:ln/>
        </p:spPr>
        <p:txBody>
          <a:bodyPr wrap="square" lIns="0" tIns="0" rIns="0" bIns="0" rtlCol="0" anchor="t"/>
          <a:lstStyle/>
          <a:p>
            <a:pPr indent="0" marL="0">
              <a:buNone/>
            </a:pPr>
            <a:r>
              <a:rPr lang="en-US" sz="3500" b="1" dirty="0">
                <a:solidFill>
                  <a:srgbClr val="1A3760"/>
                </a:solidFill>
                <a:latin typeface="Times New Roman" pitchFamily="34" charset="0"/>
                <a:ea typeface="Times New Roman" pitchFamily="34" charset="-122"/>
                <a:cs typeface="Times New Roman" pitchFamily="34" charset="-120"/>
              </a:rPr>
              <a:t>Ethical Considerations</a:t>
            </a:r>
            <a:endParaRPr lang="en-US" sz="3500" dirty="0"/>
          </a:p>
        </p:txBody>
      </p:sp>
      <p:sp>
        <p:nvSpPr>
          <p:cNvPr id="13" name="Text 11"/>
          <p:cNvSpPr txBox="1"/>
          <p:nvPr/>
        </p:nvSpPr>
        <p:spPr>
          <a:xfrm>
            <a:off x="10424160" y="3291840"/>
            <a:ext cx="6400800" cy="5486400"/>
          </a:xfrm>
          <a:prstGeom prst="rect">
            <a:avLst/>
          </a:prstGeom>
          <a:noFill/>
          <a:ln/>
        </p:spPr>
        <p:txBody>
          <a:bodyPr wrap="square" rtlCol="0" anchor="t"/>
          <a:lstStyle/>
          <a:p>
            <a:pPr marL="342900" indent="-342900">
              <a:spcAft>
                <a:spcPts val="1600"/>
              </a:spcAft>
              <a:buSzPct val="100000"/>
              <a:buChar char="✓"/>
            </a:pPr>
            <a:r>
              <a:rPr lang="en-US" sz="2800" dirty="0">
                <a:solidFill>
                  <a:srgbClr val="000000"/>
                </a:solidFill>
                <a:latin typeface="Times New Roman" pitchFamily="34" charset="0"/>
                <a:ea typeface="Times New Roman" pitchFamily="34" charset="-122"/>
                <a:cs typeface="Times New Roman" pitchFamily="34" charset="-120"/>
              </a:rPr>
              <a:t>Approval obtained from the Institutional Review Board (IRB).</a:t>
            </a:r>
            <a:endParaRPr lang="en-US" sz="2800" dirty="0"/>
          </a:p>
          <a:p>
            <a:pPr marL="342900" indent="-342900">
              <a:spcAft>
                <a:spcPts val="1600"/>
              </a:spcAft>
              <a:buSzPct val="100000"/>
              <a:buChar char="✓"/>
            </a:pPr>
            <a:r>
              <a:rPr lang="en-US" sz="2800" dirty="0">
                <a:solidFill>
                  <a:srgbClr val="000000"/>
                </a:solidFill>
                <a:latin typeface="Times New Roman" pitchFamily="34" charset="0"/>
                <a:ea typeface="Times New Roman" pitchFamily="34" charset="-122"/>
                <a:cs typeface="Times New Roman" pitchFamily="34" charset="-120"/>
              </a:rPr>
              <a:t>Informed consent provided to all participants before data collection.</a:t>
            </a:r>
            <a:endParaRPr lang="en-US" sz="2800" dirty="0"/>
          </a:p>
          <a:p>
            <a:pPr marL="342900" indent="-342900">
              <a:spcAft>
                <a:spcPts val="1600"/>
              </a:spcAft>
              <a:buSzPct val="100000"/>
              <a:buChar char="✓"/>
            </a:pPr>
            <a:r>
              <a:rPr lang="en-US" sz="2800" dirty="0">
                <a:solidFill>
                  <a:srgbClr val="000000"/>
                </a:solidFill>
                <a:latin typeface="Times New Roman" pitchFamily="34" charset="0"/>
                <a:ea typeface="Times New Roman" pitchFamily="34" charset="-122"/>
                <a:cs typeface="Times New Roman" pitchFamily="34" charset="-120"/>
              </a:rPr>
              <a:t>Confidentiality and anonymity ensured; all data de-identified and safely stored.</a:t>
            </a:r>
            <a:endParaRPr lang="en-US" sz="2800" dirty="0"/>
          </a:p>
          <a:p>
            <a:pPr marL="342900" indent="-342900">
              <a:spcAft>
                <a:spcPts val="1600"/>
              </a:spcAft>
              <a:buSzPct val="100000"/>
              <a:buChar char="✓"/>
            </a:pPr>
            <a:r>
              <a:rPr lang="en-US" sz="2800" dirty="0">
                <a:solidFill>
                  <a:srgbClr val="000000"/>
                </a:solidFill>
                <a:latin typeface="Times New Roman" pitchFamily="34" charset="0"/>
                <a:ea typeface="Times New Roman" pitchFamily="34" charset="-122"/>
                <a:cs typeface="Times New Roman" pitchFamily="34" charset="-120"/>
              </a:rPr>
              <a:t>Participants guaranteed the freedom to withdraw at any time without penalty.</a:t>
            </a:r>
            <a:endParaRPr lang="en-US" sz="28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Data Analysis</a:t>
            </a:r>
            <a:endParaRPr lang="en-US" sz="6000" dirty="0"/>
          </a:p>
        </p:txBody>
      </p:sp>
      <p:sp>
        <p:nvSpPr>
          <p:cNvPr id="3" name="Text 1"/>
          <p:cNvSpPr txBox="1"/>
          <p:nvPr/>
        </p:nvSpPr>
        <p:spPr>
          <a:xfrm>
            <a:off x="1097280" y="2148840"/>
            <a:ext cx="15910560" cy="640080"/>
          </a:xfrm>
          <a:prstGeom prst="rect">
            <a:avLst/>
          </a:prstGeom>
          <a:noFill/>
          <a:ln/>
        </p:spPr>
        <p:txBody>
          <a:bodyPr wrap="square" lIns="0" tIns="0" rIns="0" bIns="0" rtlCol="0" anchor="t"/>
          <a:lstStyle/>
          <a:p>
            <a:pPr indent="0" marL="0">
              <a:buNone/>
            </a:pPr>
            <a:r>
              <a:rPr lang="en-US" sz="3000" i="1" dirty="0">
                <a:solidFill>
                  <a:srgbClr val="000000"/>
                </a:solidFill>
                <a:latin typeface="Times New Roman" pitchFamily="34" charset="0"/>
                <a:ea typeface="Times New Roman" pitchFamily="34" charset="-122"/>
                <a:cs typeface="Times New Roman" pitchFamily="34" charset="-120"/>
              </a:rPr>
              <a:t>Data analysis was done with the Statistical Package for the Social Sciences (SPSS) version 28.</a:t>
            </a:r>
            <a:endParaRPr lang="en-US" sz="3000" dirty="0"/>
          </a:p>
        </p:txBody>
      </p:sp>
      <p:sp>
        <p:nvSpPr>
          <p:cNvPr id="4" name="card Descriptive Statistics"/>
          <p:cNvSpPr/>
          <p:nvPr/>
        </p:nvSpPr>
        <p:spPr>
          <a:xfrm>
            <a:off x="4480560" y="3081528"/>
            <a:ext cx="12527280" cy="1197864"/>
          </a:xfrm>
          <a:prstGeom prst="roundRect">
            <a:avLst>
              <a:gd name="adj" fmla="val 11450"/>
            </a:avLst>
          </a:prstGeom>
          <a:solidFill>
            <a:srgbClr val="D6DDEA"/>
          </a:solidFill>
          <a:ln w="12700">
            <a:solidFill>
              <a:srgbClr val="D6DDEA"/>
            </a:solidFill>
            <a:prstDash val="solid"/>
          </a:ln>
        </p:spPr>
      </p:sp>
      <p:sp>
        <p:nvSpPr>
          <p:cNvPr id="5" name="label Descriptive Statistics"/>
          <p:cNvSpPr/>
          <p:nvPr/>
        </p:nvSpPr>
        <p:spPr>
          <a:xfrm>
            <a:off x="1097280" y="2971800"/>
            <a:ext cx="3657600" cy="1417320"/>
          </a:xfrm>
          <a:prstGeom prst="roundRect">
            <a:avLst>
              <a:gd name="adj" fmla="val 12903"/>
            </a:avLst>
          </a:prstGeom>
          <a:solidFill>
            <a:srgbClr val="4F81BD"/>
          </a:solidFill>
          <a:ln w="19050">
            <a:solidFill>
              <a:srgbClr val="FFFFFF"/>
            </a:solidFill>
            <a:prstDash val="solid"/>
          </a:ln>
        </p:spPr>
      </p:sp>
      <p:sp>
        <p:nvSpPr>
          <p:cNvPr id="6" name="Text 4"/>
          <p:cNvSpPr txBox="1"/>
          <p:nvPr/>
        </p:nvSpPr>
        <p:spPr>
          <a:xfrm>
            <a:off x="1097280" y="2971800"/>
            <a:ext cx="3657600" cy="14173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Descriptive Statistics</a:t>
            </a:r>
            <a:endParaRPr lang="en-US" sz="2800" dirty="0"/>
          </a:p>
        </p:txBody>
      </p:sp>
      <p:sp>
        <p:nvSpPr>
          <p:cNvPr id="7" name="Text 5"/>
          <p:cNvSpPr txBox="1"/>
          <p:nvPr/>
        </p:nvSpPr>
        <p:spPr>
          <a:xfrm>
            <a:off x="4937760" y="3081528"/>
            <a:ext cx="11932920" cy="11978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Demographics and responses summarized using mean, standard deviation, range, skewness and kurtosis to describe data distribution and central tendencies.</a:t>
            </a:r>
            <a:endParaRPr lang="en-US" sz="2500" dirty="0"/>
          </a:p>
        </p:txBody>
      </p:sp>
      <p:sp>
        <p:nvSpPr>
          <p:cNvPr id="8" name="card Reliability Test"/>
          <p:cNvSpPr/>
          <p:nvPr/>
        </p:nvSpPr>
        <p:spPr>
          <a:xfrm>
            <a:off x="4480560" y="4681728"/>
            <a:ext cx="12527280" cy="1197864"/>
          </a:xfrm>
          <a:prstGeom prst="roundRect">
            <a:avLst>
              <a:gd name="adj" fmla="val 11450"/>
            </a:avLst>
          </a:prstGeom>
          <a:solidFill>
            <a:srgbClr val="D6DDEA"/>
          </a:solidFill>
          <a:ln w="12700">
            <a:solidFill>
              <a:srgbClr val="D6DDEA"/>
            </a:solidFill>
            <a:prstDash val="solid"/>
          </a:ln>
        </p:spPr>
      </p:sp>
      <p:sp>
        <p:nvSpPr>
          <p:cNvPr id="9" name="label Reliability Test"/>
          <p:cNvSpPr/>
          <p:nvPr/>
        </p:nvSpPr>
        <p:spPr>
          <a:xfrm>
            <a:off x="1097280" y="4572000"/>
            <a:ext cx="3657600" cy="1417320"/>
          </a:xfrm>
          <a:prstGeom prst="roundRect">
            <a:avLst>
              <a:gd name="adj" fmla="val 12903"/>
            </a:avLst>
          </a:prstGeom>
          <a:solidFill>
            <a:srgbClr val="4F81BD"/>
          </a:solidFill>
          <a:ln w="19050">
            <a:solidFill>
              <a:srgbClr val="FFFFFF"/>
            </a:solidFill>
            <a:prstDash val="solid"/>
          </a:ln>
        </p:spPr>
      </p:sp>
      <p:sp>
        <p:nvSpPr>
          <p:cNvPr id="10" name="Text 8"/>
          <p:cNvSpPr txBox="1"/>
          <p:nvPr/>
        </p:nvSpPr>
        <p:spPr>
          <a:xfrm>
            <a:off x="1097280" y="4572000"/>
            <a:ext cx="3657600" cy="14173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Reliability Test</a:t>
            </a:r>
            <a:endParaRPr lang="en-US" sz="2800" dirty="0"/>
          </a:p>
        </p:txBody>
      </p:sp>
      <p:sp>
        <p:nvSpPr>
          <p:cNvPr id="11" name="Text 9"/>
          <p:cNvSpPr txBox="1"/>
          <p:nvPr/>
        </p:nvSpPr>
        <p:spPr>
          <a:xfrm>
            <a:off x="4937760" y="4681728"/>
            <a:ext cx="11932920" cy="11978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Cronbach’s alpha was used to test the reliability of the survey instruments.</a:t>
            </a:r>
            <a:endParaRPr lang="en-US" sz="2500" dirty="0"/>
          </a:p>
        </p:txBody>
      </p:sp>
      <p:sp>
        <p:nvSpPr>
          <p:cNvPr id="12" name="card Inferential Statistics"/>
          <p:cNvSpPr/>
          <p:nvPr/>
        </p:nvSpPr>
        <p:spPr>
          <a:xfrm>
            <a:off x="4480560" y="6281928"/>
            <a:ext cx="12527280" cy="1197864"/>
          </a:xfrm>
          <a:prstGeom prst="roundRect">
            <a:avLst>
              <a:gd name="adj" fmla="val 11450"/>
            </a:avLst>
          </a:prstGeom>
          <a:solidFill>
            <a:srgbClr val="D6DDEA"/>
          </a:solidFill>
          <a:ln w="12700">
            <a:solidFill>
              <a:srgbClr val="D6DDEA"/>
            </a:solidFill>
            <a:prstDash val="solid"/>
          </a:ln>
        </p:spPr>
      </p:sp>
      <p:sp>
        <p:nvSpPr>
          <p:cNvPr id="13" name="label Inferential Statistics"/>
          <p:cNvSpPr/>
          <p:nvPr/>
        </p:nvSpPr>
        <p:spPr>
          <a:xfrm>
            <a:off x="1097280" y="6172200"/>
            <a:ext cx="3657600" cy="1417320"/>
          </a:xfrm>
          <a:prstGeom prst="roundRect">
            <a:avLst>
              <a:gd name="adj" fmla="val 12903"/>
            </a:avLst>
          </a:prstGeom>
          <a:solidFill>
            <a:srgbClr val="4F81BD"/>
          </a:solidFill>
          <a:ln w="19050">
            <a:solidFill>
              <a:srgbClr val="FFFFFF"/>
            </a:solidFill>
            <a:prstDash val="solid"/>
          </a:ln>
        </p:spPr>
      </p:sp>
      <p:sp>
        <p:nvSpPr>
          <p:cNvPr id="14" name="Text 12"/>
          <p:cNvSpPr txBox="1"/>
          <p:nvPr/>
        </p:nvSpPr>
        <p:spPr>
          <a:xfrm>
            <a:off x="1097280" y="6172200"/>
            <a:ext cx="3657600" cy="14173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Inferential Statistics</a:t>
            </a:r>
            <a:endParaRPr lang="en-US" sz="2800" dirty="0"/>
          </a:p>
        </p:txBody>
      </p:sp>
      <p:sp>
        <p:nvSpPr>
          <p:cNvPr id="15" name="Text 13"/>
          <p:cNvSpPr txBox="1"/>
          <p:nvPr/>
        </p:nvSpPr>
        <p:spPr>
          <a:xfrm>
            <a:off x="4937760" y="6281928"/>
            <a:ext cx="11932920" cy="11978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Pearson product-moment correlation to identify relationships between variables; linear regression to predict preparedness outcomes.</a:t>
            </a:r>
            <a:endParaRPr lang="en-US" sz="2500" dirty="0"/>
          </a:p>
        </p:txBody>
      </p:sp>
      <p:sp>
        <p:nvSpPr>
          <p:cNvPr id="16" name="card Comparative Analysis"/>
          <p:cNvSpPr/>
          <p:nvPr/>
        </p:nvSpPr>
        <p:spPr>
          <a:xfrm>
            <a:off x="4480560" y="7882128"/>
            <a:ext cx="12527280" cy="1197864"/>
          </a:xfrm>
          <a:prstGeom prst="roundRect">
            <a:avLst>
              <a:gd name="adj" fmla="val 11450"/>
            </a:avLst>
          </a:prstGeom>
          <a:solidFill>
            <a:srgbClr val="D6DDEA"/>
          </a:solidFill>
          <a:ln w="12700">
            <a:solidFill>
              <a:srgbClr val="D6DDEA"/>
            </a:solidFill>
            <a:prstDash val="solid"/>
          </a:ln>
        </p:spPr>
      </p:sp>
      <p:sp>
        <p:nvSpPr>
          <p:cNvPr id="17" name="label Comparative Analysis"/>
          <p:cNvSpPr/>
          <p:nvPr/>
        </p:nvSpPr>
        <p:spPr>
          <a:xfrm>
            <a:off x="1097280" y="7772400"/>
            <a:ext cx="3657600" cy="1417320"/>
          </a:xfrm>
          <a:prstGeom prst="roundRect">
            <a:avLst>
              <a:gd name="adj" fmla="val 12903"/>
            </a:avLst>
          </a:prstGeom>
          <a:solidFill>
            <a:srgbClr val="4F81BD"/>
          </a:solidFill>
          <a:ln w="19050">
            <a:solidFill>
              <a:srgbClr val="FFFFFF"/>
            </a:solidFill>
            <a:prstDash val="solid"/>
          </a:ln>
        </p:spPr>
      </p:sp>
      <p:sp>
        <p:nvSpPr>
          <p:cNvPr id="18" name="Text 16"/>
          <p:cNvSpPr txBox="1"/>
          <p:nvPr/>
        </p:nvSpPr>
        <p:spPr>
          <a:xfrm>
            <a:off x="1097280" y="7772400"/>
            <a:ext cx="3657600" cy="14173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Comparative Analysis</a:t>
            </a:r>
            <a:endParaRPr lang="en-US" sz="2800" dirty="0"/>
          </a:p>
        </p:txBody>
      </p:sp>
      <p:sp>
        <p:nvSpPr>
          <p:cNvPr id="19" name="Text 17"/>
          <p:cNvSpPr txBox="1"/>
          <p:nvPr/>
        </p:nvSpPr>
        <p:spPr>
          <a:xfrm>
            <a:off x="4937760" y="7882128"/>
            <a:ext cx="11932920" cy="11978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Independent sample t-tests and ANOVA to determine demographic differences in nurses’ preparedness levels.</a:t>
            </a:r>
            <a:endParaRPr lang="en-US" sz="25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Results – Demographics</a:t>
            </a:r>
            <a:endParaRPr lang="en-US" sz="6000" dirty="0"/>
          </a:p>
        </p:txBody>
      </p:sp>
      <p:pic>
        <p:nvPicPr>
          <p:cNvPr id="3" name="Image 0" descr="chart11.png">    </p:cNvPr>
          <p:cNvPicPr>
            <a:picLocks noChangeAspect="1"/>
          </p:cNvPicPr>
          <p:nvPr/>
        </p:nvPicPr>
        <p:blipFill>
          <a:blip r:embed="rId1"/>
          <a:stretch>
            <a:fillRect/>
          </a:stretch>
        </p:blipFill>
        <p:spPr>
          <a:xfrm>
            <a:off x="2560320" y="2103120"/>
            <a:ext cx="5943600" cy="3679371"/>
          </a:xfrm>
          <a:prstGeom prst="rect">
            <a:avLst/>
          </a:prstGeom>
        </p:spPr>
      </p:pic>
      <p:pic>
        <p:nvPicPr>
          <p:cNvPr id="4" name="Image 1" descr="chart12.png">    </p:cNvPr>
          <p:cNvPicPr>
            <a:picLocks noChangeAspect="1"/>
          </p:cNvPicPr>
          <p:nvPr/>
        </p:nvPicPr>
        <p:blipFill>
          <a:blip r:embed="rId2"/>
          <a:stretch>
            <a:fillRect/>
          </a:stretch>
        </p:blipFill>
        <p:spPr>
          <a:xfrm>
            <a:off x="9784080" y="2103120"/>
            <a:ext cx="5943600" cy="3679371"/>
          </a:xfrm>
          <a:prstGeom prst="rect">
            <a:avLst/>
          </a:prstGeom>
        </p:spPr>
      </p:pic>
      <p:pic>
        <p:nvPicPr>
          <p:cNvPr id="5" name="Image 2" descr="chart13.png">    </p:cNvPr>
          <p:cNvPicPr>
            <a:picLocks noChangeAspect="1"/>
          </p:cNvPicPr>
          <p:nvPr/>
        </p:nvPicPr>
        <p:blipFill>
          <a:blip r:embed="rId3"/>
          <a:stretch>
            <a:fillRect/>
          </a:stretch>
        </p:blipFill>
        <p:spPr>
          <a:xfrm>
            <a:off x="2560320" y="5897880"/>
            <a:ext cx="5943600" cy="3679371"/>
          </a:xfrm>
          <a:prstGeom prst="rect">
            <a:avLst/>
          </a:prstGeom>
        </p:spPr>
      </p:pic>
      <p:pic>
        <p:nvPicPr>
          <p:cNvPr id="6" name="Image 3" descr="chart14.png">    </p:cNvPr>
          <p:cNvPicPr>
            <a:picLocks noChangeAspect="1"/>
          </p:cNvPicPr>
          <p:nvPr/>
        </p:nvPicPr>
        <p:blipFill>
          <a:blip r:embed="rId4"/>
          <a:stretch>
            <a:fillRect/>
          </a:stretch>
        </p:blipFill>
        <p:spPr>
          <a:xfrm>
            <a:off x="9784080" y="5897880"/>
            <a:ext cx="5943600" cy="3679371"/>
          </a:xfrm>
          <a:prstGeom prst="rect">
            <a:avLst/>
          </a:prstGeom>
        </p:spPr>
      </p:pic>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Results – Psychometric Properties</a:t>
            </a:r>
            <a:endParaRPr lang="en-US" sz="6000" dirty="0"/>
          </a:p>
        </p:txBody>
      </p:sp>
      <p:sp>
        <p:nvSpPr>
          <p:cNvPr id="3" name="psy card"/>
          <p:cNvSpPr/>
          <p:nvPr/>
        </p:nvSpPr>
        <p:spPr>
          <a:xfrm>
            <a:off x="1097280" y="2331720"/>
            <a:ext cx="5120640" cy="6675120"/>
          </a:xfrm>
          <a:prstGeom prst="roundRect">
            <a:avLst>
              <a:gd name="adj" fmla="val 3571"/>
            </a:avLst>
          </a:prstGeom>
          <a:solidFill>
            <a:srgbClr val="D6DDEA"/>
          </a:solidFill>
          <a:ln w="12700">
            <a:solidFill>
              <a:srgbClr val="D6DDEA"/>
            </a:solidFill>
            <a:prstDash val="solid"/>
          </a:ln>
        </p:spPr>
      </p:sp>
      <p:sp>
        <p:nvSpPr>
          <p:cNvPr id="4" name="Text 2"/>
          <p:cNvSpPr txBox="1"/>
          <p:nvPr/>
        </p:nvSpPr>
        <p:spPr>
          <a:xfrm>
            <a:off x="1371600" y="2606040"/>
            <a:ext cx="4572000" cy="6126480"/>
          </a:xfrm>
          <a:prstGeom prst="rect">
            <a:avLst/>
          </a:prstGeom>
          <a:noFill/>
          <a:ln/>
        </p:spPr>
        <p:txBody>
          <a:bodyPr wrap="square" rtlCol="0" anchor="ctr"/>
          <a:lstStyle/>
          <a:p>
            <a:pPr marL="342900" indent="-342900">
              <a:spcAft>
                <a:spcPts val="2200"/>
              </a:spcAft>
              <a:buSzPct val="100000"/>
              <a:buChar char="•"/>
            </a:pPr>
            <a:r>
              <a:rPr lang="en-US" sz="2800" dirty="0">
                <a:solidFill>
                  <a:srgbClr val="000000"/>
                </a:solidFill>
                <a:latin typeface="Times New Roman" pitchFamily="34" charset="0"/>
                <a:ea typeface="Times New Roman" pitchFamily="34" charset="-122"/>
                <a:cs typeface="Times New Roman" pitchFamily="34" charset="-120"/>
              </a:rPr>
              <a:t>The scales demonstrated a high level of internal consistency and reliability.</a:t>
            </a:r>
            <a:endParaRPr lang="en-US" sz="2800" dirty="0"/>
          </a:p>
          <a:p>
            <a:pPr marL="342900" indent="-342900">
              <a:spcAft>
                <a:spcPts val="2200"/>
              </a:spcAft>
              <a:buSzPct val="100000"/>
              <a:buChar char="•"/>
            </a:pPr>
            <a:r>
              <a:rPr lang="en-US" sz="2800" dirty="0">
                <a:solidFill>
                  <a:srgbClr val="000000"/>
                </a:solidFill>
                <a:latin typeface="Times New Roman" pitchFamily="34" charset="0"/>
                <a:ea typeface="Times New Roman" pitchFamily="34" charset="-122"/>
                <a:cs typeface="Times New Roman" pitchFamily="34" charset="-120"/>
              </a:rPr>
              <a:t>Data were normally distributed, with minor negative skew values indicating generally positive perception and preparedness among nurses.</a:t>
            </a:r>
            <a:endParaRPr lang="en-US" sz="2800" dirty="0"/>
          </a:p>
        </p:txBody>
      </p:sp>
      <p:pic>
        <p:nvPicPr>
          <p:cNvPr id="5" name="Image 0" descr="Mean score and Cronbach's alpha by scale">    </p:cNvPr>
          <p:cNvPicPr>
            <a:picLocks noChangeAspect="1"/>
          </p:cNvPicPr>
          <p:nvPr/>
        </p:nvPicPr>
        <p:blipFill>
          <a:blip r:embed="rId1"/>
          <a:stretch>
            <a:fillRect/>
          </a:stretch>
        </p:blipFill>
        <p:spPr>
          <a:xfrm>
            <a:off x="6675120" y="3108960"/>
            <a:ext cx="10424160" cy="4987013"/>
          </a:xfrm>
          <a:prstGeom prst="rect">
            <a:avLst/>
          </a:prstGeom>
        </p:spPr>
      </p:pic>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Results – Knowledge</a:t>
            </a:r>
            <a:endParaRPr lang="en-US" sz="6000" dirty="0"/>
          </a:p>
        </p:txBody>
      </p:sp>
      <p:sp>
        <p:nvSpPr>
          <p:cNvPr id="3" name="stat 61.64"/>
          <p:cNvSpPr/>
          <p:nvPr/>
        </p:nvSpPr>
        <p:spPr>
          <a:xfrm>
            <a:off x="1097280" y="2377440"/>
            <a:ext cx="4206240" cy="3017520"/>
          </a:xfrm>
          <a:prstGeom prst="roundRect">
            <a:avLst>
              <a:gd name="adj" fmla="val 4545"/>
            </a:avLst>
          </a:prstGeom>
          <a:solidFill>
            <a:srgbClr val="1A3760"/>
          </a:solidFill>
          <a:ln w="12700">
            <a:solidFill>
              <a:srgbClr val="1A3760"/>
            </a:solidFill>
            <a:prstDash val="solid"/>
          </a:ln>
        </p:spPr>
      </p:sp>
      <p:sp>
        <p:nvSpPr>
          <p:cNvPr id="4" name="Text 2"/>
          <p:cNvSpPr txBox="1"/>
          <p:nvPr/>
        </p:nvSpPr>
        <p:spPr>
          <a:xfrm>
            <a:off x="1097280" y="2377440"/>
            <a:ext cx="4206240" cy="301752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61.64</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Total mean score (SD = 4.64)</a:t>
            </a:r>
            <a:endParaRPr lang="en-US" sz="6800" dirty="0"/>
          </a:p>
        </p:txBody>
      </p:sp>
      <p:sp>
        <p:nvSpPr>
          <p:cNvPr id="5" name="msg card"/>
          <p:cNvSpPr/>
          <p:nvPr/>
        </p:nvSpPr>
        <p:spPr>
          <a:xfrm>
            <a:off x="1097280" y="5669280"/>
            <a:ext cx="4206240" cy="3337560"/>
          </a:xfrm>
          <a:prstGeom prst="roundRect">
            <a:avLst>
              <a:gd name="adj" fmla="val 5479"/>
            </a:avLst>
          </a:prstGeom>
          <a:solidFill>
            <a:srgbClr val="D6DDEA"/>
          </a:solidFill>
          <a:ln w="12700">
            <a:solidFill>
              <a:srgbClr val="D6DDEA"/>
            </a:solidFill>
            <a:prstDash val="solid"/>
          </a:ln>
        </p:spPr>
      </p:sp>
      <p:sp>
        <p:nvSpPr>
          <p:cNvPr id="6" name="Text 4"/>
          <p:cNvSpPr txBox="1"/>
          <p:nvPr/>
        </p:nvSpPr>
        <p:spPr>
          <a:xfrm>
            <a:off x="1325880" y="5806440"/>
            <a:ext cx="3749040" cy="3063240"/>
          </a:xfrm>
          <a:prstGeom prst="rect">
            <a:avLst/>
          </a:prstGeom>
          <a:noFill/>
          <a:ln/>
        </p:spPr>
        <p:txBody>
          <a:bodyPr wrap="square" rtlCol="0" anchor="ctr"/>
          <a:lstStyle/>
          <a:p>
            <a:pPr indent="0" marL="0">
              <a:buNone/>
            </a:pPr>
            <a:r>
              <a:rPr lang="en-US" sz="2800" dirty="0">
                <a:solidFill>
                  <a:srgbClr val="000000"/>
                </a:solidFill>
                <a:latin typeface="Times New Roman" pitchFamily="34" charset="0"/>
                <a:ea typeface="Times New Roman" pitchFamily="34" charset="-122"/>
                <a:cs typeface="Times New Roman" pitchFamily="34" charset="-120"/>
              </a:rPr>
              <a:t>Overall knowledge level: moderately high.</a:t>
            </a:r>
            <a:endParaRPr lang="en-US" sz="2800" dirty="0"/>
          </a:p>
        </p:txBody>
      </p:sp>
      <p:pic>
        <p:nvPicPr>
          <p:cNvPr id="7" name="Image 0" descr="Results – Knowledge chart">    </p:cNvPr>
          <p:cNvPicPr>
            <a:picLocks noChangeAspect="1"/>
          </p:cNvPicPr>
          <p:nvPr/>
        </p:nvPicPr>
        <p:blipFill>
          <a:blip r:embed="rId1"/>
          <a:stretch>
            <a:fillRect/>
          </a:stretch>
        </p:blipFill>
        <p:spPr>
          <a:xfrm>
            <a:off x="5760720" y="3115195"/>
            <a:ext cx="11338560" cy="5153891"/>
          </a:xfrm>
          <a:prstGeom prst="rect">
            <a:avLst/>
          </a:prstGeom>
        </p:spPr>
      </p:pic>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Results – Perception</a:t>
            </a:r>
            <a:endParaRPr lang="en-US" sz="6000" dirty="0"/>
          </a:p>
        </p:txBody>
      </p:sp>
      <p:sp>
        <p:nvSpPr>
          <p:cNvPr id="3" name="stat 57.69"/>
          <p:cNvSpPr/>
          <p:nvPr/>
        </p:nvSpPr>
        <p:spPr>
          <a:xfrm>
            <a:off x="1097280" y="2377440"/>
            <a:ext cx="4206240" cy="3017520"/>
          </a:xfrm>
          <a:prstGeom prst="roundRect">
            <a:avLst>
              <a:gd name="adj" fmla="val 4545"/>
            </a:avLst>
          </a:prstGeom>
          <a:solidFill>
            <a:srgbClr val="1A3760"/>
          </a:solidFill>
          <a:ln w="12700">
            <a:solidFill>
              <a:srgbClr val="1A3760"/>
            </a:solidFill>
            <a:prstDash val="solid"/>
          </a:ln>
        </p:spPr>
      </p:sp>
      <p:sp>
        <p:nvSpPr>
          <p:cNvPr id="4" name="Text 2"/>
          <p:cNvSpPr txBox="1"/>
          <p:nvPr/>
        </p:nvSpPr>
        <p:spPr>
          <a:xfrm>
            <a:off x="1097280" y="2377440"/>
            <a:ext cx="4206240" cy="301752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57.69</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Total mean score (SD = 4.45)</a:t>
            </a:r>
            <a:endParaRPr lang="en-US" sz="6800" dirty="0"/>
          </a:p>
        </p:txBody>
      </p:sp>
      <p:sp>
        <p:nvSpPr>
          <p:cNvPr id="5" name="msg card"/>
          <p:cNvSpPr/>
          <p:nvPr/>
        </p:nvSpPr>
        <p:spPr>
          <a:xfrm>
            <a:off x="1097280" y="5669280"/>
            <a:ext cx="4206240" cy="3337560"/>
          </a:xfrm>
          <a:prstGeom prst="roundRect">
            <a:avLst>
              <a:gd name="adj" fmla="val 5479"/>
            </a:avLst>
          </a:prstGeom>
          <a:solidFill>
            <a:srgbClr val="D6DDEA"/>
          </a:solidFill>
          <a:ln w="12700">
            <a:solidFill>
              <a:srgbClr val="D6DDEA"/>
            </a:solidFill>
            <a:prstDash val="solid"/>
          </a:ln>
        </p:spPr>
      </p:sp>
      <p:sp>
        <p:nvSpPr>
          <p:cNvPr id="6" name="Text 4"/>
          <p:cNvSpPr txBox="1"/>
          <p:nvPr/>
        </p:nvSpPr>
        <p:spPr>
          <a:xfrm>
            <a:off x="1325880" y="5806440"/>
            <a:ext cx="3749040" cy="3063240"/>
          </a:xfrm>
          <a:prstGeom prst="rect">
            <a:avLst/>
          </a:prstGeom>
          <a:noFill/>
          <a:ln/>
        </p:spPr>
        <p:txBody>
          <a:bodyPr wrap="square" rtlCol="0" anchor="ctr"/>
          <a:lstStyle/>
          <a:p>
            <a:pPr indent="0" marL="0">
              <a:buNone/>
            </a:pPr>
            <a:r>
              <a:rPr lang="en-US" sz="2800" dirty="0">
                <a:solidFill>
                  <a:srgbClr val="000000"/>
                </a:solidFill>
                <a:latin typeface="Times New Roman" pitchFamily="34" charset="0"/>
                <a:ea typeface="Times New Roman" pitchFamily="34" charset="-122"/>
                <a:cs typeface="Times New Roman" pitchFamily="34" charset="-120"/>
              </a:rPr>
              <a:t>Indicating a generally positive attitude towards disaster preparedness.</a:t>
            </a:r>
            <a:endParaRPr lang="en-US" sz="2800" dirty="0"/>
          </a:p>
        </p:txBody>
      </p:sp>
      <p:pic>
        <p:nvPicPr>
          <p:cNvPr id="7" name="Image 0" descr="Results – Perception chart">    </p:cNvPr>
          <p:cNvPicPr>
            <a:picLocks noChangeAspect="1"/>
          </p:cNvPicPr>
          <p:nvPr/>
        </p:nvPicPr>
        <p:blipFill>
          <a:blip r:embed="rId1"/>
          <a:stretch>
            <a:fillRect/>
          </a:stretch>
        </p:blipFill>
        <p:spPr>
          <a:xfrm>
            <a:off x="5760720" y="2986347"/>
            <a:ext cx="11338560" cy="5411585"/>
          </a:xfrm>
          <a:prstGeom prst="rect">
            <a:avLst/>
          </a:prstGeom>
        </p:spPr>
      </p:pic>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Results – Practice</a:t>
            </a:r>
            <a:endParaRPr lang="en-US" sz="6000" dirty="0"/>
          </a:p>
        </p:txBody>
      </p:sp>
      <p:sp>
        <p:nvSpPr>
          <p:cNvPr id="3" name="stat 57.25"/>
          <p:cNvSpPr/>
          <p:nvPr/>
        </p:nvSpPr>
        <p:spPr>
          <a:xfrm>
            <a:off x="1097280" y="2377440"/>
            <a:ext cx="4206240" cy="3017520"/>
          </a:xfrm>
          <a:prstGeom prst="roundRect">
            <a:avLst>
              <a:gd name="adj" fmla="val 4545"/>
            </a:avLst>
          </a:prstGeom>
          <a:solidFill>
            <a:srgbClr val="1A3760"/>
          </a:solidFill>
          <a:ln w="12700">
            <a:solidFill>
              <a:srgbClr val="1A3760"/>
            </a:solidFill>
            <a:prstDash val="solid"/>
          </a:ln>
        </p:spPr>
      </p:sp>
      <p:sp>
        <p:nvSpPr>
          <p:cNvPr id="4" name="Text 2"/>
          <p:cNvSpPr txBox="1"/>
          <p:nvPr/>
        </p:nvSpPr>
        <p:spPr>
          <a:xfrm>
            <a:off x="1097280" y="2377440"/>
            <a:ext cx="4206240" cy="3017520"/>
          </a:xfrm>
          <a:prstGeom prst="rect">
            <a:avLst/>
          </a:prstGeom>
          <a:noFill/>
          <a:ln/>
        </p:spPr>
        <p:txBody>
          <a:bodyPr wrap="square" lIns="76200" tIns="76200" rIns="76200" bIns="76200" rtlCol="0" anchor="ctr"/>
          <a:lstStyle/>
          <a:p>
            <a:pPr algn="ctr" indent="0" marL="0">
              <a:buNone/>
            </a:pPr>
            <a:r>
              <a:rPr lang="en-US" sz="6800" b="1" dirty="0">
                <a:solidFill>
                  <a:srgbClr val="FFFFFF"/>
                </a:solidFill>
                <a:latin typeface="Times New Roman" pitchFamily="34" charset="0"/>
                <a:ea typeface="Times New Roman" pitchFamily="34" charset="-122"/>
                <a:cs typeface="Times New Roman" pitchFamily="34" charset="-120"/>
              </a:rPr>
              <a:t>57.25</a:t>
            </a:r>
            <a:endParaRPr lang="en-US" sz="6800" dirty="0"/>
          </a:p>
          <a:p>
            <a:pPr algn="ctr" indent="0" marL="0">
              <a:buNone/>
            </a:pPr>
            <a:r>
              <a:rPr lang="en-US" sz="2200" dirty="0">
                <a:solidFill>
                  <a:srgbClr val="DCE4F2"/>
                </a:solidFill>
                <a:latin typeface="Times New Roman" pitchFamily="34" charset="0"/>
                <a:ea typeface="Times New Roman" pitchFamily="34" charset="-122"/>
                <a:cs typeface="Times New Roman" pitchFamily="34" charset="-120"/>
              </a:rPr>
              <a:t>Total mean score (SD = 5.37)</a:t>
            </a:r>
            <a:endParaRPr lang="en-US" sz="6800" dirty="0"/>
          </a:p>
        </p:txBody>
      </p:sp>
      <p:sp>
        <p:nvSpPr>
          <p:cNvPr id="5" name="msg card"/>
          <p:cNvSpPr/>
          <p:nvPr/>
        </p:nvSpPr>
        <p:spPr>
          <a:xfrm>
            <a:off x="1097280" y="5669280"/>
            <a:ext cx="4206240" cy="3337560"/>
          </a:xfrm>
          <a:prstGeom prst="roundRect">
            <a:avLst>
              <a:gd name="adj" fmla="val 5479"/>
            </a:avLst>
          </a:prstGeom>
          <a:solidFill>
            <a:srgbClr val="D6DDEA"/>
          </a:solidFill>
          <a:ln w="12700">
            <a:solidFill>
              <a:srgbClr val="D6DDEA"/>
            </a:solidFill>
            <a:prstDash val="solid"/>
          </a:ln>
        </p:spPr>
      </p:sp>
      <p:sp>
        <p:nvSpPr>
          <p:cNvPr id="6" name="Text 4"/>
          <p:cNvSpPr txBox="1"/>
          <p:nvPr/>
        </p:nvSpPr>
        <p:spPr>
          <a:xfrm>
            <a:off x="1325880" y="5806440"/>
            <a:ext cx="3749040" cy="3063240"/>
          </a:xfrm>
          <a:prstGeom prst="rect">
            <a:avLst/>
          </a:prstGeom>
          <a:noFill/>
          <a:ln/>
        </p:spPr>
        <p:txBody>
          <a:bodyPr wrap="square" rtlCol="0" anchor="ctr"/>
          <a:lstStyle/>
          <a:p>
            <a:pPr indent="0" marL="0">
              <a:buNone/>
            </a:pPr>
            <a:r>
              <a:rPr lang="en-US" sz="2800" dirty="0">
                <a:solidFill>
                  <a:srgbClr val="000000"/>
                </a:solidFill>
                <a:latin typeface="Times New Roman" pitchFamily="34" charset="0"/>
                <a:ea typeface="Times New Roman" pitchFamily="34" charset="-122"/>
                <a:cs typeface="Times New Roman" pitchFamily="34" charset="-120"/>
              </a:rPr>
              <a:t>Indicating a high degree of preparedness and awareness in practical application.</a:t>
            </a:r>
            <a:endParaRPr lang="en-US" sz="2800" dirty="0"/>
          </a:p>
        </p:txBody>
      </p:sp>
      <p:pic>
        <p:nvPicPr>
          <p:cNvPr id="7" name="Image 0" descr="Results – Practice chart">    </p:cNvPr>
          <p:cNvPicPr>
            <a:picLocks noChangeAspect="1"/>
          </p:cNvPicPr>
          <p:nvPr/>
        </p:nvPicPr>
        <p:blipFill>
          <a:blip r:embed="rId1"/>
          <a:stretch>
            <a:fillRect/>
          </a:stretch>
        </p:blipFill>
        <p:spPr>
          <a:xfrm>
            <a:off x="5760720" y="2986347"/>
            <a:ext cx="11338560" cy="5411585"/>
          </a:xfrm>
          <a:prstGeom prst="rect">
            <a:avLst/>
          </a:prstGeom>
        </p:spPr>
      </p:pic>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Discussion – H1: Knowledge</a:t>
            </a:r>
            <a:endParaRPr lang="en-US" sz="6000" dirty="0"/>
          </a:p>
        </p:txBody>
      </p:sp>
      <p:sp>
        <p:nvSpPr>
          <p:cNvPr id="3" name="banner"/>
          <p:cNvSpPr/>
          <p:nvPr/>
        </p:nvSpPr>
        <p:spPr>
          <a:xfrm>
            <a:off x="1097280" y="2286000"/>
            <a:ext cx="15910560" cy="1097280"/>
          </a:xfrm>
          <a:prstGeom prst="rect">
            <a:avLst/>
          </a:prstGeom>
          <a:solidFill>
            <a:srgbClr val="EEF1F7"/>
          </a:solidFill>
          <a:ln w="25400">
            <a:solidFill>
              <a:srgbClr val="2E7D32"/>
            </a:solidFill>
            <a:prstDash val="solid"/>
          </a:ln>
        </p:spPr>
      </p:sp>
      <p:sp>
        <p:nvSpPr>
          <p:cNvPr id="4" name="Text 2"/>
          <p:cNvSpPr txBox="1"/>
          <p:nvPr/>
        </p:nvSpPr>
        <p:spPr>
          <a:xfrm>
            <a:off x="1280160" y="2286000"/>
            <a:ext cx="15544800" cy="1097280"/>
          </a:xfrm>
          <a:prstGeom prst="rect">
            <a:avLst/>
          </a:prstGeom>
          <a:noFill/>
          <a:ln/>
        </p:spPr>
        <p:txBody>
          <a:bodyPr wrap="square" lIns="50800" tIns="50800" rIns="50800" bIns="50800" rtlCol="0" anchor="ctr"/>
          <a:lstStyle/>
          <a:p>
            <a:pPr indent="0" marL="0">
              <a:buNone/>
            </a:pPr>
            <a:r>
              <a:rPr lang="en-US" sz="3000" dirty="0">
                <a:solidFill>
                  <a:srgbClr val="000000"/>
                </a:solidFill>
                <a:latin typeface="Times New Roman" pitchFamily="34" charset="0"/>
                <a:ea typeface="Times New Roman" pitchFamily="34" charset="-122"/>
                <a:cs typeface="Times New Roman" pitchFamily="34" charset="-120"/>
              </a:rPr>
              <a:t>Hypothesis 1 accepted: nurses’ knowledge about pandemic disasters in the Taif Region is high (M = 61.64, SD = 4.64).</a:t>
            </a:r>
            <a:endParaRPr lang="en-US" sz="3000" dirty="0"/>
          </a:p>
        </p:txBody>
      </p:sp>
      <p:sp>
        <p:nvSpPr>
          <p:cNvPr id="5" name="card Key Findings"/>
          <p:cNvSpPr/>
          <p:nvPr/>
        </p:nvSpPr>
        <p:spPr>
          <a:xfrm>
            <a:off x="3931920" y="3813048"/>
            <a:ext cx="5212080" cy="2340864"/>
          </a:xfrm>
          <a:prstGeom prst="roundRect">
            <a:avLst>
              <a:gd name="adj" fmla="val 5859"/>
            </a:avLst>
          </a:prstGeom>
          <a:solidFill>
            <a:srgbClr val="D6DDEA"/>
          </a:solidFill>
          <a:ln w="12700">
            <a:solidFill>
              <a:srgbClr val="D6DDEA"/>
            </a:solidFill>
            <a:prstDash val="solid"/>
          </a:ln>
        </p:spPr>
      </p:sp>
      <p:sp>
        <p:nvSpPr>
          <p:cNvPr id="6" name="label Key Findings"/>
          <p:cNvSpPr/>
          <p:nvPr/>
        </p:nvSpPr>
        <p:spPr>
          <a:xfrm>
            <a:off x="1097280" y="3703320"/>
            <a:ext cx="3108960" cy="2560320"/>
          </a:xfrm>
          <a:prstGeom prst="roundRect">
            <a:avLst>
              <a:gd name="adj" fmla="val 7143"/>
            </a:avLst>
          </a:prstGeom>
          <a:solidFill>
            <a:srgbClr val="4F81BD"/>
          </a:solidFill>
          <a:ln w="19050">
            <a:solidFill>
              <a:srgbClr val="FFFFFF"/>
            </a:solidFill>
            <a:prstDash val="solid"/>
          </a:ln>
        </p:spPr>
      </p:sp>
      <p:sp>
        <p:nvSpPr>
          <p:cNvPr id="7" name="Text 5"/>
          <p:cNvSpPr txBox="1"/>
          <p:nvPr/>
        </p:nvSpPr>
        <p:spPr>
          <a:xfrm>
            <a:off x="1097280" y="3703320"/>
            <a:ext cx="3108960" cy="25603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Key Findings</a:t>
            </a:r>
            <a:endParaRPr lang="en-US" sz="2800" dirty="0"/>
          </a:p>
        </p:txBody>
      </p:sp>
      <p:sp>
        <p:nvSpPr>
          <p:cNvPr id="8" name="Text 6"/>
          <p:cNvSpPr txBox="1"/>
          <p:nvPr/>
        </p:nvSpPr>
        <p:spPr>
          <a:xfrm>
            <a:off x="4389120" y="3813048"/>
            <a:ext cx="4617720" cy="234086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Nurses are well-grounded in the theoretical base of disaster preparedness and are familiar with institutional responses and roles.</a:t>
            </a:r>
            <a:endParaRPr lang="en-US" sz="2400" dirty="0"/>
          </a:p>
        </p:txBody>
      </p:sp>
      <p:sp>
        <p:nvSpPr>
          <p:cNvPr id="9" name="card Gap"/>
          <p:cNvSpPr/>
          <p:nvPr/>
        </p:nvSpPr>
        <p:spPr>
          <a:xfrm>
            <a:off x="3931920" y="6556248"/>
            <a:ext cx="5212080" cy="2340864"/>
          </a:xfrm>
          <a:prstGeom prst="roundRect">
            <a:avLst>
              <a:gd name="adj" fmla="val 5859"/>
            </a:avLst>
          </a:prstGeom>
          <a:solidFill>
            <a:srgbClr val="D6DDEA"/>
          </a:solidFill>
          <a:ln w="12700">
            <a:solidFill>
              <a:srgbClr val="D6DDEA"/>
            </a:solidFill>
            <a:prstDash val="solid"/>
          </a:ln>
        </p:spPr>
      </p:sp>
      <p:sp>
        <p:nvSpPr>
          <p:cNvPr id="10" name="label Gap"/>
          <p:cNvSpPr/>
          <p:nvPr/>
        </p:nvSpPr>
        <p:spPr>
          <a:xfrm>
            <a:off x="1097280" y="6446520"/>
            <a:ext cx="3108960" cy="2560320"/>
          </a:xfrm>
          <a:prstGeom prst="roundRect">
            <a:avLst>
              <a:gd name="adj" fmla="val 7143"/>
            </a:avLst>
          </a:prstGeom>
          <a:solidFill>
            <a:srgbClr val="4F81BD"/>
          </a:solidFill>
          <a:ln w="19050">
            <a:solidFill>
              <a:srgbClr val="FFFFFF"/>
            </a:solidFill>
            <a:prstDash val="solid"/>
          </a:ln>
        </p:spPr>
      </p:sp>
      <p:sp>
        <p:nvSpPr>
          <p:cNvPr id="11" name="Text 9"/>
          <p:cNvSpPr txBox="1"/>
          <p:nvPr/>
        </p:nvSpPr>
        <p:spPr>
          <a:xfrm>
            <a:off x="1097280" y="6446520"/>
            <a:ext cx="3108960" cy="25603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Gap</a:t>
            </a:r>
            <a:endParaRPr lang="en-US" sz="2800" dirty="0"/>
          </a:p>
        </p:txBody>
      </p:sp>
      <p:sp>
        <p:nvSpPr>
          <p:cNvPr id="12" name="Text 10"/>
          <p:cNvSpPr txBox="1"/>
          <p:nvPr/>
        </p:nvSpPr>
        <p:spPr>
          <a:xfrm>
            <a:off x="4389120" y="6556248"/>
            <a:ext cx="4617720" cy="234086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A notable gap exists in operational aspects — communication systems and coordination in times of disasters.</a:t>
            </a:r>
            <a:endParaRPr lang="en-US" sz="2400" dirty="0"/>
          </a:p>
        </p:txBody>
      </p:sp>
      <p:sp>
        <p:nvSpPr>
          <p:cNvPr id="13" name="lit card"/>
          <p:cNvSpPr/>
          <p:nvPr/>
        </p:nvSpPr>
        <p:spPr>
          <a:xfrm>
            <a:off x="9692640" y="3703320"/>
            <a:ext cx="7315200" cy="5303520"/>
          </a:xfrm>
          <a:prstGeom prst="roundRect">
            <a:avLst>
              <a:gd name="adj" fmla="val 3448"/>
            </a:avLst>
          </a:prstGeom>
          <a:solidFill>
            <a:srgbClr val="EEF1F7"/>
          </a:solidFill>
          <a:ln w="19050">
            <a:solidFill>
              <a:srgbClr val="4F81BD"/>
            </a:solidFill>
            <a:prstDash val="solid"/>
          </a:ln>
        </p:spPr>
      </p:sp>
      <p:sp>
        <p:nvSpPr>
          <p:cNvPr id="14" name="Text 12"/>
          <p:cNvSpPr txBox="1"/>
          <p:nvPr/>
        </p:nvSpPr>
        <p:spPr>
          <a:xfrm>
            <a:off x="10012680" y="3931920"/>
            <a:ext cx="6675120" cy="4846320"/>
          </a:xfrm>
          <a:prstGeom prst="rect">
            <a:avLst/>
          </a:prstGeom>
          <a:noFill/>
          <a:ln/>
        </p:spPr>
        <p:txBody>
          <a:bodyPr wrap="square" rtlCol="0" anchor="t"/>
          <a:lstStyle/>
          <a:p>
            <a:pPr indent="0" marL="0">
              <a:spcAft>
                <a:spcPts val="1200"/>
              </a:spcAft>
              <a:buNone/>
            </a:pPr>
            <a:r>
              <a:rPr lang="en-US" sz="3000" b="1" dirty="0">
                <a:solidFill>
                  <a:srgbClr val="1A3760"/>
                </a:solidFill>
                <a:latin typeface="Times New Roman" pitchFamily="34" charset="0"/>
                <a:ea typeface="Times New Roman" pitchFamily="34" charset="-122"/>
                <a:cs typeface="Times New Roman" pitchFamily="34" charset="-120"/>
              </a:rPr>
              <a:t>Consistency with Literature</a:t>
            </a:r>
            <a:endParaRPr lang="en-US" sz="3000" dirty="0"/>
          </a:p>
          <a:p>
            <a:pPr marL="342900" indent="-342900">
              <a:buSzPct val="100000"/>
              <a:buChar char="•"/>
            </a:pPr>
            <a:r>
              <a:rPr lang="en-US" sz="2400" b="1" dirty="0">
                <a:solidFill>
                  <a:srgbClr val="000000"/>
                </a:solidFill>
                <a:latin typeface="Times New Roman" pitchFamily="34" charset="0"/>
                <a:ea typeface="Times New Roman" pitchFamily="34" charset="-122"/>
                <a:cs typeface="Times New Roman" pitchFamily="34" charset="-120"/>
              </a:rPr>
              <a:t>Al-Zahrani et al. (2021): </a:t>
            </a:r>
            <a:pPr indent="0" marL="0">
              <a:spcAft>
                <a:spcPts val="1200"/>
              </a:spcAft>
              <a:buNone/>
            </a:pPr>
            <a:r>
              <a:rPr lang="en-US" sz="2400" dirty="0">
                <a:solidFill>
                  <a:srgbClr val="000000"/>
                </a:solidFill>
                <a:latin typeface="Times New Roman" pitchFamily="34" charset="0"/>
                <a:ea typeface="Times New Roman" pitchFamily="34" charset="-122"/>
                <a:cs typeface="Times New Roman" pitchFamily="34" charset="-120"/>
              </a:rPr>
              <a:t>good overall knowledge among nurses in Saudi Arabia, with specific gaps in communication during emergencies.</a:t>
            </a:r>
            <a:endParaRPr lang="en-US" sz="3000" dirty="0"/>
          </a:p>
          <a:p>
            <a:pPr marL="342900" indent="-342900">
              <a:buSzPct val="100000"/>
              <a:buChar char="•"/>
            </a:pPr>
            <a:r>
              <a:rPr lang="en-US" sz="2400" b="1" dirty="0">
                <a:solidFill>
                  <a:srgbClr val="000000"/>
                </a:solidFill>
                <a:latin typeface="Times New Roman" pitchFamily="34" charset="0"/>
                <a:ea typeface="Times New Roman" pitchFamily="34" charset="-122"/>
                <a:cs typeface="Times New Roman" pitchFamily="34" charset="-120"/>
              </a:rPr>
              <a:t>Rahim et al. (2025): </a:t>
            </a:r>
            <a:pPr indent="0" marL="0">
              <a:buNone/>
            </a:pPr>
            <a:r>
              <a:rPr lang="en-US" sz="2400" dirty="0">
                <a:solidFill>
                  <a:srgbClr val="000000"/>
                </a:solidFill>
                <a:latin typeface="Times New Roman" pitchFamily="34" charset="0"/>
                <a:ea typeface="Times New Roman" pitchFamily="34" charset="-122"/>
                <a:cs typeface="Times New Roman" pitchFamily="34" charset="-120"/>
              </a:rPr>
              <a:t>nurses were well-versed in theory but faced challenges translating it into practice during real-time disaster scenarios.</a:t>
            </a:r>
            <a:endParaRPr lang="en-US" sz="30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Discussion – H2: Perception</a:t>
            </a:r>
            <a:endParaRPr lang="en-US" sz="6000" dirty="0"/>
          </a:p>
        </p:txBody>
      </p:sp>
      <p:sp>
        <p:nvSpPr>
          <p:cNvPr id="3" name="banner"/>
          <p:cNvSpPr/>
          <p:nvPr/>
        </p:nvSpPr>
        <p:spPr>
          <a:xfrm>
            <a:off x="1097280" y="2286000"/>
            <a:ext cx="15910560" cy="1097280"/>
          </a:xfrm>
          <a:prstGeom prst="rect">
            <a:avLst/>
          </a:prstGeom>
          <a:solidFill>
            <a:srgbClr val="EEF1F7"/>
          </a:solidFill>
          <a:ln w="25400">
            <a:solidFill>
              <a:srgbClr val="2E7D32"/>
            </a:solidFill>
            <a:prstDash val="solid"/>
          </a:ln>
        </p:spPr>
      </p:sp>
      <p:sp>
        <p:nvSpPr>
          <p:cNvPr id="4" name="Text 2"/>
          <p:cNvSpPr txBox="1"/>
          <p:nvPr/>
        </p:nvSpPr>
        <p:spPr>
          <a:xfrm>
            <a:off x="1280160" y="2286000"/>
            <a:ext cx="15544800" cy="1097280"/>
          </a:xfrm>
          <a:prstGeom prst="rect">
            <a:avLst/>
          </a:prstGeom>
          <a:noFill/>
          <a:ln/>
        </p:spPr>
        <p:txBody>
          <a:bodyPr wrap="square" lIns="50800" tIns="50800" rIns="50800" bIns="50800" rtlCol="0" anchor="ctr"/>
          <a:lstStyle/>
          <a:p>
            <a:pPr indent="0" marL="0">
              <a:buNone/>
            </a:pPr>
            <a:r>
              <a:rPr lang="en-US" sz="3000" dirty="0">
                <a:solidFill>
                  <a:srgbClr val="000000"/>
                </a:solidFill>
                <a:latin typeface="Times New Roman" pitchFamily="34" charset="0"/>
                <a:ea typeface="Times New Roman" pitchFamily="34" charset="-122"/>
                <a:cs typeface="Times New Roman" pitchFamily="34" charset="-120"/>
              </a:rPr>
              <a:t>Hypothesis 2 accepted: nurses in the Taif region have a positive perception of pandemic disaster preparedness (M = 57.69, SD = 4.45).</a:t>
            </a:r>
            <a:endParaRPr lang="en-US" sz="3000" dirty="0"/>
          </a:p>
        </p:txBody>
      </p:sp>
      <p:sp>
        <p:nvSpPr>
          <p:cNvPr id="5" name="card Strengths"/>
          <p:cNvSpPr/>
          <p:nvPr/>
        </p:nvSpPr>
        <p:spPr>
          <a:xfrm>
            <a:off x="4114800" y="3813048"/>
            <a:ext cx="12893040" cy="1426464"/>
          </a:xfrm>
          <a:prstGeom prst="roundRect">
            <a:avLst>
              <a:gd name="adj" fmla="val 9615"/>
            </a:avLst>
          </a:prstGeom>
          <a:solidFill>
            <a:srgbClr val="D6DDEA"/>
          </a:solidFill>
          <a:ln w="12700">
            <a:solidFill>
              <a:srgbClr val="D6DDEA"/>
            </a:solidFill>
            <a:prstDash val="solid"/>
          </a:ln>
        </p:spPr>
      </p:sp>
      <p:sp>
        <p:nvSpPr>
          <p:cNvPr id="6" name="label Strengths"/>
          <p:cNvSpPr/>
          <p:nvPr/>
        </p:nvSpPr>
        <p:spPr>
          <a:xfrm>
            <a:off x="1097280" y="3703320"/>
            <a:ext cx="3291840" cy="1645920"/>
          </a:xfrm>
          <a:prstGeom prst="roundRect">
            <a:avLst>
              <a:gd name="adj" fmla="val 11111"/>
            </a:avLst>
          </a:prstGeom>
          <a:solidFill>
            <a:srgbClr val="4F81BD"/>
          </a:solidFill>
          <a:ln w="19050">
            <a:solidFill>
              <a:srgbClr val="FFFFFF"/>
            </a:solidFill>
            <a:prstDash val="solid"/>
          </a:ln>
        </p:spPr>
      </p:sp>
      <p:sp>
        <p:nvSpPr>
          <p:cNvPr id="7" name="Text 5"/>
          <p:cNvSpPr txBox="1"/>
          <p:nvPr/>
        </p:nvSpPr>
        <p:spPr>
          <a:xfrm>
            <a:off x="1097280" y="3703320"/>
            <a:ext cx="3291840" cy="16459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Strengths</a:t>
            </a:r>
            <a:endParaRPr lang="en-US" sz="2800" dirty="0"/>
          </a:p>
        </p:txBody>
      </p:sp>
      <p:sp>
        <p:nvSpPr>
          <p:cNvPr id="8" name="Text 6"/>
          <p:cNvSpPr txBox="1"/>
          <p:nvPr/>
        </p:nvSpPr>
        <p:spPr>
          <a:xfrm>
            <a:off x="4572000" y="3813048"/>
            <a:ext cx="12298680" cy="14264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Nurses were convinced that disaster management is part and parcel of nursing care, and that preparedness and training are necessary for all staff nurses.</a:t>
            </a:r>
            <a:endParaRPr lang="en-US" sz="2500" dirty="0"/>
          </a:p>
        </p:txBody>
      </p:sp>
      <p:sp>
        <p:nvSpPr>
          <p:cNvPr id="9" name="card Lower Areas"/>
          <p:cNvSpPr/>
          <p:nvPr/>
        </p:nvSpPr>
        <p:spPr>
          <a:xfrm>
            <a:off x="4114800" y="5641848"/>
            <a:ext cx="12893040" cy="1426464"/>
          </a:xfrm>
          <a:prstGeom prst="roundRect">
            <a:avLst>
              <a:gd name="adj" fmla="val 9615"/>
            </a:avLst>
          </a:prstGeom>
          <a:solidFill>
            <a:srgbClr val="D6DDEA"/>
          </a:solidFill>
          <a:ln w="12700">
            <a:solidFill>
              <a:srgbClr val="D6DDEA"/>
            </a:solidFill>
            <a:prstDash val="solid"/>
          </a:ln>
        </p:spPr>
      </p:sp>
      <p:sp>
        <p:nvSpPr>
          <p:cNvPr id="10" name="label Lower Areas"/>
          <p:cNvSpPr/>
          <p:nvPr/>
        </p:nvSpPr>
        <p:spPr>
          <a:xfrm>
            <a:off x="1097280" y="5532120"/>
            <a:ext cx="3291840" cy="1645920"/>
          </a:xfrm>
          <a:prstGeom prst="roundRect">
            <a:avLst>
              <a:gd name="adj" fmla="val 11111"/>
            </a:avLst>
          </a:prstGeom>
          <a:solidFill>
            <a:srgbClr val="4F81BD"/>
          </a:solidFill>
          <a:ln w="19050">
            <a:solidFill>
              <a:srgbClr val="FFFFFF"/>
            </a:solidFill>
            <a:prstDash val="solid"/>
          </a:ln>
        </p:spPr>
      </p:sp>
      <p:sp>
        <p:nvSpPr>
          <p:cNvPr id="11" name="Text 9"/>
          <p:cNvSpPr txBox="1"/>
          <p:nvPr/>
        </p:nvSpPr>
        <p:spPr>
          <a:xfrm>
            <a:off x="1097280" y="5532120"/>
            <a:ext cx="3291840" cy="16459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Lower Areas</a:t>
            </a:r>
            <a:endParaRPr lang="en-US" sz="2800" dirty="0"/>
          </a:p>
        </p:txBody>
      </p:sp>
      <p:sp>
        <p:nvSpPr>
          <p:cNvPr id="12" name="Text 10"/>
          <p:cNvSpPr txBox="1"/>
          <p:nvPr/>
        </p:nvSpPr>
        <p:spPr>
          <a:xfrm>
            <a:off x="4572000" y="5641848"/>
            <a:ext cx="12298680" cy="14264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Emotional support of patients and motivation for continuous self-improvement — psychological preparedness and internal motivation need further attention.</a:t>
            </a:r>
            <a:endParaRPr lang="en-US" sz="2500" dirty="0"/>
          </a:p>
        </p:txBody>
      </p:sp>
      <p:sp>
        <p:nvSpPr>
          <p:cNvPr id="13" name="card Literature"/>
          <p:cNvSpPr/>
          <p:nvPr/>
        </p:nvSpPr>
        <p:spPr>
          <a:xfrm>
            <a:off x="4114800" y="7470648"/>
            <a:ext cx="12893040" cy="1426464"/>
          </a:xfrm>
          <a:prstGeom prst="roundRect">
            <a:avLst>
              <a:gd name="adj" fmla="val 9615"/>
            </a:avLst>
          </a:prstGeom>
          <a:solidFill>
            <a:srgbClr val="D6DDEA"/>
          </a:solidFill>
          <a:ln w="12700">
            <a:solidFill>
              <a:srgbClr val="D6DDEA"/>
            </a:solidFill>
            <a:prstDash val="solid"/>
          </a:ln>
        </p:spPr>
      </p:sp>
      <p:sp>
        <p:nvSpPr>
          <p:cNvPr id="14" name="label Literature"/>
          <p:cNvSpPr/>
          <p:nvPr/>
        </p:nvSpPr>
        <p:spPr>
          <a:xfrm>
            <a:off x="1097280" y="7360920"/>
            <a:ext cx="3291840" cy="1645920"/>
          </a:xfrm>
          <a:prstGeom prst="roundRect">
            <a:avLst>
              <a:gd name="adj" fmla="val 11111"/>
            </a:avLst>
          </a:prstGeom>
          <a:solidFill>
            <a:srgbClr val="4F81BD"/>
          </a:solidFill>
          <a:ln w="19050">
            <a:solidFill>
              <a:srgbClr val="FFFFFF"/>
            </a:solidFill>
            <a:prstDash val="solid"/>
          </a:ln>
        </p:spPr>
      </p:sp>
      <p:sp>
        <p:nvSpPr>
          <p:cNvPr id="15" name="Text 13"/>
          <p:cNvSpPr txBox="1"/>
          <p:nvPr/>
        </p:nvSpPr>
        <p:spPr>
          <a:xfrm>
            <a:off x="1097280" y="7360920"/>
            <a:ext cx="3291840" cy="16459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Literature</a:t>
            </a:r>
            <a:endParaRPr lang="en-US" sz="2800" dirty="0"/>
          </a:p>
        </p:txBody>
      </p:sp>
      <p:sp>
        <p:nvSpPr>
          <p:cNvPr id="16" name="Text 14"/>
          <p:cNvSpPr txBox="1"/>
          <p:nvPr/>
        </p:nvSpPr>
        <p:spPr>
          <a:xfrm>
            <a:off x="4572000" y="7470648"/>
            <a:ext cx="12298680" cy="14264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Alan et al. (2022): more resilient nurses had more positive perceptions. Alotaibi et al. (2024): organized disaster education greatly enhanced perceptions and attitudes.</a:t>
            </a:r>
            <a:endParaRPr lang="en-US" sz="25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Discussion – H3: Practice</a:t>
            </a:r>
            <a:endParaRPr lang="en-US" sz="6000" dirty="0"/>
          </a:p>
        </p:txBody>
      </p:sp>
      <p:sp>
        <p:nvSpPr>
          <p:cNvPr id="3" name="banner"/>
          <p:cNvSpPr/>
          <p:nvPr/>
        </p:nvSpPr>
        <p:spPr>
          <a:xfrm>
            <a:off x="1097280" y="2286000"/>
            <a:ext cx="15910560" cy="1097280"/>
          </a:xfrm>
          <a:prstGeom prst="rect">
            <a:avLst/>
          </a:prstGeom>
          <a:solidFill>
            <a:srgbClr val="EEF1F7"/>
          </a:solidFill>
          <a:ln w="25400">
            <a:solidFill>
              <a:srgbClr val="2E7D32"/>
            </a:solidFill>
            <a:prstDash val="solid"/>
          </a:ln>
        </p:spPr>
      </p:sp>
      <p:sp>
        <p:nvSpPr>
          <p:cNvPr id="4" name="Text 2"/>
          <p:cNvSpPr txBox="1"/>
          <p:nvPr/>
        </p:nvSpPr>
        <p:spPr>
          <a:xfrm>
            <a:off x="1280160" y="2286000"/>
            <a:ext cx="15544800" cy="1097280"/>
          </a:xfrm>
          <a:prstGeom prst="rect">
            <a:avLst/>
          </a:prstGeom>
          <a:noFill/>
          <a:ln/>
        </p:spPr>
        <p:txBody>
          <a:bodyPr wrap="square" lIns="50800" tIns="50800" rIns="50800" bIns="50800" rtlCol="0" anchor="ctr"/>
          <a:lstStyle/>
          <a:p>
            <a:pPr indent="0" marL="0">
              <a:buNone/>
            </a:pPr>
            <a:r>
              <a:rPr lang="en-US" sz="3000" dirty="0">
                <a:solidFill>
                  <a:srgbClr val="000000"/>
                </a:solidFill>
                <a:latin typeface="Times New Roman" pitchFamily="34" charset="0"/>
                <a:ea typeface="Times New Roman" pitchFamily="34" charset="-122"/>
                <a:cs typeface="Times New Roman" pitchFamily="34" charset="-120"/>
              </a:rPr>
              <a:t>Hypothesis 3 accepted: nurses in the Taif region exhibit a high level of pandemic disaster preparedness practice (M = 57.25, SD = 5.37).</a:t>
            </a:r>
            <a:endParaRPr lang="en-US" sz="3000" dirty="0"/>
          </a:p>
        </p:txBody>
      </p:sp>
      <p:sp>
        <p:nvSpPr>
          <p:cNvPr id="5" name="card Strengths"/>
          <p:cNvSpPr/>
          <p:nvPr/>
        </p:nvSpPr>
        <p:spPr>
          <a:xfrm>
            <a:off x="4114800" y="3813048"/>
            <a:ext cx="12893040" cy="1426464"/>
          </a:xfrm>
          <a:prstGeom prst="roundRect">
            <a:avLst>
              <a:gd name="adj" fmla="val 9615"/>
            </a:avLst>
          </a:prstGeom>
          <a:solidFill>
            <a:srgbClr val="D6DDEA"/>
          </a:solidFill>
          <a:ln w="12700">
            <a:solidFill>
              <a:srgbClr val="D6DDEA"/>
            </a:solidFill>
            <a:prstDash val="solid"/>
          </a:ln>
        </p:spPr>
      </p:sp>
      <p:sp>
        <p:nvSpPr>
          <p:cNvPr id="6" name="label Strengths"/>
          <p:cNvSpPr/>
          <p:nvPr/>
        </p:nvSpPr>
        <p:spPr>
          <a:xfrm>
            <a:off x="1097280" y="3703320"/>
            <a:ext cx="3291840" cy="1645920"/>
          </a:xfrm>
          <a:prstGeom prst="roundRect">
            <a:avLst>
              <a:gd name="adj" fmla="val 11111"/>
            </a:avLst>
          </a:prstGeom>
          <a:solidFill>
            <a:srgbClr val="4F81BD"/>
          </a:solidFill>
          <a:ln w="19050">
            <a:solidFill>
              <a:srgbClr val="FFFFFF"/>
            </a:solidFill>
            <a:prstDash val="solid"/>
          </a:ln>
        </p:spPr>
      </p:sp>
      <p:sp>
        <p:nvSpPr>
          <p:cNvPr id="7" name="Text 5"/>
          <p:cNvSpPr txBox="1"/>
          <p:nvPr/>
        </p:nvSpPr>
        <p:spPr>
          <a:xfrm>
            <a:off x="1097280" y="3703320"/>
            <a:ext cx="3291840" cy="16459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Strengths</a:t>
            </a:r>
            <a:endParaRPr lang="en-US" sz="2800" dirty="0"/>
          </a:p>
        </p:txBody>
      </p:sp>
      <p:sp>
        <p:nvSpPr>
          <p:cNvPr id="8" name="Text 6"/>
          <p:cNvSpPr txBox="1"/>
          <p:nvPr/>
        </p:nvSpPr>
        <p:spPr>
          <a:xfrm>
            <a:off x="4572000" y="3813048"/>
            <a:ext cx="12298680" cy="14264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Nurses are engaged in disaster training, know the emergency equipment, and feel confident about evacuation and infection control measures.</a:t>
            </a:r>
            <a:endParaRPr lang="en-US" sz="2500" dirty="0"/>
          </a:p>
        </p:txBody>
      </p:sp>
      <p:sp>
        <p:nvSpPr>
          <p:cNvPr id="9" name="card Lower Areas"/>
          <p:cNvSpPr/>
          <p:nvPr/>
        </p:nvSpPr>
        <p:spPr>
          <a:xfrm>
            <a:off x="4114800" y="5641848"/>
            <a:ext cx="12893040" cy="1426464"/>
          </a:xfrm>
          <a:prstGeom prst="roundRect">
            <a:avLst>
              <a:gd name="adj" fmla="val 9615"/>
            </a:avLst>
          </a:prstGeom>
          <a:solidFill>
            <a:srgbClr val="D6DDEA"/>
          </a:solidFill>
          <a:ln w="12700">
            <a:solidFill>
              <a:srgbClr val="D6DDEA"/>
            </a:solidFill>
            <a:prstDash val="solid"/>
          </a:ln>
        </p:spPr>
      </p:sp>
      <p:sp>
        <p:nvSpPr>
          <p:cNvPr id="10" name="label Lower Areas"/>
          <p:cNvSpPr/>
          <p:nvPr/>
        </p:nvSpPr>
        <p:spPr>
          <a:xfrm>
            <a:off x="1097280" y="5532120"/>
            <a:ext cx="3291840" cy="1645920"/>
          </a:xfrm>
          <a:prstGeom prst="roundRect">
            <a:avLst>
              <a:gd name="adj" fmla="val 11111"/>
            </a:avLst>
          </a:prstGeom>
          <a:solidFill>
            <a:srgbClr val="4F81BD"/>
          </a:solidFill>
          <a:ln w="19050">
            <a:solidFill>
              <a:srgbClr val="FFFFFF"/>
            </a:solidFill>
            <a:prstDash val="solid"/>
          </a:ln>
        </p:spPr>
      </p:sp>
      <p:sp>
        <p:nvSpPr>
          <p:cNvPr id="11" name="Text 9"/>
          <p:cNvSpPr txBox="1"/>
          <p:nvPr/>
        </p:nvSpPr>
        <p:spPr>
          <a:xfrm>
            <a:off x="1097280" y="5532120"/>
            <a:ext cx="3291840" cy="16459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Lower Areas</a:t>
            </a:r>
            <a:endParaRPr lang="en-US" sz="2800" dirty="0"/>
          </a:p>
        </p:txBody>
      </p:sp>
      <p:sp>
        <p:nvSpPr>
          <p:cNvPr id="12" name="Text 10"/>
          <p:cNvSpPr txBox="1"/>
          <p:nvPr/>
        </p:nvSpPr>
        <p:spPr>
          <a:xfrm>
            <a:off x="4572000" y="5641848"/>
            <a:ext cx="12298680" cy="14264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Continual review of disaster protocols and feedback-driven enhancement — reflective practice and continuous quality improvement should be reinforced.</a:t>
            </a:r>
            <a:endParaRPr lang="en-US" sz="2500" dirty="0"/>
          </a:p>
        </p:txBody>
      </p:sp>
      <p:sp>
        <p:nvSpPr>
          <p:cNvPr id="13" name="card Literature"/>
          <p:cNvSpPr/>
          <p:nvPr/>
        </p:nvSpPr>
        <p:spPr>
          <a:xfrm>
            <a:off x="4114800" y="7470648"/>
            <a:ext cx="12893040" cy="1426464"/>
          </a:xfrm>
          <a:prstGeom prst="roundRect">
            <a:avLst>
              <a:gd name="adj" fmla="val 9615"/>
            </a:avLst>
          </a:prstGeom>
          <a:solidFill>
            <a:srgbClr val="D6DDEA"/>
          </a:solidFill>
          <a:ln w="12700">
            <a:solidFill>
              <a:srgbClr val="D6DDEA"/>
            </a:solidFill>
            <a:prstDash val="solid"/>
          </a:ln>
        </p:spPr>
      </p:sp>
      <p:sp>
        <p:nvSpPr>
          <p:cNvPr id="14" name="label Literature"/>
          <p:cNvSpPr/>
          <p:nvPr/>
        </p:nvSpPr>
        <p:spPr>
          <a:xfrm>
            <a:off x="1097280" y="7360920"/>
            <a:ext cx="3291840" cy="1645920"/>
          </a:xfrm>
          <a:prstGeom prst="roundRect">
            <a:avLst>
              <a:gd name="adj" fmla="val 11111"/>
            </a:avLst>
          </a:prstGeom>
          <a:solidFill>
            <a:srgbClr val="4F81BD"/>
          </a:solidFill>
          <a:ln w="19050">
            <a:solidFill>
              <a:srgbClr val="FFFFFF"/>
            </a:solidFill>
            <a:prstDash val="solid"/>
          </a:ln>
        </p:spPr>
      </p:sp>
      <p:sp>
        <p:nvSpPr>
          <p:cNvPr id="15" name="Text 13"/>
          <p:cNvSpPr txBox="1"/>
          <p:nvPr/>
        </p:nvSpPr>
        <p:spPr>
          <a:xfrm>
            <a:off x="1097280" y="7360920"/>
            <a:ext cx="3291840" cy="164592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Literature</a:t>
            </a:r>
            <a:endParaRPr lang="en-US" sz="2800" dirty="0"/>
          </a:p>
        </p:txBody>
      </p:sp>
      <p:sp>
        <p:nvSpPr>
          <p:cNvPr id="16" name="Text 14"/>
          <p:cNvSpPr txBox="1"/>
          <p:nvPr/>
        </p:nvSpPr>
        <p:spPr>
          <a:xfrm>
            <a:off x="4572000" y="7470648"/>
            <a:ext cx="12298680" cy="1426464"/>
          </a:xfrm>
          <a:prstGeom prst="rect">
            <a:avLst/>
          </a:prstGeom>
          <a:noFill/>
          <a:ln/>
        </p:spPr>
        <p:txBody>
          <a:bodyPr wrap="square" lIns="50800" tIns="50800" rIns="50800" bIns="50800" rtlCol="0" anchor="ctr"/>
          <a:lstStyle/>
          <a:p>
            <a:pPr indent="0" marL="0">
              <a:buNone/>
            </a:pPr>
            <a:r>
              <a:rPr lang="en-US" sz="2500" dirty="0">
                <a:solidFill>
                  <a:srgbClr val="000000"/>
                </a:solidFill>
                <a:latin typeface="Times New Roman" pitchFamily="34" charset="0"/>
                <a:ea typeface="Times New Roman" pitchFamily="34" charset="-122"/>
                <a:cs typeface="Times New Roman" pitchFamily="34" charset="-120"/>
              </a:rPr>
              <a:t>Alotaibi et al. (2024): an online disaster training program successfully enhanced nurses’ practical preparedness and response capacities.</a:t>
            </a:r>
            <a:endParaRPr lang="en-US" sz="25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Recommendations</a:t>
            </a:r>
            <a:endParaRPr lang="en-US" sz="6000" dirty="0"/>
          </a:p>
        </p:txBody>
      </p:sp>
      <p:sp>
        <p:nvSpPr>
          <p:cNvPr id="3" name="card Simulation-Based Training"/>
          <p:cNvSpPr/>
          <p:nvPr/>
        </p:nvSpPr>
        <p:spPr>
          <a:xfrm>
            <a:off x="5029200" y="2350008"/>
            <a:ext cx="11978640" cy="1106424"/>
          </a:xfrm>
          <a:prstGeom prst="roundRect">
            <a:avLst>
              <a:gd name="adj" fmla="val 12397"/>
            </a:avLst>
          </a:prstGeom>
          <a:solidFill>
            <a:srgbClr val="D6DDEA"/>
          </a:solidFill>
          <a:ln w="12700">
            <a:solidFill>
              <a:srgbClr val="D6DDEA"/>
            </a:solidFill>
            <a:prstDash val="solid"/>
          </a:ln>
        </p:spPr>
      </p:sp>
      <p:sp>
        <p:nvSpPr>
          <p:cNvPr id="4" name="label Simulation-Based Training"/>
          <p:cNvSpPr/>
          <p:nvPr/>
        </p:nvSpPr>
        <p:spPr>
          <a:xfrm>
            <a:off x="1097280" y="2240280"/>
            <a:ext cx="4206240" cy="1325880"/>
          </a:xfrm>
          <a:prstGeom prst="roundRect">
            <a:avLst>
              <a:gd name="adj" fmla="val 13793"/>
            </a:avLst>
          </a:prstGeom>
          <a:solidFill>
            <a:srgbClr val="4F81BD"/>
          </a:solidFill>
          <a:ln w="19050">
            <a:solidFill>
              <a:srgbClr val="FFFFFF"/>
            </a:solidFill>
            <a:prstDash val="solid"/>
          </a:ln>
        </p:spPr>
      </p:sp>
      <p:sp>
        <p:nvSpPr>
          <p:cNvPr id="5" name="Text 3"/>
          <p:cNvSpPr txBox="1"/>
          <p:nvPr/>
        </p:nvSpPr>
        <p:spPr>
          <a:xfrm>
            <a:off x="1097280" y="2240280"/>
            <a:ext cx="420624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Simulation-Based Training</a:t>
            </a:r>
            <a:endParaRPr lang="en-US" sz="2800" dirty="0"/>
          </a:p>
        </p:txBody>
      </p:sp>
      <p:sp>
        <p:nvSpPr>
          <p:cNvPr id="6" name="Text 4"/>
          <p:cNvSpPr txBox="1"/>
          <p:nvPr/>
        </p:nvSpPr>
        <p:spPr>
          <a:xfrm>
            <a:off x="5486400" y="2350008"/>
            <a:ext cx="11384280" cy="11064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Reinforce real-life simulation exercises to improve decision making, communication and team coordination under high pressure.</a:t>
            </a:r>
            <a:endParaRPr lang="en-US" sz="2400" dirty="0"/>
          </a:p>
        </p:txBody>
      </p:sp>
      <p:sp>
        <p:nvSpPr>
          <p:cNvPr id="7" name="card Communication Protocols"/>
          <p:cNvSpPr/>
          <p:nvPr/>
        </p:nvSpPr>
        <p:spPr>
          <a:xfrm>
            <a:off x="5029200" y="3813048"/>
            <a:ext cx="11978640" cy="1106424"/>
          </a:xfrm>
          <a:prstGeom prst="roundRect">
            <a:avLst>
              <a:gd name="adj" fmla="val 12397"/>
            </a:avLst>
          </a:prstGeom>
          <a:solidFill>
            <a:srgbClr val="D6DDEA"/>
          </a:solidFill>
          <a:ln w="12700">
            <a:solidFill>
              <a:srgbClr val="D6DDEA"/>
            </a:solidFill>
            <a:prstDash val="solid"/>
          </a:ln>
        </p:spPr>
      </p:sp>
      <p:sp>
        <p:nvSpPr>
          <p:cNvPr id="8" name="label Communication Protocols"/>
          <p:cNvSpPr/>
          <p:nvPr/>
        </p:nvSpPr>
        <p:spPr>
          <a:xfrm>
            <a:off x="1097280" y="3703320"/>
            <a:ext cx="4206240" cy="1325880"/>
          </a:xfrm>
          <a:prstGeom prst="roundRect">
            <a:avLst>
              <a:gd name="adj" fmla="val 13793"/>
            </a:avLst>
          </a:prstGeom>
          <a:solidFill>
            <a:srgbClr val="4F81BD"/>
          </a:solidFill>
          <a:ln w="19050">
            <a:solidFill>
              <a:srgbClr val="FFFFFF"/>
            </a:solidFill>
            <a:prstDash val="solid"/>
          </a:ln>
        </p:spPr>
      </p:sp>
      <p:sp>
        <p:nvSpPr>
          <p:cNvPr id="9" name="Text 7"/>
          <p:cNvSpPr txBox="1"/>
          <p:nvPr/>
        </p:nvSpPr>
        <p:spPr>
          <a:xfrm>
            <a:off x="1097280" y="3703320"/>
            <a:ext cx="420624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Communication Protocols</a:t>
            </a:r>
            <a:endParaRPr lang="en-US" sz="2800" dirty="0"/>
          </a:p>
        </p:txBody>
      </p:sp>
      <p:sp>
        <p:nvSpPr>
          <p:cNvPr id="10" name="Text 8"/>
          <p:cNvSpPr txBox="1"/>
          <p:nvPr/>
        </p:nvSpPr>
        <p:spPr>
          <a:xfrm>
            <a:off x="5486400" y="3813048"/>
            <a:ext cx="11384280" cy="11064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Strengthen communication technologies, common protocols and chains of command, and practice them frequently.</a:t>
            </a:r>
            <a:endParaRPr lang="en-US" sz="2400" dirty="0"/>
          </a:p>
        </p:txBody>
      </p:sp>
      <p:sp>
        <p:nvSpPr>
          <p:cNvPr id="11" name="card Psychological Support"/>
          <p:cNvSpPr/>
          <p:nvPr/>
        </p:nvSpPr>
        <p:spPr>
          <a:xfrm>
            <a:off x="5029200" y="5276088"/>
            <a:ext cx="11978640" cy="1106424"/>
          </a:xfrm>
          <a:prstGeom prst="roundRect">
            <a:avLst>
              <a:gd name="adj" fmla="val 12397"/>
            </a:avLst>
          </a:prstGeom>
          <a:solidFill>
            <a:srgbClr val="D6DDEA"/>
          </a:solidFill>
          <a:ln w="12700">
            <a:solidFill>
              <a:srgbClr val="D6DDEA"/>
            </a:solidFill>
            <a:prstDash val="solid"/>
          </a:ln>
        </p:spPr>
      </p:sp>
      <p:sp>
        <p:nvSpPr>
          <p:cNvPr id="12" name="label Psychological Support"/>
          <p:cNvSpPr/>
          <p:nvPr/>
        </p:nvSpPr>
        <p:spPr>
          <a:xfrm>
            <a:off x="1097280" y="5166360"/>
            <a:ext cx="4206240" cy="1325880"/>
          </a:xfrm>
          <a:prstGeom prst="roundRect">
            <a:avLst>
              <a:gd name="adj" fmla="val 13793"/>
            </a:avLst>
          </a:prstGeom>
          <a:solidFill>
            <a:srgbClr val="4F81BD"/>
          </a:solidFill>
          <a:ln w="19050">
            <a:solidFill>
              <a:srgbClr val="FFFFFF"/>
            </a:solidFill>
            <a:prstDash val="solid"/>
          </a:ln>
        </p:spPr>
      </p:sp>
      <p:sp>
        <p:nvSpPr>
          <p:cNvPr id="13" name="Text 11"/>
          <p:cNvSpPr txBox="1"/>
          <p:nvPr/>
        </p:nvSpPr>
        <p:spPr>
          <a:xfrm>
            <a:off x="1097280" y="5166360"/>
            <a:ext cx="420624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Psychological Support</a:t>
            </a:r>
            <a:endParaRPr lang="en-US" sz="2800" dirty="0"/>
          </a:p>
        </p:txBody>
      </p:sp>
      <p:sp>
        <p:nvSpPr>
          <p:cNvPr id="14" name="Text 12"/>
          <p:cNvSpPr txBox="1"/>
          <p:nvPr/>
        </p:nvSpPr>
        <p:spPr>
          <a:xfrm>
            <a:off x="5486400" y="5276088"/>
            <a:ext cx="11384280" cy="11064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Stress management programs, counseling and resilience-building workshops so nurses are psychologically prepared.</a:t>
            </a:r>
            <a:endParaRPr lang="en-US" sz="2400" dirty="0"/>
          </a:p>
        </p:txBody>
      </p:sp>
      <p:sp>
        <p:nvSpPr>
          <p:cNvPr id="15" name="card Professional Development"/>
          <p:cNvSpPr/>
          <p:nvPr/>
        </p:nvSpPr>
        <p:spPr>
          <a:xfrm>
            <a:off x="5029200" y="6739128"/>
            <a:ext cx="11978640" cy="1106424"/>
          </a:xfrm>
          <a:prstGeom prst="roundRect">
            <a:avLst>
              <a:gd name="adj" fmla="val 12397"/>
            </a:avLst>
          </a:prstGeom>
          <a:solidFill>
            <a:srgbClr val="D6DDEA"/>
          </a:solidFill>
          <a:ln w="12700">
            <a:solidFill>
              <a:srgbClr val="D6DDEA"/>
            </a:solidFill>
            <a:prstDash val="solid"/>
          </a:ln>
        </p:spPr>
      </p:sp>
      <p:sp>
        <p:nvSpPr>
          <p:cNvPr id="16" name="label Professional Development"/>
          <p:cNvSpPr/>
          <p:nvPr/>
        </p:nvSpPr>
        <p:spPr>
          <a:xfrm>
            <a:off x="1097280" y="6629400"/>
            <a:ext cx="4206240" cy="1325880"/>
          </a:xfrm>
          <a:prstGeom prst="roundRect">
            <a:avLst>
              <a:gd name="adj" fmla="val 13793"/>
            </a:avLst>
          </a:prstGeom>
          <a:solidFill>
            <a:srgbClr val="4F81BD"/>
          </a:solidFill>
          <a:ln w="19050">
            <a:solidFill>
              <a:srgbClr val="FFFFFF"/>
            </a:solidFill>
            <a:prstDash val="solid"/>
          </a:ln>
        </p:spPr>
      </p:sp>
      <p:sp>
        <p:nvSpPr>
          <p:cNvPr id="17" name="Text 15"/>
          <p:cNvSpPr txBox="1"/>
          <p:nvPr/>
        </p:nvSpPr>
        <p:spPr>
          <a:xfrm>
            <a:off x="1097280" y="6629400"/>
            <a:ext cx="420624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Professional Development</a:t>
            </a:r>
            <a:endParaRPr lang="en-US" sz="2800" dirty="0"/>
          </a:p>
        </p:txBody>
      </p:sp>
      <p:sp>
        <p:nvSpPr>
          <p:cNvPr id="18" name="Text 16"/>
          <p:cNvSpPr txBox="1"/>
          <p:nvPr/>
        </p:nvSpPr>
        <p:spPr>
          <a:xfrm>
            <a:off x="5486400" y="6739128"/>
            <a:ext cx="11384280" cy="11064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Practical exercises, case-based learning and reflective practice to keep nurses updated on disaster guidelines.</a:t>
            </a:r>
            <a:endParaRPr lang="en-US" sz="2400" dirty="0"/>
          </a:p>
        </p:txBody>
      </p:sp>
      <p:sp>
        <p:nvSpPr>
          <p:cNvPr id="19" name="card Periodic Protocol Review"/>
          <p:cNvSpPr/>
          <p:nvPr/>
        </p:nvSpPr>
        <p:spPr>
          <a:xfrm>
            <a:off x="5029200" y="8202168"/>
            <a:ext cx="11978640" cy="1106424"/>
          </a:xfrm>
          <a:prstGeom prst="roundRect">
            <a:avLst>
              <a:gd name="adj" fmla="val 12397"/>
            </a:avLst>
          </a:prstGeom>
          <a:solidFill>
            <a:srgbClr val="D6DDEA"/>
          </a:solidFill>
          <a:ln w="12700">
            <a:solidFill>
              <a:srgbClr val="D6DDEA"/>
            </a:solidFill>
            <a:prstDash val="solid"/>
          </a:ln>
        </p:spPr>
      </p:sp>
      <p:sp>
        <p:nvSpPr>
          <p:cNvPr id="20" name="label Periodic Protocol Review"/>
          <p:cNvSpPr/>
          <p:nvPr/>
        </p:nvSpPr>
        <p:spPr>
          <a:xfrm>
            <a:off x="1097280" y="8092440"/>
            <a:ext cx="4206240" cy="1325880"/>
          </a:xfrm>
          <a:prstGeom prst="roundRect">
            <a:avLst>
              <a:gd name="adj" fmla="val 13793"/>
            </a:avLst>
          </a:prstGeom>
          <a:solidFill>
            <a:srgbClr val="4F81BD"/>
          </a:solidFill>
          <a:ln w="19050">
            <a:solidFill>
              <a:srgbClr val="FFFFFF"/>
            </a:solidFill>
            <a:prstDash val="solid"/>
          </a:ln>
        </p:spPr>
      </p:sp>
      <p:sp>
        <p:nvSpPr>
          <p:cNvPr id="21" name="Text 19"/>
          <p:cNvSpPr txBox="1"/>
          <p:nvPr/>
        </p:nvSpPr>
        <p:spPr>
          <a:xfrm>
            <a:off x="1097280" y="8092440"/>
            <a:ext cx="4206240" cy="1325880"/>
          </a:xfrm>
          <a:prstGeom prst="rect">
            <a:avLst/>
          </a:prstGeom>
          <a:noFill/>
          <a:ln/>
        </p:spPr>
        <p:txBody>
          <a:bodyPr wrap="square" lIns="76200" tIns="76200" rIns="76200" bIns="76200" rtlCol="0" anchor="ctr"/>
          <a:lstStyle/>
          <a:p>
            <a:pPr algn="ctr" indent="0" marL="0">
              <a:buNone/>
            </a:pPr>
            <a:r>
              <a:rPr lang="en-US" sz="2800" b="1" dirty="0">
                <a:solidFill>
                  <a:srgbClr val="FFFFFF"/>
                </a:solidFill>
                <a:latin typeface="Times New Roman" pitchFamily="34" charset="0"/>
                <a:ea typeface="Times New Roman" pitchFamily="34" charset="-122"/>
                <a:cs typeface="Times New Roman" pitchFamily="34" charset="-120"/>
              </a:rPr>
              <a:t>Periodic Protocol Review</a:t>
            </a:r>
            <a:endParaRPr lang="en-US" sz="2800" dirty="0"/>
          </a:p>
        </p:txBody>
      </p:sp>
      <p:sp>
        <p:nvSpPr>
          <p:cNvPr id="22" name="Text 20"/>
          <p:cNvSpPr txBox="1"/>
          <p:nvPr/>
        </p:nvSpPr>
        <p:spPr>
          <a:xfrm>
            <a:off x="5486400" y="8202168"/>
            <a:ext cx="11384280" cy="1106424"/>
          </a:xfrm>
          <a:prstGeom prst="rect">
            <a:avLst/>
          </a:prstGeom>
          <a:noFill/>
          <a:ln/>
        </p:spPr>
        <p:txBody>
          <a:bodyPr wrap="square" lIns="50800" tIns="50800" rIns="50800" bIns="50800" rtlCol="0" anchor="ctr"/>
          <a:lstStyle/>
          <a:p>
            <a:pPr indent="0" marL="0">
              <a:buNone/>
            </a:pPr>
            <a:r>
              <a:rPr lang="en-US" sz="2400" dirty="0">
                <a:solidFill>
                  <a:srgbClr val="000000"/>
                </a:solidFill>
                <a:latin typeface="Times New Roman" pitchFamily="34" charset="0"/>
                <a:ea typeface="Times New Roman" pitchFamily="34" charset="-122"/>
                <a:cs typeface="Times New Roman" pitchFamily="34" charset="-120"/>
              </a:rPr>
              <a:t>Regular review and feedback after drills and actual incidents to detect weaknesses and continually improve.</a:t>
            </a:r>
            <a:endParaRPr lang="en-US" sz="24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3" type="title" hasCustomPrompt="1"/>
          </p:nvPr>
        </p:nvSpPr>
        <p:spPr>
          <a:xfrm>
            <a:off x="1097280" y="777240"/>
            <a:ext cx="13350240" cy="1143000"/>
          </a:xfrm>
          <a:prstGeom prst="rect">
            <a:avLst/>
          </a:prstGeom>
          <a:noFill/>
          <a:ln/>
        </p:spPr>
        <p:txBody>
          <a:bodyPr wrap="square" lIns="0" tIns="0" rIns="0" bIns="0" rtlCol="0" anchor="ctr"/>
          <a:lstStyle/>
          <a:p>
            <a:pPr algn="l" indent="0" marL="0">
              <a:buNone/>
            </a:pPr>
            <a:r>
              <a:rPr lang="en-US" sz="6000" b="1" dirty="0">
                <a:solidFill>
                  <a:srgbClr val="000000"/>
                </a:solidFill>
                <a:latin typeface="Times New Roman" pitchFamily="34" charset="0"/>
                <a:ea typeface="Times New Roman" pitchFamily="34" charset="-122"/>
                <a:cs typeface="Times New Roman" pitchFamily="34" charset="-120"/>
              </a:rPr>
              <a:t>Limitations &amp; Conclusion</a:t>
            </a:r>
            <a:endParaRPr lang="en-US" sz="6000" dirty="0"/>
          </a:p>
        </p:txBody>
      </p:sp>
      <p:sp>
        <p:nvSpPr>
          <p:cNvPr id="3" name="Text 1"/>
          <p:cNvSpPr txBox="1"/>
          <p:nvPr/>
        </p:nvSpPr>
        <p:spPr>
          <a:xfrm>
            <a:off x="1097280" y="2240280"/>
            <a:ext cx="7680960" cy="548640"/>
          </a:xfrm>
          <a:prstGeom prst="rect">
            <a:avLst/>
          </a:prstGeom>
          <a:noFill/>
          <a:ln/>
        </p:spPr>
        <p:txBody>
          <a:bodyPr wrap="square" lIns="0" tIns="0" rIns="0" bIns="0" rtlCol="0" anchor="t"/>
          <a:lstStyle/>
          <a:p>
            <a:pPr indent="0" marL="0">
              <a:buNone/>
            </a:pPr>
            <a:r>
              <a:rPr lang="en-US" sz="3500" b="1" dirty="0">
                <a:solidFill>
                  <a:srgbClr val="1A3760"/>
                </a:solidFill>
                <a:latin typeface="Times New Roman" pitchFamily="34" charset="0"/>
                <a:ea typeface="Times New Roman" pitchFamily="34" charset="-122"/>
                <a:cs typeface="Times New Roman" pitchFamily="34" charset="-120"/>
              </a:rPr>
              <a:t>Limitations of the Study</a:t>
            </a:r>
            <a:endParaRPr lang="en-US" sz="3500" dirty="0"/>
          </a:p>
        </p:txBody>
      </p:sp>
      <p:sp>
        <p:nvSpPr>
          <p:cNvPr id="4" name="Text 2"/>
          <p:cNvSpPr txBox="1"/>
          <p:nvPr/>
        </p:nvSpPr>
        <p:spPr>
          <a:xfrm>
            <a:off x="1097280" y="2971800"/>
            <a:ext cx="7680960" cy="6035040"/>
          </a:xfrm>
          <a:prstGeom prst="rect">
            <a:avLst/>
          </a:prstGeom>
          <a:noFill/>
          <a:ln/>
        </p:spPr>
        <p:txBody>
          <a:bodyPr wrap="square" rtlCol="0" anchor="t"/>
          <a:lstStyle/>
          <a:p>
            <a:pPr marL="342900" indent="-342900">
              <a:spcAft>
                <a:spcPts val="1600"/>
              </a:spcAft>
              <a:buSzPct val="100000"/>
              <a:buChar char="•"/>
            </a:pPr>
            <a:r>
              <a:rPr lang="en-US" sz="2600" b="1" dirty="0">
                <a:solidFill>
                  <a:srgbClr val="1A3760"/>
                </a:solidFill>
                <a:latin typeface="Times New Roman" pitchFamily="34" charset="0"/>
                <a:ea typeface="Times New Roman" pitchFamily="34" charset="-122"/>
                <a:cs typeface="Times New Roman" pitchFamily="34" charset="-120"/>
              </a:rPr>
              <a:t>Design: </a:t>
            </a:r>
            <a:pPr indent="0" marL="0">
              <a:buNone/>
            </a:pPr>
            <a:r>
              <a:rPr lang="en-US" sz="2600" dirty="0">
                <a:solidFill>
                  <a:srgbClr val="000000"/>
                </a:solidFill>
                <a:latin typeface="Times New Roman" pitchFamily="34" charset="0"/>
                <a:ea typeface="Times New Roman" pitchFamily="34" charset="-122"/>
                <a:cs typeface="Times New Roman" pitchFamily="34" charset="-120"/>
              </a:rPr>
              <a:t>Cross-sectional design restricts the possibility of establishing causal relationships over time.</a:t>
            </a:r>
            <a:endParaRPr lang="en-US" sz="2600" dirty="0"/>
          </a:p>
          <a:p>
            <a:pPr marL="342900" indent="-342900">
              <a:spcAft>
                <a:spcPts val="1600"/>
              </a:spcAft>
              <a:buSzPct val="100000"/>
              <a:buChar char="•"/>
            </a:pPr>
            <a:r>
              <a:rPr lang="en-US" sz="2600" b="1" dirty="0">
                <a:solidFill>
                  <a:srgbClr val="1A3760"/>
                </a:solidFill>
                <a:latin typeface="Times New Roman" pitchFamily="34" charset="0"/>
                <a:ea typeface="Times New Roman" pitchFamily="34" charset="-122"/>
                <a:cs typeface="Times New Roman" pitchFamily="34" charset="-120"/>
              </a:rPr>
              <a:t>Bias: </a:t>
            </a:r>
            <a:pPr indent="0" marL="0">
              <a:buNone/>
            </a:pPr>
            <a:r>
              <a:rPr lang="en-US" sz="2600" dirty="0">
                <a:solidFill>
                  <a:srgbClr val="000000"/>
                </a:solidFill>
                <a:latin typeface="Times New Roman" pitchFamily="34" charset="0"/>
                <a:ea typeface="Times New Roman" pitchFamily="34" charset="-122"/>
                <a:cs typeface="Times New Roman" pitchFamily="34" charset="-120"/>
              </a:rPr>
              <a:t>Self-reported questionnaires risk social desirability or recall bias.</a:t>
            </a:r>
            <a:endParaRPr lang="en-US" sz="2600" dirty="0"/>
          </a:p>
          <a:p>
            <a:pPr marL="342900" indent="-342900">
              <a:spcAft>
                <a:spcPts val="1600"/>
              </a:spcAft>
              <a:buSzPct val="100000"/>
              <a:buChar char="•"/>
            </a:pPr>
            <a:r>
              <a:rPr lang="en-US" sz="2600" b="1" dirty="0">
                <a:solidFill>
                  <a:srgbClr val="1A3760"/>
                </a:solidFill>
                <a:latin typeface="Times New Roman" pitchFamily="34" charset="0"/>
                <a:ea typeface="Times New Roman" pitchFamily="34" charset="-122"/>
                <a:cs typeface="Times New Roman" pitchFamily="34" charset="-120"/>
              </a:rPr>
              <a:t>Scope: </a:t>
            </a:r>
            <a:pPr indent="0" marL="0">
              <a:buNone/>
            </a:pPr>
            <a:r>
              <a:rPr lang="en-US" sz="2600" dirty="0">
                <a:solidFill>
                  <a:srgbClr val="000000"/>
                </a:solidFill>
                <a:latin typeface="Times New Roman" pitchFamily="34" charset="0"/>
                <a:ea typeface="Times New Roman" pitchFamily="34" charset="-122"/>
                <a:cs typeface="Times New Roman" pitchFamily="34" charset="-120"/>
              </a:rPr>
              <a:t>Limited to the Taif region of Saudi Arabia, using purposive non-probability sampling.</a:t>
            </a:r>
            <a:endParaRPr lang="en-US" sz="2600" dirty="0"/>
          </a:p>
          <a:p>
            <a:pPr marL="342900" indent="-342900">
              <a:spcAft>
                <a:spcPts val="1600"/>
              </a:spcAft>
              <a:buSzPct val="100000"/>
              <a:buChar char="•"/>
            </a:pPr>
            <a:r>
              <a:rPr lang="en-US" sz="2600" b="1" dirty="0">
                <a:solidFill>
                  <a:srgbClr val="1A3760"/>
                </a:solidFill>
                <a:latin typeface="Times New Roman" pitchFamily="34" charset="0"/>
                <a:ea typeface="Times New Roman" pitchFamily="34" charset="-122"/>
                <a:cs typeface="Times New Roman" pitchFamily="34" charset="-120"/>
              </a:rPr>
              <a:t>Methodology: </a:t>
            </a:r>
            <a:pPr indent="0" marL="0">
              <a:buNone/>
            </a:pPr>
            <a:r>
              <a:rPr lang="en-US" sz="2600" dirty="0">
                <a:solidFill>
                  <a:srgbClr val="000000"/>
                </a:solidFill>
                <a:latin typeface="Times New Roman" pitchFamily="34" charset="0"/>
                <a:ea typeface="Times New Roman" pitchFamily="34" charset="-122"/>
                <a:cs typeface="Times New Roman" pitchFamily="34" charset="-120"/>
              </a:rPr>
              <a:t>No qualitative data to provide deeper insight into personal experiences.</a:t>
            </a:r>
            <a:endParaRPr lang="en-US" sz="2600" dirty="0"/>
          </a:p>
        </p:txBody>
      </p:sp>
      <p:sp>
        <p:nvSpPr>
          <p:cNvPr id="5" name="conclusion card"/>
          <p:cNvSpPr/>
          <p:nvPr/>
        </p:nvSpPr>
        <p:spPr>
          <a:xfrm>
            <a:off x="9418320" y="2240280"/>
            <a:ext cx="7772400" cy="6766560"/>
          </a:xfrm>
          <a:prstGeom prst="roundRect">
            <a:avLst>
              <a:gd name="adj" fmla="val 2703"/>
            </a:avLst>
          </a:prstGeom>
          <a:solidFill>
            <a:srgbClr val="1A3760"/>
          </a:solidFill>
          <a:ln w="12700">
            <a:solidFill>
              <a:srgbClr val="1A3760"/>
            </a:solidFill>
            <a:prstDash val="solid"/>
          </a:ln>
        </p:spPr>
      </p:sp>
      <p:sp>
        <p:nvSpPr>
          <p:cNvPr id="6" name="Text 4"/>
          <p:cNvSpPr txBox="1"/>
          <p:nvPr/>
        </p:nvSpPr>
        <p:spPr>
          <a:xfrm>
            <a:off x="9829800" y="2560320"/>
            <a:ext cx="6949440" cy="6126480"/>
          </a:xfrm>
          <a:prstGeom prst="rect">
            <a:avLst/>
          </a:prstGeom>
          <a:noFill/>
          <a:ln/>
        </p:spPr>
        <p:txBody>
          <a:bodyPr wrap="square" rtlCol="0" anchor="t"/>
          <a:lstStyle/>
          <a:p>
            <a:pPr indent="0" marL="0">
              <a:spcAft>
                <a:spcPts val="1600"/>
              </a:spcAft>
              <a:buNone/>
            </a:pPr>
            <a:r>
              <a:rPr lang="en-US" sz="3800" b="1" dirty="0">
                <a:solidFill>
                  <a:srgbClr val="F2B800"/>
                </a:solidFill>
                <a:latin typeface="Times New Roman" pitchFamily="34" charset="0"/>
                <a:ea typeface="Times New Roman" pitchFamily="34" charset="-122"/>
                <a:cs typeface="Times New Roman" pitchFamily="34" charset="-120"/>
              </a:rPr>
              <a:t>Conclusion</a:t>
            </a:r>
            <a:endParaRPr lang="en-US" sz="3800" dirty="0"/>
          </a:p>
          <a:p>
            <a:pPr indent="0" marL="0">
              <a:spcAft>
                <a:spcPts val="1600"/>
              </a:spcAft>
              <a:buNone/>
            </a:pPr>
            <a:r>
              <a:rPr lang="en-US" sz="2800" dirty="0">
                <a:solidFill>
                  <a:srgbClr val="FFFFFF"/>
                </a:solidFill>
                <a:latin typeface="Times New Roman" pitchFamily="34" charset="0"/>
                <a:ea typeface="Times New Roman" pitchFamily="34" charset="-122"/>
                <a:cs typeface="Times New Roman" pitchFamily="34" charset="-120"/>
              </a:rPr>
              <a:t>All three hypotheses were accepted: nurses in the Taif region exhibit high levels of knowledge, perception and practice regarding pandemic disasters.</a:t>
            </a:r>
            <a:endParaRPr lang="en-US" sz="3800" dirty="0"/>
          </a:p>
          <a:p>
            <a:pPr indent="0" marL="0">
              <a:buNone/>
            </a:pPr>
            <a:r>
              <a:rPr lang="en-US" sz="2800" dirty="0">
                <a:solidFill>
                  <a:srgbClr val="FFFFFF"/>
                </a:solidFill>
                <a:latin typeface="Times New Roman" pitchFamily="34" charset="0"/>
                <a:ea typeface="Times New Roman" pitchFamily="34" charset="-122"/>
                <a:cs typeface="Times New Roman" pitchFamily="34" charset="-120"/>
              </a:rPr>
              <a:t>While nurses are relatively ready to deal with pandemic consequences, specific interventions are needed to address gaps in </a:t>
            </a:r>
            <a:pPr indent="0" marL="0">
              <a:buNone/>
            </a:pPr>
            <a:r>
              <a:rPr lang="en-US" sz="2800" b="1" dirty="0">
                <a:solidFill>
                  <a:srgbClr val="FFFFFF"/>
                </a:solidFill>
                <a:latin typeface="Times New Roman" pitchFamily="34" charset="0"/>
                <a:ea typeface="Times New Roman" pitchFamily="34" charset="-122"/>
                <a:cs typeface="Times New Roman" pitchFamily="34" charset="-120"/>
              </a:rPr>
              <a:t>communication systems, emotional preparedness, and continuous quality improvement.</a:t>
            </a:r>
            <a:endParaRPr lang="en-US" sz="3800" dirty="0"/>
          </a:p>
        </p:txBody>
      </p:sp>
      <p:sp>
        <p:nvSpPr>
          <p:cNvPr id="25" name="Slide Number Placeholder 0"/>
          <p:cNvSpPr>
            <a:spLocks noGrp="1"/>
          </p:cNvSpPr>
          <p:nvPr>
            <p:ph type="sldNum" sz="quarter" idx="4294967295"/>
          </p:nvPr>
        </p:nvSpPr>
        <p:spPr>
          <a:xfrm>
            <a:off x="17282160" y="971092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FFFFFF"/>
                </a:solidFill>
                <a:latin typeface="Times New Roman"/>
                <a:ea typeface="Times New Roman"/>
                <a:cs typeface="Times New Roman"/>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KSU Thesis">
  <a:themeElements>
    <a:clrScheme name="KSU Thesis">
      <a:dk1>
        <a:srgbClr val="000000"/>
      </a:dk1>
      <a:lt1>
        <a:srgbClr val="FFFFFF"/>
      </a:lt1>
      <a:dk2>
        <a:srgbClr val="1A3760"/>
      </a:dk2>
      <a:lt2>
        <a:srgbClr val="EEF1F7"/>
      </a:lt2>
      <a:accent1>
        <a:srgbClr val="4F81BD"/>
      </a:accent1>
      <a:accent2>
        <a:srgbClr val="F2B800"/>
      </a:accent2>
      <a:accent3>
        <a:srgbClr val="9BBB59"/>
      </a:accent3>
      <a:accent4>
        <a:srgbClr val="8064A2"/>
      </a:accent4>
      <a:accent5>
        <a:srgbClr val="4BACC6"/>
      </a:accent5>
      <a:accent6>
        <a:srgbClr val="F79646"/>
      </a:accent6>
      <a:hlink>
        <a:srgbClr val="0000FF"/>
      </a:hlink>
      <a:folHlink>
        <a:srgbClr val="800080"/>
      </a:folHlink>
    </a:clrScheme>
    <a:fontScheme name="KSU Thesis">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Assessing Nurses' Knowledge, Perception, and Practice About Pandemic Disasters</dc:title>
  <dc:subject>PptxGenJS Presentation</dc:subject>
  <dc:creator>Samirah Alkhaldi</dc:creator>
  <cp:lastModifiedBy>Samirah Alkhaldi</cp:lastModifiedBy>
  <cp:revision>1</cp:revision>
  <dcterms:created xsi:type="dcterms:W3CDTF">2026-10-06T23:29:00Z</dcterms:created>
  <dcterms:modified xsi:type="dcterms:W3CDTF">2026-10-06T23:29:00Z</dcterms:modified>
</cp:coreProperties>
</file>